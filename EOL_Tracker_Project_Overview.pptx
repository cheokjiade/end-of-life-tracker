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a14ff4422dd4e97" /><Relationship Type="http://schemas.openxmlformats.org/officeDocument/2006/relationships/extended-properties" Target="/docProps/app.xml" Id="R85326fe158824c29" /><Relationship Type="http://schemas.openxmlformats.org/officeDocument/2006/relationships/officeDocument" Target="/ppt/presentation.xml" Id="R4e80ae66fad34392" /></Relationships>
</file>

<file path=ppt/presentation.xml><?xml version="1.0" encoding="utf-8"?>
<p:presentation xmlns:p="http://schemas.openxmlformats.org/presentationml/2006/main">
  <p:sldMasterIdLst>
    <p:sldMasterId xmlns:r="http://schemas.openxmlformats.org/officeDocument/2006/relationships" id="2147483648" r:id="Rf8d188d2a2334f3f"/>
  </p:sldMasterIdLst>
  <p:notesMasterIdLst>
    <p:notesMasterId xmlns:r="http://schemas.openxmlformats.org/officeDocument/2006/relationships" r:id="R293365fe9336484e"/>
  </p:notesMasterIdLst>
  <p:sldIdLst>
    <p:sldId xmlns:r="http://schemas.openxmlformats.org/officeDocument/2006/relationships" id="256" r:id="Re7eabeb106884f15"/>
    <p:sldId xmlns:r="http://schemas.openxmlformats.org/officeDocument/2006/relationships" id="257" r:id="R437986ce4d4b4c9a"/>
    <p:sldId xmlns:r="http://schemas.openxmlformats.org/officeDocument/2006/relationships" id="258" r:id="Ra0396d64ce3a436a"/>
    <p:sldId xmlns:r="http://schemas.openxmlformats.org/officeDocument/2006/relationships" id="259" r:id="R8a5ed3e955c24370"/>
    <p:sldId xmlns:r="http://schemas.openxmlformats.org/officeDocument/2006/relationships" id="260" r:id="R4212d46e06864c2f"/>
    <p:sldId xmlns:r="http://schemas.openxmlformats.org/officeDocument/2006/relationships" id="261" r:id="Rf34b3ddc2817438c"/>
    <p:sldId xmlns:r="http://schemas.openxmlformats.org/officeDocument/2006/relationships" id="262" r:id="R3cb4df449c0b4751"/>
    <p:sldId xmlns:r="http://schemas.openxmlformats.org/officeDocument/2006/relationships" id="263" r:id="R8c663696256c481c"/>
    <p:sldId xmlns:r="http://schemas.openxmlformats.org/officeDocument/2006/relationships" id="264" r:id="Ra79aaa4fa7894243"/>
    <p:sldId xmlns:r="http://schemas.openxmlformats.org/officeDocument/2006/relationships" id="265" r:id="R7dc171a5b0de4f5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11db47556640b7" /><Relationship Type="http://schemas.openxmlformats.org/officeDocument/2006/relationships/slideMaster" Target="/ppt/slideMasters/slideMaster1.xml" Id="Rf8d188d2a2334f3f" /><Relationship Type="http://schemas.openxmlformats.org/officeDocument/2006/relationships/notesMaster" Target="/ppt/notesMasters/notesMaster1.xml" Id="R293365fe9336484e" /><Relationship Type="http://schemas.openxmlformats.org/officeDocument/2006/relationships/presProps" Target="/ppt/presProps.xml" Id="Rccab462a1cc8449b" /><Relationship Type="http://schemas.openxmlformats.org/officeDocument/2006/relationships/tableStyles" Target="/ppt/tableStyles.xml" Id="R94f9f759b1c5492a" /><Relationship Type="http://schemas.openxmlformats.org/officeDocument/2006/relationships/slide" Target="/ppt/slides/slide1.xml" Id="Re7eabeb106884f15" /><Relationship Type="http://schemas.openxmlformats.org/officeDocument/2006/relationships/slide" Target="/ppt/slides/slide2.xml" Id="R437986ce4d4b4c9a" /><Relationship Type="http://schemas.openxmlformats.org/officeDocument/2006/relationships/slide" Target="/ppt/slides/slide3.xml" Id="Ra0396d64ce3a436a" /><Relationship Type="http://schemas.openxmlformats.org/officeDocument/2006/relationships/slide" Target="/ppt/slides/slide4.xml" Id="R8a5ed3e955c24370" /><Relationship Type="http://schemas.openxmlformats.org/officeDocument/2006/relationships/slide" Target="/ppt/slides/slide5.xml" Id="R4212d46e06864c2f" /><Relationship Type="http://schemas.openxmlformats.org/officeDocument/2006/relationships/slide" Target="/ppt/slides/slide6.xml" Id="Rf34b3ddc2817438c" /><Relationship Type="http://schemas.openxmlformats.org/officeDocument/2006/relationships/slide" Target="/ppt/slides/slide7.xml" Id="R3cb4df449c0b4751" /><Relationship Type="http://schemas.openxmlformats.org/officeDocument/2006/relationships/slide" Target="/ppt/slides/slide8.xml" Id="R8c663696256c481c" /><Relationship Type="http://schemas.openxmlformats.org/officeDocument/2006/relationships/slide" Target="/ppt/slides/slide9.xml" Id="Ra79aaa4fa7894243" /><Relationship Type="http://schemas.openxmlformats.org/officeDocument/2006/relationships/slide" Target="/ppt/slides/slide10.xml" Id="R7dc171a5b0de4f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9a742b90ca245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3771e4cd3a4969" /><Relationship Type="http://schemas.openxmlformats.org/officeDocument/2006/relationships/notesMaster" Target="/ppt/notesMasters/notesMaster1.xml" Id="R7c77ef0e925a4e13"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cfac07ac354e78" /><Relationship Type="http://schemas.openxmlformats.org/officeDocument/2006/relationships/notesMaster" Target="/ppt/notesMasters/notesMaster1.xml" Id="R4ce3e92e5dfc4f2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b9be19ddee48b5" /><Relationship Type="http://schemas.openxmlformats.org/officeDocument/2006/relationships/notesMaster" Target="/ppt/notesMasters/notesMaster1.xml" Id="R1bd584033ae84ba3"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a496d1a57846f0" /><Relationship Type="http://schemas.openxmlformats.org/officeDocument/2006/relationships/notesMaster" Target="/ppt/notesMasters/notesMaster1.xml" Id="R689e9b05ff7c44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1b47b41b52ea405b" /><Relationship Type="http://schemas.openxmlformats.org/officeDocument/2006/relationships/notesMaster" Target="/ppt/notesMasters/notesMaster1.xml" Id="R608f0ebb5c724f81" /></Relationships>
</file>

<file path=ppt/notesSlides/_rels/notesSlide6.xml.rels>&#65279;<?xml version="1.0" encoding="utf-8"?><Relationships xmlns="http://schemas.openxmlformats.org/package/2006/relationships"><Relationship Type="http://schemas.openxmlformats.org/officeDocument/2006/relationships/slide" Target="/ppt/slides/slide6.xml" Id="R5d997deaaa8e4a3c" /><Relationship Type="http://schemas.openxmlformats.org/officeDocument/2006/relationships/notesMaster" Target="/ppt/notesMasters/notesMaster1.xml" Id="Rabf3edcfbfbb4ad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a1398e0f73450c" /><Relationship Type="http://schemas.openxmlformats.org/officeDocument/2006/relationships/notesMaster" Target="/ppt/notesMasters/notesMaster1.xml" Id="R8a26f8b252784fdc"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0ead3f91254def" /><Relationship Type="http://schemas.openxmlformats.org/officeDocument/2006/relationships/notesMaster" Target="/ppt/notesMasters/notesMaster1.xml" Id="Rbe1f68ecb54f4e5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b0f4a4091044f8d" /><Relationship Type="http://schemas.openxmlformats.org/officeDocument/2006/relationships/notesMaster" Target="/ppt/notesMasters/notesMaster1.xml" Id="Rc436a281ce75494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885832d3bc4547" /><Relationship Type="http://schemas.openxmlformats.org/officeDocument/2006/relationships/notesMaster" Target="/ppt/notesMasters/notesMaster1.xml" Id="Ref14013d8e83446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This project is about replacing a recurring manual control with a repeatable, visible process. The demo will show the working local path and separate it clearly from the AWS path that still needs end-to-end validation.</a:t>
            </a:r>
          </a:p>
          <a:p xmlns:a="http://schemas.openxmlformats.org/drawingml/2006/main">
            <a:r>
              <a:t/>
            </a:r>
          </a:p>
          <a:p xmlns:a="http://schemas.openxmlformats.org/drawingml/2006/main">
            <a:r>
              <a:t>[Sources]</a:t>
            </a:r>
          </a:p>
          <a:p xmlns:a="http://schemas.openxmlformats.org/drawingml/2006/main">
            <a:r>
              <a:t>- E:/Git/endoflife/AGENTS.md</a:t>
            </a:r>
          </a:p>
          <a:p xmlns:a="http://schemas.openxmlformats.org/drawingml/2006/main">
            <a:r>
              <a:t>- E:/Git/endoflife/README.md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anchor the pain in delivery planning, not in browsing inconvenience. The risk is late visibility: dependency lifecycle work appears after scope, budget, or release commitments are already made.</a:t>
            </a:r>
          </a:p>
          <a:p xmlns:a="http://schemas.openxmlformats.org/drawingml/2006/main">
            <a:r>
              <a:t/>
            </a:r>
          </a:p>
          <a:p xmlns:a="http://schemas.openxmlformats.org/drawingml/2006/main">
            <a:r>
              <a:t>[Sources]</a:t>
            </a:r>
          </a:p>
          <a:p xmlns:a="http://schemas.openxmlformats.org/drawingml/2006/main">
            <a:r>
              <a:t>- User-provided project background</a:t>
            </a:r>
          </a:p>
          <a:p xmlns:a="http://schemas.openxmlformats.org/drawingml/2006/main">
            <a:r>
              <a:t>- E:/Git/endoflife/README.md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has two technical parts, but project managers experience one control: establish the inventory once, then run the same check repeatedly. The configuration file is the contract between those parts.</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E:/Git/endoflife/eoltracker/handler.py</a:t>
            </a:r>
          </a:p>
          <a:p xmlns:a="http://schemas.openxmlformats.org/drawingml/2006/main">
            <a:r>
              <a:t>- E:/Git/endoflife/eoltracker/report.py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bridge: show a dependency manifest and the resulting products list. Emphasize that AI helps interpret unstructured inventories but the workflow explicitly verifies product identifiers and versions before they are accepted.</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E:/Git/endoflife/.agents/skills/manage-eol-config/SKILL.md</a:t>
            </a:r>
          </a:p>
          <a:p xmlns:a="http://schemas.openxmlformats.org/drawingml/2006/main">
            <a:r>
              <a:t>- E:/Git/endoflife/eol_config_generation_prompt.md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architectural explanation high-level. The registry selects the right source, but every provider returns the same result shape. That separation is why the project can add sources without rebuilding reporting.</a:t>
            </a:r>
          </a:p>
          <a:p xmlns:a="http://schemas.openxmlformats.org/drawingml/2006/main">
            <a:r>
              <a:t/>
            </a:r>
          </a:p>
          <a:p xmlns:a="http://schemas.openxmlformats.org/drawingml/2006/main">
            <a:r>
              <a:t>[Sources]</a:t>
            </a:r>
          </a:p>
          <a:p xmlns:a="http://schemas.openxmlformats.org/drawingml/2006/main">
            <a:r>
              <a:t>- E:/Git/endoflife/eoltracker/parsers/__init__.py</a:t>
            </a:r>
          </a:p>
          <a:p xmlns:a="http://schemas.openxmlformats.org/drawingml/2006/main">
            <a:r>
              <a:t>- E:/Git/endoflife/eoltracker/parsers</a:t>
            </a:r>
          </a:p>
          <a:p xmlns:a="http://schemas.openxmlformats.org/drawingml/2006/main">
            <a:r>
              <a:t>- E:/Git/endoflife/eoltracker/report.py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During the demo, open the HTML report and point to status grouping, upstream source links, latest patch/cycle details, and the alert threshold. Important boundary: error and untracked items appear in the report; the current has_alerts flag is driven by EOL and approaching items.</a:t>
            </a:r>
          </a:p>
          <a:p xmlns:a="http://schemas.openxmlformats.org/drawingml/2006/main">
            <a:r>
              <a:t/>
            </a:r>
          </a:p>
          <a:p xmlns:a="http://schemas.openxmlformats.org/drawingml/2006/main">
            <a:r>
              <a:t>[Sources]</a:t>
            </a:r>
          </a:p>
          <a:p xmlns:a="http://schemas.openxmlformats.org/drawingml/2006/main">
            <a:r>
              <a:t>- E:/Git/endoflife/eoltracker/report.py</a:t>
            </a:r>
          </a:p>
          <a:p xmlns:a="http://schemas.openxmlformats.org/drawingml/2006/main">
            <a:r>
              <a:t>- E:/Git/endoflife/eol_config.sample.json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explicit about readiness. The local path is the demonstrated proof. Terraform defines S3, EventBridge, Lambda, SNS and optional SES, but the user reports that this path has not yet been tested. Also clarify that the default schedule is daily; monthly is a configuration choice for the pilot.</a:t>
            </a:r>
          </a:p>
          <a:p xmlns:a="http://schemas.openxmlformats.org/drawingml/2006/main">
            <a:r>
              <a:t/>
            </a:r>
          </a:p>
          <a:p xmlns:a="http://schemas.openxmlformats.org/drawingml/2006/main">
            <a:r>
              <a:t>[Sources]</a:t>
            </a:r>
          </a:p>
          <a:p xmlns:a="http://schemas.openxmlformats.org/drawingml/2006/main">
            <a:r>
              <a:t>- E:/Git/endoflife/eoltracker/handler.py</a:t>
            </a:r>
          </a:p>
          <a:p xmlns:a="http://schemas.openxmlformats.org/drawingml/2006/main">
            <a:r>
              <a:t>- E:/Git/endoflife/eoltracker/notify.py</a:t>
            </a:r>
          </a:p>
          <a:p xmlns:a="http://schemas.openxmlformats.org/drawingml/2006/main">
            <a:r>
              <a:t>- E:/Git/endoflife/terraform/main.tf</a:t>
            </a:r>
          </a:p>
          <a:p xmlns:a="http://schemas.openxmlformats.org/drawingml/2006/main">
            <a:r>
              <a:t>- E:/Git/endoflife/terraform/variables.tf</a:t>
            </a:r>
          </a:p>
          <a:p xmlns:a="http://schemas.openxmlformats.org/drawingml/2006/main">
            <a:r>
              <a:t>- User-provided test status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commands:</a:t>
            </a:r>
          </a:p>
          <a:p xmlns:a="http://schemas.openxmlformats.org/drawingml/2006/main">
            <a:r>
              <a:t>1. python generate_config.py &lt;project-folder&gt; --name &lt;project&gt; (only if demonstrating manifest extraction)</a:t>
            </a:r>
          </a:p>
          <a:p xmlns:a="http://schemas.openxmlformats.org/drawingml/2006/main">
            <a:r>
              <a:t>2. python -c "import json; json.load(open('&lt;config.json&gt;'))"</a:t>
            </a:r>
          </a:p>
          <a:p xmlns:a="http://schemas.openxmlformats.org/drawingml/2006/main">
            <a:r>
              <a:t>3. python lambda_function.py &lt;config.json&gt;</a:t>
            </a:r>
          </a:p>
          <a:p xmlns:a="http://schemas.openxmlformats.org/drawingml/2006/main">
            <a:r>
              <a:t>Then open the generated HTML under reports/&lt;project&gt;/&lt;year&gt;/&lt;month&gt;/&lt;day&gt;/. Keep a saved report ready so network variability does not derail the business story.</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E:/Git/endoflife/lambda_function.py</a:t>
            </a:r>
          </a:p>
          <a:p xmlns:a="http://schemas.openxmlformats.org/drawingml/2006/main">
            <a:r>
              <a:t>- E:/Git/endoflife/eoltracker/notify.py</a:t>
            </a:r>
          </a:p>
          <a:p xmlns:a="http://schemas.openxmlformats.org/drawingml/2006/main">
            <a:r>
              <a:t>- E:/Git/endoflife/AGENTS.md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Position AI as an accelerator inside a controlled engineering workflow. The runtime itself is standard Python; agent skills capture repeatable development and configuration practices. Provider logic is tested without network access, followed by a live smoke run.</a:t>
            </a:r>
          </a:p>
          <a:p xmlns:a="http://schemas.openxmlformats.org/drawingml/2006/main">
            <a:r>
              <a:t/>
            </a:r>
          </a:p>
          <a:p xmlns:a="http://schemas.openxmlformats.org/drawingml/2006/main">
            <a:r>
              <a:t>[Sources]</a:t>
            </a:r>
          </a:p>
          <a:p xmlns:a="http://schemas.openxmlformats.org/drawingml/2006/main">
            <a:r>
              <a:t>- E:/Git/endoflife/AGENTS.md</a:t>
            </a:r>
          </a:p>
          <a:p xmlns:a="http://schemas.openxmlformats.org/drawingml/2006/main">
            <a:r>
              <a:t>- E:/Git/endoflife/CLAUDE.md</a:t>
            </a:r>
          </a:p>
          <a:p xmlns:a="http://schemas.openxmlformats.org/drawingml/2006/main">
            <a:r>
              <a:t>- E:/Git/endoflife/.agents/skills/manage-eol-config/SKILL.md</a:t>
            </a:r>
          </a:p>
          <a:p xmlns:a="http://schemas.openxmlformats.org/drawingml/2006/main">
            <a:r>
              <a:t>- E:/Git/endoflife/docs/adding-a-provider.md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a concrete management decision. The codebase is ready for a pilot, but operational confidence depends on an end-to-end scheduled run and clear ownership. Ask for the first project and named owner rather than broad rollout approval.</a:t>
            </a:r>
          </a:p>
          <a:p xmlns:a="http://schemas.openxmlformats.org/drawingml/2006/main">
            <a:r>
              <a:t/>
            </a:r>
          </a:p>
          <a:p xmlns:a="http://schemas.openxmlformats.org/drawingml/2006/main">
            <a:r>
              <a:t>[Sources]</a:t>
            </a:r>
          </a:p>
          <a:p xmlns:a="http://schemas.openxmlformats.org/drawingml/2006/main">
            <a:r>
              <a:t>- E:/Git/endoflife/terraform/main.tf</a:t>
            </a:r>
          </a:p>
          <a:p xmlns:a="http://schemas.openxmlformats.org/drawingml/2006/main">
            <a:r>
              <a:t>- E:/Git/endoflife/terraform/variables.tf</a:t>
            </a:r>
          </a:p>
          <a:p xmlns:a="http://schemas.openxmlformats.org/drawingml/2006/main">
            <a:r>
              <a:t>- E:/Git/endoflife/docs/updating-a-config.md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524c00e2836493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87d55b09dcb4f1f" /><Relationship Type="http://schemas.openxmlformats.org/officeDocument/2006/relationships/slideLayout" Target="/ppt/slideLayouts/slideLayout1.xml" Id="R7a2997545e6e441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2997545e6e441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5b07f5943ce4b16" /><Relationship Type="http://schemas.openxmlformats.org/officeDocument/2006/relationships/notesSlide" Target="/ppt/notesSlides/notesSlide1.xml" Id="R434ae7bab4104b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8c83d8c65ce498d" /><Relationship Type="http://schemas.openxmlformats.org/officeDocument/2006/relationships/notesSlide" Target="/ppt/notesSlides/notesSlide2.xml" Id="Ra3b12fa66e53454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ab53bb56d214e2d" /><Relationship Type="http://schemas.openxmlformats.org/officeDocument/2006/relationships/notesSlide" Target="/ppt/notesSlides/notesSlide3.xml" Id="Re092a1405e6f43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5a6fad920514016" /><Relationship Type="http://schemas.openxmlformats.org/officeDocument/2006/relationships/notesSlide" Target="/ppt/notesSlides/notesSlide4.xml" Id="Rc7b448f6a9f643a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a6d2c0133a74070" /><Relationship Type="http://schemas.openxmlformats.org/officeDocument/2006/relationships/notesSlide" Target="/ppt/notesSlides/notesSlide5.xml" Id="Rd72203fa523f459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6aa40639e394e41" /><Relationship Type="http://schemas.openxmlformats.org/officeDocument/2006/relationships/notesSlide" Target="/ppt/notesSlides/notesSlide6.xml" Id="R80c67100b9564b8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15174e995d148a0" /><Relationship Type="http://schemas.openxmlformats.org/officeDocument/2006/relationships/notesSlide" Target="/ppt/notesSlides/notesSlide7.xml" Id="Rc5796ddf7bae49f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9bdaf3699d14d3d" /><Relationship Type="http://schemas.openxmlformats.org/officeDocument/2006/relationships/notesSlide" Target="/ppt/notesSlides/notesSlide8.xml" Id="Rbeda7a7898d1452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f9124b271534b1b" /><Relationship Type="http://schemas.openxmlformats.org/officeDocument/2006/relationships/notesSlide" Target="/ppt/notesSlides/notesSlide9.xml" Id="Ra2a61fa5753c4b7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640a6fddf9c47b1" /><Relationship Type="http://schemas.openxmlformats.org/officeDocument/2006/relationships/notesSlide" Target="/ppt/notesSlides/notesSlide10.xml" Id="Radfd557f8d50452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7E6649-23CF-42D7-A34B-8D5AC4F55D96}"/>
              </a:ext>
            </a:extLst>
          </p:cNvPr>
          <p:cNvSpPr>
            <a:spLocks xmlns:a="http://schemas.openxmlformats.org/drawingml/2006/main" noGrp="1"/>
          </p:cNvSpPr>
          <p:nvPr/>
        </p:nvSpPr>
        <p:spPr>
          <a:xfrm xmlns:a="http://schemas.openxmlformats.org/drawingml/2006/main">
            <a:off x="40005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PROJECT OVERVIEW &amp; DEMO</a:t>
            </a:r>
          </a:p>
        </p:txBody>
      </p:sp>
      <p:sp>
        <p:nvSpPr>
          <p:cNvPr id="2" name="">
            <a:extLst xmlns:a="http://schemas.openxmlformats.org/drawingml/2006/main">
              <a:ext uri="{FF2B5EF4-FFF2-40B4-BE49-F238E27FC236}">
                <a16:creationId xmlns:a16="http://schemas.microsoft.com/office/drawing/2014/main" id="{029D67B2-C44F-4878-A9F9-7DAB44AC94A4}"/>
              </a:ext>
            </a:extLst>
          </p:cNvPr>
          <p:cNvSpPr>
            <a:spLocks xmlns:a="http://schemas.openxmlformats.org/drawingml/2006/main" noGrp="1"/>
          </p:cNvSpPr>
          <p:nvPr/>
        </p:nvSpPr>
        <p:spPr>
          <a:xfrm xmlns:a="http://schemas.openxmlformats.org/drawingml/2006/main">
            <a:off x="400050" y="1543050"/>
            <a:ext cx="876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5400" b="1">
                <a:solidFill>
                  <a:srgbClr val="111111"/>
                </a:solidFill>
                <a:latin typeface="Arial"/>
                <a:ea typeface="Arial"/>
                <a:cs typeface="Arial"/>
              </a:defRPr>
            </a:pPr>
            <a:r>
              <a:rPr sz="5400" b="1">
                <a:solidFill>
                  <a:srgbClr val="111111"/>
                </a:solidFill>
                <a:latin typeface="Arial"/>
                <a:ea typeface="Arial"/>
                <a:cs typeface="Arial"/>
              </a:rPr>
              <a:t>Dependency</a:t>
            </a:r>
          </a:p>
          <a:p xmlns:a="http://schemas.openxmlformats.org/drawingml/2006/main">
            <a:pPr algn="l">
              <a:buNone/>
              <a:defRPr sz="5400" b="1">
                <a:solidFill>
                  <a:srgbClr val="111111"/>
                </a:solidFill>
                <a:latin typeface="Arial"/>
                <a:ea typeface="Arial"/>
                <a:cs typeface="Arial"/>
              </a:defRPr>
            </a:pPr>
            <a:r>
              <a:rPr sz="5400" b="1">
                <a:solidFill>
                  <a:srgbClr val="111111"/>
                </a:solidFill>
                <a:latin typeface="Arial"/>
                <a:ea typeface="Arial"/>
                <a:cs typeface="Arial"/>
              </a:rPr>
              <a:t>EOL Tracker</a:t>
            </a:r>
          </a:p>
        </p:txBody>
      </p:sp>
      <p:sp>
        <p:nvSpPr>
          <p:cNvPr id="3" name="">
            <a:extLst xmlns:a="http://schemas.openxmlformats.org/drawingml/2006/main">
              <a:ext uri="{FF2B5EF4-FFF2-40B4-BE49-F238E27FC236}">
                <a16:creationId xmlns:a16="http://schemas.microsoft.com/office/drawing/2014/main" id="{A047D0F2-3C30-4A6B-BCB9-8FE97BB5D5DB}"/>
              </a:ext>
            </a:extLst>
          </p:cNvPr>
          <p:cNvSpPr>
            <a:spLocks xmlns:a="http://schemas.openxmlformats.org/drawingml/2006/main" noGrp="1"/>
          </p:cNvSpPr>
          <p:nvPr/>
        </p:nvSpPr>
        <p:spPr>
          <a:xfrm xmlns:a="http://schemas.openxmlformats.org/drawingml/2006/main">
            <a:off x="400050" y="3695700"/>
            <a:ext cx="1905000" cy="762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DC00BF-B2A4-414F-A70C-EAE0327C4362}"/>
              </a:ext>
            </a:extLst>
          </p:cNvPr>
          <p:cNvSpPr>
            <a:spLocks xmlns:a="http://schemas.openxmlformats.org/drawingml/2006/main" noGrp="1"/>
          </p:cNvSpPr>
          <p:nvPr/>
        </p:nvSpPr>
        <p:spPr>
          <a:xfrm xmlns:a="http://schemas.openxmlformats.org/drawingml/2006/main">
            <a:off x="400050" y="4095750"/>
            <a:ext cx="7239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250" b="0">
                <a:solidFill>
                  <a:srgbClr val="5F6670"/>
                </a:solidFill>
                <a:latin typeface="Arial"/>
                <a:ea typeface="Arial"/>
                <a:cs typeface="Arial"/>
              </a:defRPr>
            </a:pPr>
            <a:r>
              <a:rPr sz="2250" b="0">
                <a:solidFill>
                  <a:srgbClr val="5F6670"/>
                </a:solidFill>
                <a:latin typeface="Arial"/>
                <a:ea typeface="Arial"/>
                <a:cs typeface="Arial"/>
              </a:rPr>
              <a:t>A repeatable way to see lifecycle risk before it becomes delivery risk</a:t>
            </a:r>
          </a:p>
        </p:txBody>
      </p:sp>
      <p:sp>
        <p:nvSpPr>
          <p:cNvPr id="5" name="">
            <a:extLst xmlns:a="http://schemas.openxmlformats.org/drawingml/2006/main">
              <a:ext uri="{FF2B5EF4-FFF2-40B4-BE49-F238E27FC236}">
                <a16:creationId xmlns:a16="http://schemas.microsoft.com/office/drawing/2014/main" id="{09709CD5-7BA3-453B-B3DC-28F4DCA76FD8}"/>
              </a:ext>
            </a:extLst>
          </p:cNvPr>
          <p:cNvSpPr>
            <a:spLocks xmlns:a="http://schemas.openxmlformats.org/drawingml/2006/main" noGrp="1"/>
          </p:cNvSpPr>
          <p:nvPr/>
        </p:nvSpPr>
        <p:spPr>
          <a:xfrm xmlns:a="http://schemas.openxmlformats.org/drawingml/2006/main">
            <a:off x="400050" y="57531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Technical consultant</a:t>
            </a:r>
          </a:p>
        </p:txBody>
      </p:sp>
      <p:sp>
        <p:nvSpPr>
          <p:cNvPr id="6" name="">
            <a:extLst xmlns:a="http://schemas.openxmlformats.org/drawingml/2006/main">
              <a:ext uri="{FF2B5EF4-FFF2-40B4-BE49-F238E27FC236}">
                <a16:creationId xmlns:a16="http://schemas.microsoft.com/office/drawing/2014/main" id="{0E912834-F318-4A97-AFC2-97A832448548}"/>
              </a:ext>
            </a:extLst>
          </p:cNvPr>
          <p:cNvSpPr>
            <a:spLocks xmlns:a="http://schemas.openxmlformats.org/drawingml/2006/main" noGrp="1"/>
          </p:cNvSpPr>
          <p:nvPr/>
        </p:nvSpPr>
        <p:spPr>
          <a:xfrm xmlns:a="http://schemas.openxmlformats.org/drawingml/2006/main">
            <a:off x="400050" y="60960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0">
                <a:solidFill>
                  <a:srgbClr val="5F6670"/>
                </a:solidFill>
                <a:latin typeface="Arial"/>
                <a:ea typeface="Arial"/>
                <a:cs typeface="Arial"/>
              </a:defRPr>
            </a:pPr>
            <a:r>
              <a:rPr sz="1275" b="0">
                <a:solidFill>
                  <a:srgbClr val="5F6670"/>
                </a:solidFill>
                <a:latin typeface="Arial"/>
                <a:ea typeface="Arial"/>
                <a:cs typeface="Arial"/>
              </a:rPr>
              <a:t>Project managers</a:t>
            </a:r>
          </a:p>
        </p:txBody>
      </p:sp>
      <p:sp>
        <p:nvSpPr>
          <p:cNvPr id="7" name="">
            <a:extLst xmlns:a="http://schemas.openxmlformats.org/drawingml/2006/main">
              <a:ext uri="{FF2B5EF4-FFF2-40B4-BE49-F238E27FC236}">
                <a16:creationId xmlns:a16="http://schemas.microsoft.com/office/drawing/2014/main" id="{D9B040D7-4D0E-4CBC-9A17-D2246721D9F4}"/>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01</a:t>
            </a:r>
          </a:p>
        </p:txBody>
      </p:sp>
    </p:spTree>
    <p:extLst>
      <p:ext uri="{BB962C8B-B14F-4D97-AF65-F5344CB8AC3E}">
        <p14:creationId xmlns:p14="http://schemas.microsoft.com/office/powerpoint/2010/main" val="169108255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8E1C32E-EE05-4D2B-97F9-3CE7096CA2F3}"/>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DEPENDENCY EOL TRACKER</a:t>
            </a:r>
          </a:p>
        </p:txBody>
      </p:sp>
      <p:sp>
        <p:nvSpPr>
          <p:cNvPr id="2" name="slide-2-title">
            <a:extLst xmlns:a="http://schemas.openxmlformats.org/drawingml/2006/main">
              <a:ext uri="{FF2B5EF4-FFF2-40B4-BE49-F238E27FC236}">
                <a16:creationId xmlns:a16="http://schemas.microsoft.com/office/drawing/2014/main" id="{06D5DD1B-519C-44BA-BC09-062E2B5CB8B6}"/>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Manual link-checking hides risk in plain sight</a:t>
            </a:r>
          </a:p>
        </p:txBody>
      </p:sp>
      <p:sp>
        <p:nvSpPr>
          <p:cNvPr id="3" name="">
            <a:extLst xmlns:a="http://schemas.openxmlformats.org/drawingml/2006/main">
              <a:ext uri="{FF2B5EF4-FFF2-40B4-BE49-F238E27FC236}">
                <a16:creationId xmlns:a16="http://schemas.microsoft.com/office/drawing/2014/main" id="{869657B0-7DC7-45E9-BE90-775949F7364F}"/>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AA0AC74F-06A4-495B-B16D-16EBD70A335F}"/>
              </a:ext>
            </a:extLst>
          </p:cNvPr>
          <p:cNvSpPr>
            <a:spLocks xmlns:a="http://schemas.openxmlformats.org/drawingml/2006/main" noGrp="1"/>
          </p:cNvSpPr>
          <p:nvPr/>
        </p:nvSpPr>
        <p:spPr>
          <a:xfrm xmlns:a="http://schemas.openxmlformats.org/drawingml/2006/main">
            <a:off x="6096000" y="1562100"/>
            <a:ext cx="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882107F9-501E-4418-9536-D1C26CB7056E}"/>
              </a:ext>
            </a:extLst>
          </p:cNvPr>
          <p:cNvSpPr>
            <a:spLocks xmlns:a="http://schemas.openxmlformats.org/drawingml/2006/main" noGrp="1"/>
          </p:cNvSpPr>
          <p:nvPr/>
        </p:nvSpPr>
        <p:spPr>
          <a:xfrm xmlns:a="http://schemas.openxmlformats.org/drawingml/2006/main">
            <a:off x="381000" y="1562100"/>
            <a:ext cx="5448300" cy="434340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EB43D24-F5E0-4654-B85E-28975647145E}"/>
              </a:ext>
            </a:extLst>
          </p:cNvPr>
          <p:cNvSpPr>
            <a:spLocks xmlns:a="http://schemas.openxmlformats.org/drawingml/2006/main" noGrp="1"/>
          </p:cNvSpPr>
          <p:nvPr/>
        </p:nvSpPr>
        <p:spPr>
          <a:xfrm xmlns:a="http://schemas.openxmlformats.org/drawingml/2006/main">
            <a:off x="6362700" y="1562100"/>
            <a:ext cx="5448300" cy="43434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9D4CC347-74CE-4F41-9586-A748C9589214}"/>
              </a:ext>
            </a:extLst>
          </p:cNvPr>
          <p:cNvSpPr>
            <a:spLocks xmlns:a="http://schemas.openxmlformats.org/drawingml/2006/main" noGrp="1"/>
          </p:cNvSpPr>
          <p:nvPr/>
        </p:nvSpPr>
        <p:spPr>
          <a:xfrm xmlns:a="http://schemas.openxmlformats.org/drawingml/2006/main">
            <a:off x="685800" y="1866900"/>
            <a:ext cx="1333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208"/>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TODAY</a:t>
            </a:r>
          </a:p>
        </p:txBody>
      </p:sp>
      <p:sp>
        <p:nvSpPr>
          <p:cNvPr id="8" name="">
            <a:extLst xmlns:a="http://schemas.openxmlformats.org/drawingml/2006/main">
              <a:ext uri="{FF2B5EF4-FFF2-40B4-BE49-F238E27FC236}">
                <a16:creationId xmlns:a16="http://schemas.microsoft.com/office/drawing/2014/main" id="{AFFA3169-BE08-4E9D-AB34-937775A06F41}"/>
              </a:ext>
            </a:extLst>
          </p:cNvPr>
          <p:cNvSpPr>
            <a:spLocks xmlns:a="http://schemas.openxmlformats.org/drawingml/2006/main" noGrp="1"/>
          </p:cNvSpPr>
          <p:nvPr/>
        </p:nvSpPr>
        <p:spPr>
          <a:xfrm xmlns:a="http://schemas.openxmlformats.org/drawingml/2006/main">
            <a:off x="685800" y="2266950"/>
            <a:ext cx="4476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863"/>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The </a:t>
            </a:r>
            <a:r>
              <a:rPr sz="2325" b="1">
                <a:solidFill>
                  <a:srgbClr val="111111"/>
                </a:solidFill>
                <a:latin typeface="Arial"/>
                <a:ea typeface="Arial"/>
                <a:cs typeface="Arial"/>
              </a:rPr>
              <a:t>operations team</a:t>
            </a:r>
            <a:r>
              <a:rPr sz="2325" b="1">
                <a:solidFill>
                  <a:srgbClr val="111111"/>
                </a:solidFill>
                <a:latin typeface="Arial"/>
                <a:ea typeface="Arial"/>
                <a:cs typeface="Arial"/>
              </a:rPr>
              <a:t> repeatedly opens links and re-checks dates.</a:t>
            </a:r>
          </a:p>
        </p:txBody>
      </p:sp>
      <p:sp>
        <p:nvSpPr>
          <p:cNvPr id="9" name="">
            <a:extLst xmlns:a="http://schemas.openxmlformats.org/drawingml/2006/main">
              <a:ext uri="{FF2B5EF4-FFF2-40B4-BE49-F238E27FC236}">
                <a16:creationId xmlns:a16="http://schemas.microsoft.com/office/drawing/2014/main" id="{193775FD-138A-4F7C-946C-5808911C5D12}"/>
              </a:ext>
            </a:extLst>
          </p:cNvPr>
          <p:cNvSpPr>
            <a:spLocks xmlns:a="http://schemas.openxmlformats.org/drawingml/2006/main" noGrp="1"/>
          </p:cNvSpPr>
          <p:nvPr/>
        </p:nvSpPr>
        <p:spPr>
          <a:xfrm xmlns:a="http://schemas.openxmlformats.org/drawingml/2006/main">
            <a:off x="685800" y="36195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8793B0-9671-479C-8A8F-22B578FA1E49}"/>
              </a:ext>
            </a:extLst>
          </p:cNvPr>
          <p:cNvSpPr>
            <a:spLocks xmlns:a="http://schemas.openxmlformats.org/drawingml/2006/main" noGrp="1"/>
          </p:cNvSpPr>
          <p:nvPr/>
        </p:nvSpPr>
        <p:spPr>
          <a:xfrm xmlns:a="http://schemas.openxmlformats.org/drawingml/2006/main">
            <a:off x="914400" y="35242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Knowledge sits across files, pages and bookmarks</a:t>
            </a:r>
          </a:p>
        </p:txBody>
      </p:sp>
      <p:sp>
        <p:nvSpPr>
          <p:cNvPr id="11" name="">
            <a:extLst xmlns:a="http://schemas.openxmlformats.org/drawingml/2006/main">
              <a:ext uri="{FF2B5EF4-FFF2-40B4-BE49-F238E27FC236}">
                <a16:creationId xmlns:a16="http://schemas.microsoft.com/office/drawing/2014/main" id="{C0DB9C36-519C-498B-BCC1-F40C3F61921B}"/>
              </a:ext>
            </a:extLst>
          </p:cNvPr>
          <p:cNvSpPr>
            <a:spLocks xmlns:a="http://schemas.openxmlformats.org/drawingml/2006/main" noGrp="1"/>
          </p:cNvSpPr>
          <p:nvPr/>
        </p:nvSpPr>
        <p:spPr>
          <a:xfrm xmlns:a="http://schemas.openxmlformats.org/drawingml/2006/main">
            <a:off x="685800" y="42481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52C895C-EBEF-43F3-A097-B140D1B992F8}"/>
              </a:ext>
            </a:extLst>
          </p:cNvPr>
          <p:cNvSpPr>
            <a:spLocks xmlns:a="http://schemas.openxmlformats.org/drawingml/2006/main" noGrp="1"/>
          </p:cNvSpPr>
          <p:nvPr/>
        </p:nvSpPr>
        <p:spPr>
          <a:xfrm xmlns:a="http://schemas.openxmlformats.org/drawingml/2006/main">
            <a:off x="914400" y="415290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Every review repeats the same navigation</a:t>
            </a:r>
          </a:p>
        </p:txBody>
      </p:sp>
      <p:sp>
        <p:nvSpPr>
          <p:cNvPr id="13" name="">
            <a:extLst xmlns:a="http://schemas.openxmlformats.org/drawingml/2006/main">
              <a:ext uri="{FF2B5EF4-FFF2-40B4-BE49-F238E27FC236}">
                <a16:creationId xmlns:a16="http://schemas.microsoft.com/office/drawing/2014/main" id="{974D9571-444F-46AC-BF87-676504E5CD1C}"/>
              </a:ext>
            </a:extLst>
          </p:cNvPr>
          <p:cNvSpPr>
            <a:spLocks xmlns:a="http://schemas.openxmlformats.org/drawingml/2006/main" noGrp="1"/>
          </p:cNvSpPr>
          <p:nvPr/>
        </p:nvSpPr>
        <p:spPr>
          <a:xfrm xmlns:a="http://schemas.openxmlformats.org/drawingml/2006/main">
            <a:off x="685800" y="48768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A8DF426-15E7-43FA-8DAB-4479081CD37B}"/>
              </a:ext>
            </a:extLst>
          </p:cNvPr>
          <p:cNvSpPr>
            <a:spLocks xmlns:a="http://schemas.openxmlformats.org/drawingml/2006/main" noGrp="1"/>
          </p:cNvSpPr>
          <p:nvPr/>
        </p:nvSpPr>
        <p:spPr>
          <a:xfrm xmlns:a="http://schemas.openxmlformats.org/drawingml/2006/main">
            <a:off x="914400" y="47815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Manual process: navigate to each source page and check it individually</a:t>
            </a:r>
          </a:p>
        </p:txBody>
      </p:sp>
      <p:sp>
        <p:nvSpPr>
          <p:cNvPr id="15" name="">
            <a:extLst xmlns:a="http://schemas.openxmlformats.org/drawingml/2006/main">
              <a:ext uri="{FF2B5EF4-FFF2-40B4-BE49-F238E27FC236}">
                <a16:creationId xmlns:a16="http://schemas.microsoft.com/office/drawing/2014/main" id="{71E98129-5E07-4C3F-A3C3-B589B867FBB7}"/>
              </a:ext>
            </a:extLst>
          </p:cNvPr>
          <p:cNvSpPr>
            <a:spLocks xmlns:a="http://schemas.openxmlformats.org/drawingml/2006/main" noGrp="1"/>
          </p:cNvSpPr>
          <p:nvPr/>
        </p:nvSpPr>
        <p:spPr>
          <a:xfrm xmlns:a="http://schemas.openxmlformats.org/drawingml/2006/main">
            <a:off x="6667500" y="1866900"/>
            <a:ext cx="190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208"/>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PROJECT IMPACT</a:t>
            </a:r>
          </a:p>
        </p:txBody>
      </p:sp>
      <p:sp>
        <p:nvSpPr>
          <p:cNvPr id="16" name="">
            <a:extLst xmlns:a="http://schemas.openxmlformats.org/drawingml/2006/main">
              <a:ext uri="{FF2B5EF4-FFF2-40B4-BE49-F238E27FC236}">
                <a16:creationId xmlns:a16="http://schemas.microsoft.com/office/drawing/2014/main" id="{9B337724-C3BC-419C-99D6-2DC53E3BB77C}"/>
              </a:ext>
            </a:extLst>
          </p:cNvPr>
          <p:cNvSpPr>
            <a:spLocks xmlns:a="http://schemas.openxmlformats.org/drawingml/2006/main" noGrp="1"/>
          </p:cNvSpPr>
          <p:nvPr/>
        </p:nvSpPr>
        <p:spPr>
          <a:xfrm xmlns:a="http://schemas.openxmlformats.org/drawingml/2006/main">
            <a:off x="6667500" y="2266950"/>
            <a:ext cx="4286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A stale date becomes a planning surprise.</a:t>
            </a:r>
          </a:p>
        </p:txBody>
      </p:sp>
      <p:sp>
        <p:nvSpPr>
          <p:cNvPr id="19" name="">
            <a:extLst xmlns:a="http://schemas.openxmlformats.org/drawingml/2006/main">
              <a:ext uri="{FF2B5EF4-FFF2-40B4-BE49-F238E27FC236}">
                <a16:creationId xmlns:a16="http://schemas.microsoft.com/office/drawing/2014/main" id="{0D4F90DF-699A-4CA2-B29E-10371DC2D549}"/>
              </a:ext>
            </a:extLst>
          </p:cNvPr>
          <p:cNvSpPr>
            <a:spLocks xmlns:a="http://schemas.openxmlformats.org/drawingml/2006/main" noGrp="1"/>
          </p:cNvSpPr>
          <p:nvPr/>
        </p:nvSpPr>
        <p:spPr>
          <a:xfrm xmlns:a="http://schemas.openxmlformats.org/drawingml/2006/main">
            <a:off x="6667500" y="3619500"/>
            <a:ext cx="95250" cy="95250"/>
          </a:xfrm>
          <a:prstGeom xmlns:a="http://schemas.openxmlformats.org/drawingml/2006/main" prst="rect">
            <a:avLst/>
          </a:prstGeom>
          <a:solidFill xmlns:a="http://schemas.openxmlformats.org/drawingml/2006/main">
            <a:srgbClr val="F57C0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6B9E5AD-64D8-439F-A717-3AC0104167AD}"/>
              </a:ext>
            </a:extLst>
          </p:cNvPr>
          <p:cNvSpPr>
            <a:spLocks xmlns:a="http://schemas.openxmlformats.org/drawingml/2006/main" noGrp="1"/>
          </p:cNvSpPr>
          <p:nvPr/>
        </p:nvSpPr>
        <p:spPr>
          <a:xfrm xmlns:a="http://schemas.openxmlformats.org/drawingml/2006/main">
            <a:off x="6896100" y="35242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Different projects track different levels of detail</a:t>
            </a:r>
          </a:p>
        </p:txBody>
      </p:sp>
      <p:sp>
        <p:nvSpPr>
          <p:cNvPr id="21" name="">
            <a:extLst xmlns:a="http://schemas.openxmlformats.org/drawingml/2006/main">
              <a:ext uri="{FF2B5EF4-FFF2-40B4-BE49-F238E27FC236}">
                <a16:creationId xmlns:a16="http://schemas.microsoft.com/office/drawing/2014/main" id="{E4385C1D-9C3D-40A9-9175-96FDD6B63FF4}"/>
              </a:ext>
            </a:extLst>
          </p:cNvPr>
          <p:cNvSpPr>
            <a:spLocks xmlns:a="http://schemas.openxmlformats.org/drawingml/2006/main" noGrp="1"/>
          </p:cNvSpPr>
          <p:nvPr/>
        </p:nvSpPr>
        <p:spPr>
          <a:xfrm xmlns:a="http://schemas.openxmlformats.org/drawingml/2006/main">
            <a:off x="6667500" y="4248150"/>
            <a:ext cx="95250" cy="95250"/>
          </a:xfrm>
          <a:prstGeom xmlns:a="http://schemas.openxmlformats.org/drawingml/2006/main" prst="rect">
            <a:avLst/>
          </a:prstGeom>
          <a:solidFill xmlns:a="http://schemas.openxmlformats.org/drawingml/2006/main">
            <a:srgbClr val="F57C0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83C7E2F-3082-4C6D-8B30-29B1A28C7786}"/>
              </a:ext>
            </a:extLst>
          </p:cNvPr>
          <p:cNvSpPr>
            <a:spLocks xmlns:a="http://schemas.openxmlformats.org/drawingml/2006/main" noGrp="1"/>
          </p:cNvSpPr>
          <p:nvPr/>
        </p:nvSpPr>
        <p:spPr>
          <a:xfrm xmlns:a="http://schemas.openxmlformats.org/drawingml/2006/main">
            <a:off x="6896100" y="415290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Prone to human error</a:t>
            </a:r>
          </a:p>
        </p:txBody>
      </p:sp>
    </p:spTree>
    <p:extLst>
      <p:ext uri="{BB962C8B-B14F-4D97-AF65-F5344CB8AC3E}">
        <p14:creationId xmlns:p14="http://schemas.microsoft.com/office/powerpoint/2010/main" val="68170674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677C0DE-3AEB-47B7-AF8C-E2C557DA069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DEPENDENCY EOL TRACKER</a:t>
            </a:r>
          </a:p>
        </p:txBody>
      </p:sp>
      <p:sp>
        <p:nvSpPr>
          <p:cNvPr id="2" name="slide-3-title">
            <a:extLst xmlns:a="http://schemas.openxmlformats.org/drawingml/2006/main">
              <a:ext uri="{FF2B5EF4-FFF2-40B4-BE49-F238E27FC236}">
                <a16:creationId xmlns:a16="http://schemas.microsoft.com/office/drawing/2014/main" id="{05DE3C56-9269-432F-8CAD-E7308C597BD5}"/>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Two jobs become one repeatable control</a:t>
            </a:r>
          </a:p>
        </p:txBody>
      </p:sp>
      <p:sp>
        <p:nvSpPr>
          <p:cNvPr id="3" name="">
            <a:extLst xmlns:a="http://schemas.openxmlformats.org/drawingml/2006/main">
              <a:ext uri="{FF2B5EF4-FFF2-40B4-BE49-F238E27FC236}">
                <a16:creationId xmlns:a16="http://schemas.microsoft.com/office/drawing/2014/main" id="{5459F0D2-BCF0-4C7A-B89E-375731D1F975}"/>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ADF45E84-DEC1-42EA-858F-4A69ACC6F906}"/>
              </a:ext>
            </a:extLst>
          </p:cNvPr>
          <p:cNvSpPr>
            <a:spLocks xmlns:a="http://schemas.openxmlformats.org/drawingml/2006/main" noGrp="1"/>
          </p:cNvSpPr>
          <p:nvPr/>
        </p:nvSpPr>
        <p:spPr>
          <a:xfrm xmlns:a="http://schemas.openxmlformats.org/drawingml/2006/main">
            <a:off x="3714750" y="3105150"/>
            <a:ext cx="876300" cy="3238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037CB1B-19C0-45D6-84D6-21E9832F4CEE}"/>
              </a:ext>
            </a:extLst>
          </p:cNvPr>
          <p:cNvSpPr>
            <a:spLocks xmlns:a="http://schemas.openxmlformats.org/drawingml/2006/main" noGrp="1"/>
          </p:cNvSpPr>
          <p:nvPr/>
        </p:nvSpPr>
        <p:spPr>
          <a:xfrm xmlns:a="http://schemas.openxmlformats.org/drawingml/2006/main">
            <a:off x="7600950" y="3105150"/>
            <a:ext cx="876300" cy="3238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496D18-2BDB-4AD1-A330-92D577532F62}"/>
              </a:ext>
            </a:extLst>
          </p:cNvPr>
          <p:cNvSpPr>
            <a:spLocks xmlns:a="http://schemas.openxmlformats.org/drawingml/2006/main" noGrp="1"/>
          </p:cNvSpPr>
          <p:nvPr/>
        </p:nvSpPr>
        <p:spPr>
          <a:xfrm xmlns:a="http://schemas.openxmlformats.org/drawingml/2006/main">
            <a:off x="4000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buNone/>
              <a:defRPr sz="4500" b="1">
                <a:solidFill>
                  <a:srgbClr val="3D8DFF"/>
                </a:solidFill>
                <a:latin typeface="Arial"/>
                <a:ea typeface="Arial"/>
                <a:cs typeface="Arial"/>
              </a:defRPr>
            </a:pPr>
            <a:r>
              <a:rPr sz="4500" b="1">
                <a:solidFill>
                  <a:srgbClr val="3D8D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5D669B7A-E3B6-487F-84F5-26354A1E39DF}"/>
              </a:ext>
            </a:extLst>
          </p:cNvPr>
          <p:cNvSpPr>
            <a:spLocks xmlns:a="http://schemas.openxmlformats.org/drawingml/2006/main" noGrp="1"/>
          </p:cNvSpPr>
          <p:nvPr/>
        </p:nvSpPr>
        <p:spPr>
          <a:xfrm xmlns:a="http://schemas.openxmlformats.org/drawingml/2006/main">
            <a:off x="4000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111111"/>
                </a:solidFill>
                <a:latin typeface="Arial"/>
                <a:ea typeface="Arial"/>
                <a:cs typeface="Arial"/>
              </a:defRPr>
            </a:pPr>
            <a:r>
              <a:rPr sz="2400" b="1">
                <a:solidFill>
                  <a:srgbClr val="111111"/>
                </a:solidFill>
                <a:latin typeface="Arial"/>
                <a:ea typeface="Arial"/>
                <a:cs typeface="Arial"/>
              </a:rPr>
              <a:t>Inventory</a:t>
            </a:r>
          </a:p>
        </p:txBody>
      </p:sp>
      <p:sp>
        <p:nvSpPr>
          <p:cNvPr id="8" name="">
            <a:extLst xmlns:a="http://schemas.openxmlformats.org/drawingml/2006/main">
              <a:ext uri="{FF2B5EF4-FFF2-40B4-BE49-F238E27FC236}">
                <a16:creationId xmlns:a16="http://schemas.microsoft.com/office/drawing/2014/main" id="{E9989F6A-8EF6-450C-ADDE-F52C1EE13999}"/>
              </a:ext>
            </a:extLst>
          </p:cNvPr>
          <p:cNvSpPr>
            <a:spLocks xmlns:a="http://schemas.openxmlformats.org/drawingml/2006/main" noGrp="1"/>
          </p:cNvSpPr>
          <p:nvPr/>
        </p:nvSpPr>
        <p:spPr>
          <a:xfrm xmlns:a="http://schemas.openxmlformats.org/drawingml/2006/main">
            <a:off x="4000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5F6670"/>
                </a:solidFill>
                <a:latin typeface="Arial"/>
                <a:ea typeface="Arial"/>
                <a:cs typeface="Arial"/>
              </a:defRPr>
            </a:pPr>
            <a:r>
              <a:rPr sz="1725" b="0">
                <a:solidFill>
                  <a:srgbClr val="5F6670"/>
                </a:solidFill>
                <a:latin typeface="Arial"/>
                <a:ea typeface="Arial"/>
                <a:cs typeface="Arial"/>
              </a:rPr>
              <a:t>Extract what the project actually runs into a curated JSON configuration.</a:t>
            </a:r>
          </a:p>
        </p:txBody>
      </p:sp>
      <p:sp>
        <p:nvSpPr>
          <p:cNvPr id="9" name="">
            <a:extLst xmlns:a="http://schemas.openxmlformats.org/drawingml/2006/main">
              <a:ext uri="{FF2B5EF4-FFF2-40B4-BE49-F238E27FC236}">
                <a16:creationId xmlns:a16="http://schemas.microsoft.com/office/drawing/2014/main" id="{D0A41FB0-EF17-482F-A88C-59D0118EB7E7}"/>
              </a:ext>
            </a:extLst>
          </p:cNvPr>
          <p:cNvSpPr>
            <a:spLocks xmlns:a="http://schemas.openxmlformats.org/drawingml/2006/main" noGrp="1"/>
          </p:cNvSpPr>
          <p:nvPr/>
        </p:nvSpPr>
        <p:spPr>
          <a:xfrm xmlns:a="http://schemas.openxmlformats.org/drawingml/2006/main">
            <a:off x="4000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B053D665-59C1-472A-8444-A9FC9317432F}"/>
              </a:ext>
            </a:extLst>
          </p:cNvPr>
          <p:cNvSpPr>
            <a:spLocks xmlns:a="http://schemas.openxmlformats.org/drawingml/2006/main" noGrp="1"/>
          </p:cNvSpPr>
          <p:nvPr/>
        </p:nvSpPr>
        <p:spPr>
          <a:xfrm xmlns:a="http://schemas.openxmlformats.org/drawingml/2006/main">
            <a:off x="42862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buNone/>
              <a:defRPr sz="4500" b="1">
                <a:solidFill>
                  <a:srgbClr val="3D8DFF"/>
                </a:solidFill>
                <a:latin typeface="Arial"/>
                <a:ea typeface="Arial"/>
                <a:cs typeface="Arial"/>
              </a:defRPr>
            </a:pPr>
            <a:r>
              <a:rPr sz="4500"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D8D506DA-DE97-4478-91CF-56EA7CBAFEE4}"/>
              </a:ext>
            </a:extLst>
          </p:cNvPr>
          <p:cNvSpPr>
            <a:spLocks xmlns:a="http://schemas.openxmlformats.org/drawingml/2006/main" noGrp="1"/>
          </p:cNvSpPr>
          <p:nvPr/>
        </p:nvSpPr>
        <p:spPr>
          <a:xfrm xmlns:a="http://schemas.openxmlformats.org/drawingml/2006/main">
            <a:off x="42862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111111"/>
                </a:solidFill>
                <a:latin typeface="Arial"/>
                <a:ea typeface="Arial"/>
                <a:cs typeface="Arial"/>
              </a:defRPr>
            </a:pPr>
            <a:r>
              <a:rPr sz="2400" b="1">
                <a:solidFill>
                  <a:srgbClr val="111111"/>
                </a:solidFill>
                <a:latin typeface="Arial"/>
                <a:ea typeface="Arial"/>
                <a:cs typeface="Arial"/>
              </a:rPr>
              <a:t>Check</a:t>
            </a:r>
          </a:p>
        </p:txBody>
      </p:sp>
      <p:sp>
        <p:nvSpPr>
          <p:cNvPr id="12" name="">
            <a:extLst xmlns:a="http://schemas.openxmlformats.org/drawingml/2006/main">
              <a:ext uri="{FF2B5EF4-FFF2-40B4-BE49-F238E27FC236}">
                <a16:creationId xmlns:a16="http://schemas.microsoft.com/office/drawing/2014/main" id="{BDF48913-8B43-460E-9CFB-6B91E3315EE4}"/>
              </a:ext>
            </a:extLst>
          </p:cNvPr>
          <p:cNvSpPr>
            <a:spLocks xmlns:a="http://schemas.openxmlformats.org/drawingml/2006/main" noGrp="1"/>
          </p:cNvSpPr>
          <p:nvPr/>
        </p:nvSpPr>
        <p:spPr>
          <a:xfrm xmlns:a="http://schemas.openxmlformats.org/drawingml/2006/main">
            <a:off x="42862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5F6670"/>
                </a:solidFill>
                <a:latin typeface="Arial"/>
                <a:ea typeface="Arial"/>
                <a:cs typeface="Arial"/>
              </a:defRPr>
            </a:pPr>
            <a:r>
              <a:rPr sz="1725" b="0">
                <a:solidFill>
                  <a:srgbClr val="5F6670"/>
                </a:solidFill>
                <a:latin typeface="Arial"/>
                <a:ea typeface="Arial"/>
                <a:cs typeface="Arial"/>
              </a:rPr>
              <a:t>Route every entry to the best available lifecycle or registry source.</a:t>
            </a:r>
          </a:p>
        </p:txBody>
      </p:sp>
      <p:sp>
        <p:nvSpPr>
          <p:cNvPr id="13" name="">
            <a:extLst xmlns:a="http://schemas.openxmlformats.org/drawingml/2006/main">
              <a:ext uri="{FF2B5EF4-FFF2-40B4-BE49-F238E27FC236}">
                <a16:creationId xmlns:a16="http://schemas.microsoft.com/office/drawing/2014/main" id="{121F0FD8-7DBA-4C48-B8F7-C267CC49A68D}"/>
              </a:ext>
            </a:extLst>
          </p:cNvPr>
          <p:cNvSpPr>
            <a:spLocks xmlns:a="http://schemas.openxmlformats.org/drawingml/2006/main" noGrp="1"/>
          </p:cNvSpPr>
          <p:nvPr/>
        </p:nvSpPr>
        <p:spPr>
          <a:xfrm xmlns:a="http://schemas.openxmlformats.org/drawingml/2006/main">
            <a:off x="42862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CAE06041-6DD3-4E44-9477-FA0680A1CF4E}"/>
              </a:ext>
            </a:extLst>
          </p:cNvPr>
          <p:cNvSpPr>
            <a:spLocks xmlns:a="http://schemas.openxmlformats.org/drawingml/2006/main" noGrp="1"/>
          </p:cNvSpPr>
          <p:nvPr/>
        </p:nvSpPr>
        <p:spPr>
          <a:xfrm xmlns:a="http://schemas.openxmlformats.org/drawingml/2006/main">
            <a:off x="81724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buNone/>
              <a:defRPr sz="4500" b="1">
                <a:solidFill>
                  <a:srgbClr val="3D8DFF"/>
                </a:solidFill>
                <a:latin typeface="Arial"/>
                <a:ea typeface="Arial"/>
                <a:cs typeface="Arial"/>
              </a:defRPr>
            </a:pPr>
            <a:r>
              <a:rPr sz="4500" b="1">
                <a:solidFill>
                  <a:srgbClr val="3D8D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6BCA989-C627-4121-AC84-FC8A530E5A3F}"/>
              </a:ext>
            </a:extLst>
          </p:cNvPr>
          <p:cNvSpPr>
            <a:spLocks xmlns:a="http://schemas.openxmlformats.org/drawingml/2006/main" noGrp="1"/>
          </p:cNvSpPr>
          <p:nvPr/>
        </p:nvSpPr>
        <p:spPr>
          <a:xfrm xmlns:a="http://schemas.openxmlformats.org/drawingml/2006/main">
            <a:off x="81724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111111"/>
                </a:solidFill>
                <a:latin typeface="Arial"/>
                <a:ea typeface="Arial"/>
                <a:cs typeface="Arial"/>
              </a:defRPr>
            </a:pPr>
            <a:r>
              <a:rPr sz="2400" b="1">
                <a:solidFill>
                  <a:srgbClr val="111111"/>
                </a:solidFill>
                <a:latin typeface="Arial"/>
                <a:ea typeface="Arial"/>
                <a:cs typeface="Arial"/>
              </a:rPr>
              <a:t>Report</a:t>
            </a:r>
          </a:p>
        </p:txBody>
      </p:sp>
      <p:sp>
        <p:nvSpPr>
          <p:cNvPr id="16" name="">
            <a:extLst xmlns:a="http://schemas.openxmlformats.org/drawingml/2006/main">
              <a:ext uri="{FF2B5EF4-FFF2-40B4-BE49-F238E27FC236}">
                <a16:creationId xmlns:a16="http://schemas.microsoft.com/office/drawing/2014/main" id="{0B93AA2E-19F4-465B-97B0-C590B382A7A2}"/>
              </a:ext>
            </a:extLst>
          </p:cNvPr>
          <p:cNvSpPr>
            <a:spLocks xmlns:a="http://schemas.openxmlformats.org/drawingml/2006/main" noGrp="1"/>
          </p:cNvSpPr>
          <p:nvPr/>
        </p:nvSpPr>
        <p:spPr>
          <a:xfrm xmlns:a="http://schemas.openxmlformats.org/drawingml/2006/main">
            <a:off x="81724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5F6670"/>
                </a:solidFill>
                <a:latin typeface="Arial"/>
                <a:ea typeface="Arial"/>
                <a:cs typeface="Arial"/>
              </a:defRPr>
            </a:pPr>
            <a:r>
              <a:rPr sz="1725" b="0">
                <a:solidFill>
                  <a:srgbClr val="5F6670"/>
                </a:solidFill>
                <a:latin typeface="Arial"/>
                <a:ea typeface="Arial"/>
                <a:cs typeface="Arial"/>
              </a:rPr>
              <a:t>Use the 90-day sample alert window, group results by lifecycle status, and publish one report.</a:t>
            </a:r>
          </a:p>
        </p:txBody>
      </p:sp>
      <p:sp>
        <p:nvSpPr>
          <p:cNvPr id="17" name="">
            <a:extLst xmlns:a="http://schemas.openxmlformats.org/drawingml/2006/main">
              <a:ext uri="{FF2B5EF4-FFF2-40B4-BE49-F238E27FC236}">
                <a16:creationId xmlns:a16="http://schemas.microsoft.com/office/drawing/2014/main" id="{1EB1741F-ACDD-46C9-8C87-AC1497F1D486}"/>
              </a:ext>
            </a:extLst>
          </p:cNvPr>
          <p:cNvSpPr>
            <a:spLocks xmlns:a="http://schemas.openxmlformats.org/drawingml/2006/main" noGrp="1"/>
          </p:cNvSpPr>
          <p:nvPr/>
        </p:nvSpPr>
        <p:spPr>
          <a:xfrm xmlns:a="http://schemas.openxmlformats.org/drawingml/2006/main">
            <a:off x="81724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A7B62F4C-6327-4CE3-B0A4-24FAC907759B}"/>
              </a:ext>
            </a:extLst>
          </p:cNvPr>
          <p:cNvSpPr>
            <a:spLocks xmlns:a="http://schemas.openxmlformats.org/drawingml/2006/main" noGrp="1"/>
          </p:cNvSpPr>
          <p:nvPr/>
        </p:nvSpPr>
        <p:spPr>
          <a:xfrm xmlns:a="http://schemas.openxmlformats.org/drawingml/2006/main">
            <a:off x="400050" y="560070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One configuration becomes the durable hand-off between discovery and monitoring.</a:t>
            </a:r>
          </a:p>
        </p:txBody>
      </p:sp>
    </p:spTree>
    <p:extLst>
      <p:ext uri="{BB962C8B-B14F-4D97-AF65-F5344CB8AC3E}">
        <p14:creationId xmlns:p14="http://schemas.microsoft.com/office/powerpoint/2010/main" val="57526012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11C406C-1F6A-4ADE-81E8-76CA11DB4039}"/>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PART 1 — CONFIGURATION</a:t>
            </a:r>
          </a:p>
        </p:txBody>
      </p:sp>
      <p:sp>
        <p:nvSpPr>
          <p:cNvPr id="2" name="slide-4-title">
            <a:extLst xmlns:a="http://schemas.openxmlformats.org/drawingml/2006/main">
              <a:ext uri="{FF2B5EF4-FFF2-40B4-BE49-F238E27FC236}">
                <a16:creationId xmlns:a16="http://schemas.microsoft.com/office/drawing/2014/main" id="{F986345D-FA6F-4318-A822-F3ECE5579EC2}"/>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Build a curated dependency inventory</a:t>
            </a:r>
          </a:p>
        </p:txBody>
      </p:sp>
      <p:sp>
        <p:nvSpPr>
          <p:cNvPr id="3" name="">
            <a:extLst xmlns:a="http://schemas.openxmlformats.org/drawingml/2006/main">
              <a:ext uri="{FF2B5EF4-FFF2-40B4-BE49-F238E27FC236}">
                <a16:creationId xmlns:a16="http://schemas.microsoft.com/office/drawing/2014/main" id="{DDF9320B-61DA-4A58-854B-934FBA2D10F7}"/>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2E72ECE2-0ABB-43EB-8CA3-3148311E435C}"/>
              </a:ext>
            </a:extLst>
          </p:cNvPr>
          <p:cNvSpPr>
            <a:spLocks xmlns:a="http://schemas.openxmlformats.org/drawingml/2006/main" noGrp="1"/>
          </p:cNvSpPr>
          <p:nvPr/>
        </p:nvSpPr>
        <p:spPr>
          <a:xfrm xmlns:a="http://schemas.openxmlformats.org/drawingml/2006/main">
            <a:off x="40005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a:solidFill>
                  <a:srgbClr val="3D8DFF"/>
                </a:solidFill>
                <a:latin typeface="Arial"/>
                <a:ea typeface="Arial"/>
                <a:cs typeface="Arial"/>
              </a:defRPr>
            </a:pPr>
            <a:r>
              <a:rPr sz="3600" b="1">
                <a:solidFill>
                  <a:srgbClr val="3D8DFF"/>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C2030BBA-2AE8-4E68-89D3-73239291105A}"/>
              </a:ext>
            </a:extLst>
          </p:cNvPr>
          <p:cNvSpPr>
            <a:spLocks xmlns:a="http://schemas.openxmlformats.org/drawingml/2006/main" noGrp="1"/>
          </p:cNvSpPr>
          <p:nvPr/>
        </p:nvSpPr>
        <p:spPr>
          <a:xfrm xmlns:a="http://schemas.openxmlformats.org/drawingml/2006/main">
            <a:off x="40005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Clean manifests</a:t>
            </a:r>
          </a:p>
        </p:txBody>
      </p:sp>
      <p:sp>
        <p:nvSpPr>
          <p:cNvPr id="6" name="">
            <a:extLst xmlns:a="http://schemas.openxmlformats.org/drawingml/2006/main">
              <a:ext uri="{FF2B5EF4-FFF2-40B4-BE49-F238E27FC236}">
                <a16:creationId xmlns:a16="http://schemas.microsoft.com/office/drawing/2014/main" id="{20ED2F3F-00B1-465E-8385-839BDD7AFE38}"/>
              </a:ext>
            </a:extLst>
          </p:cNvPr>
          <p:cNvSpPr>
            <a:spLocks xmlns:a="http://schemas.openxmlformats.org/drawingml/2006/main" noGrp="1"/>
          </p:cNvSpPr>
          <p:nvPr/>
        </p:nvSpPr>
        <p:spPr>
          <a:xfrm xmlns:a="http://schemas.openxmlformats.org/drawingml/2006/main">
            <a:off x="40005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The deterministic scanner reads pom.xml, Gradle files and package.json, then maps known dependencies to provider entries.</a:t>
            </a:r>
          </a:p>
        </p:txBody>
      </p:sp>
      <p:sp>
        <p:nvSpPr>
          <p:cNvPr id="7" name="">
            <a:extLst xmlns:a="http://schemas.openxmlformats.org/drawingml/2006/main">
              <a:ext uri="{FF2B5EF4-FFF2-40B4-BE49-F238E27FC236}">
                <a16:creationId xmlns:a16="http://schemas.microsoft.com/office/drawing/2014/main" id="{F5A32383-0738-4E7B-ACD3-03894B61328E}"/>
              </a:ext>
            </a:extLst>
          </p:cNvPr>
          <p:cNvSpPr>
            <a:spLocks xmlns:a="http://schemas.openxmlformats.org/drawingml/2006/main" noGrp="1"/>
          </p:cNvSpPr>
          <p:nvPr/>
        </p:nvSpPr>
        <p:spPr>
          <a:xfrm xmlns:a="http://schemas.openxmlformats.org/drawingml/2006/main">
            <a:off x="4000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A1AE133-CA4F-4C75-8071-4D40F0648C77}"/>
              </a:ext>
            </a:extLst>
          </p:cNvPr>
          <p:cNvSpPr>
            <a:spLocks xmlns:a="http://schemas.openxmlformats.org/drawingml/2006/main" noGrp="1"/>
          </p:cNvSpPr>
          <p:nvPr/>
        </p:nvSpPr>
        <p:spPr>
          <a:xfrm xmlns:a="http://schemas.openxmlformats.org/drawingml/2006/main">
            <a:off x="40005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Repeatable extraction</a:t>
            </a:r>
          </a:p>
        </p:txBody>
      </p:sp>
      <p:sp>
        <p:nvSpPr>
          <p:cNvPr id="9" name="">
            <a:extLst xmlns:a="http://schemas.openxmlformats.org/drawingml/2006/main">
              <a:ext uri="{FF2B5EF4-FFF2-40B4-BE49-F238E27FC236}">
                <a16:creationId xmlns:a16="http://schemas.microsoft.com/office/drawing/2014/main" id="{3FE43C91-75CE-4962-AFEA-D319E42A03B8}"/>
              </a:ext>
            </a:extLst>
          </p:cNvPr>
          <p:cNvSpPr>
            <a:spLocks xmlns:a="http://schemas.openxmlformats.org/drawingml/2006/main" noGrp="1"/>
          </p:cNvSpPr>
          <p:nvPr/>
        </p:nvSpPr>
        <p:spPr>
          <a:xfrm xmlns:a="http://schemas.openxmlformats.org/drawingml/2006/main">
            <a:off x="430530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a:solidFill>
                  <a:srgbClr val="F57C00"/>
                </a:solidFill>
                <a:latin typeface="Arial"/>
                <a:ea typeface="Arial"/>
                <a:cs typeface="Arial"/>
              </a:defRPr>
            </a:pPr>
            <a:r>
              <a:rPr sz="3600" b="1">
                <a:solidFill>
                  <a:srgbClr val="F57C00"/>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0EDD4A56-5694-4666-8944-EDA8EB281868}"/>
              </a:ext>
            </a:extLst>
          </p:cNvPr>
          <p:cNvSpPr>
            <a:spLocks xmlns:a="http://schemas.openxmlformats.org/drawingml/2006/main" noGrp="1"/>
          </p:cNvSpPr>
          <p:nvPr/>
        </p:nvSpPr>
        <p:spPr>
          <a:xfrm xmlns:a="http://schemas.openxmlformats.org/drawingml/2006/main">
            <a:off x="430530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Messy inventories</a:t>
            </a:r>
          </a:p>
        </p:txBody>
      </p:sp>
      <p:sp>
        <p:nvSpPr>
          <p:cNvPr id="11" name="">
            <a:extLst xmlns:a="http://schemas.openxmlformats.org/drawingml/2006/main">
              <a:ext uri="{FF2B5EF4-FFF2-40B4-BE49-F238E27FC236}">
                <a16:creationId xmlns:a16="http://schemas.microsoft.com/office/drawing/2014/main" id="{FDB2177F-19D5-450D-B40B-3B2C67C8D189}"/>
              </a:ext>
            </a:extLst>
          </p:cNvPr>
          <p:cNvSpPr>
            <a:spLocks xmlns:a="http://schemas.openxmlformats.org/drawingml/2006/main" noGrp="1"/>
          </p:cNvSpPr>
          <p:nvPr/>
        </p:nvSpPr>
        <p:spPr>
          <a:xfrm xmlns:a="http://schemas.openxmlformats.org/drawingml/2006/main">
            <a:off x="430530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AI agents and the manage-eol-config skill extract wiki tables, spreadsheets and prose—especially manually tracked products.</a:t>
            </a:r>
          </a:p>
        </p:txBody>
      </p:sp>
      <p:sp>
        <p:nvSpPr>
          <p:cNvPr id="12" name="">
            <a:extLst xmlns:a="http://schemas.openxmlformats.org/drawingml/2006/main">
              <a:ext uri="{FF2B5EF4-FFF2-40B4-BE49-F238E27FC236}">
                <a16:creationId xmlns:a16="http://schemas.microsoft.com/office/drawing/2014/main" id="{FA396C77-B819-4EA9-B0B8-3C646EE328C0}"/>
              </a:ext>
            </a:extLst>
          </p:cNvPr>
          <p:cNvSpPr>
            <a:spLocks xmlns:a="http://schemas.openxmlformats.org/drawingml/2006/main" noGrp="1"/>
          </p:cNvSpPr>
          <p:nvPr/>
        </p:nvSpPr>
        <p:spPr>
          <a:xfrm xmlns:a="http://schemas.openxmlformats.org/drawingml/2006/main">
            <a:off x="430530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51A9AF2F-D3F8-499E-9BA0-51E9631F963D}"/>
              </a:ext>
            </a:extLst>
          </p:cNvPr>
          <p:cNvSpPr>
            <a:spLocks xmlns:a="http://schemas.openxmlformats.org/drawingml/2006/main" noGrp="1"/>
          </p:cNvSpPr>
          <p:nvPr/>
        </p:nvSpPr>
        <p:spPr>
          <a:xfrm xmlns:a="http://schemas.openxmlformats.org/drawingml/2006/main">
            <a:off x="430530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Assisted interpretation</a:t>
            </a:r>
          </a:p>
        </p:txBody>
      </p:sp>
      <p:sp>
        <p:nvSpPr>
          <p:cNvPr id="14" name="">
            <a:extLst xmlns:a="http://schemas.openxmlformats.org/drawingml/2006/main">
              <a:ext uri="{FF2B5EF4-FFF2-40B4-BE49-F238E27FC236}">
                <a16:creationId xmlns:a16="http://schemas.microsoft.com/office/drawing/2014/main" id="{3D80C305-0F7E-4038-8E5D-2F2345F406D4}"/>
              </a:ext>
            </a:extLst>
          </p:cNvPr>
          <p:cNvSpPr>
            <a:spLocks xmlns:a="http://schemas.openxmlformats.org/drawingml/2006/main" noGrp="1"/>
          </p:cNvSpPr>
          <p:nvPr/>
        </p:nvSpPr>
        <p:spPr>
          <a:xfrm xmlns:a="http://schemas.openxmlformats.org/drawingml/2006/main">
            <a:off x="821055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a:solidFill>
                  <a:srgbClr val="3D8DFF"/>
                </a:solidFill>
                <a:latin typeface="Arial"/>
                <a:ea typeface="Arial"/>
                <a:cs typeface="Arial"/>
              </a:defRPr>
            </a:pPr>
            <a:r>
              <a:rPr sz="3600" b="1">
                <a:solidFill>
                  <a:srgbClr val="3D8DFF"/>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A7554725-AA3B-47B4-AE57-23A7FC3A138D}"/>
              </a:ext>
            </a:extLst>
          </p:cNvPr>
          <p:cNvSpPr>
            <a:spLocks xmlns:a="http://schemas.openxmlformats.org/drawingml/2006/main" noGrp="1"/>
          </p:cNvSpPr>
          <p:nvPr/>
        </p:nvSpPr>
        <p:spPr>
          <a:xfrm xmlns:a="http://schemas.openxmlformats.org/drawingml/2006/main">
            <a:off x="821055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Verification guardrail</a:t>
            </a:r>
          </a:p>
        </p:txBody>
      </p:sp>
      <p:sp>
        <p:nvSpPr>
          <p:cNvPr id="16" name="">
            <a:extLst xmlns:a="http://schemas.openxmlformats.org/drawingml/2006/main">
              <a:ext uri="{FF2B5EF4-FFF2-40B4-BE49-F238E27FC236}">
                <a16:creationId xmlns:a16="http://schemas.microsoft.com/office/drawing/2014/main" id="{31C19849-0844-4D3C-9618-56BB890F5C1E}"/>
              </a:ext>
            </a:extLst>
          </p:cNvPr>
          <p:cNvSpPr>
            <a:spLocks xmlns:a="http://schemas.openxmlformats.org/drawingml/2006/main" noGrp="1"/>
          </p:cNvSpPr>
          <p:nvPr/>
        </p:nvSpPr>
        <p:spPr>
          <a:xfrm xmlns:a="http://schemas.openxmlformats.org/drawingml/2006/main">
            <a:off x="821055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Slugs, cycles and packages are checked against live lifecycle and registry APIs; JSON is validated and the configuration is smoke-run.</a:t>
            </a:r>
          </a:p>
        </p:txBody>
      </p:sp>
      <p:sp>
        <p:nvSpPr>
          <p:cNvPr id="17" name="">
            <a:extLst xmlns:a="http://schemas.openxmlformats.org/drawingml/2006/main">
              <a:ext uri="{FF2B5EF4-FFF2-40B4-BE49-F238E27FC236}">
                <a16:creationId xmlns:a16="http://schemas.microsoft.com/office/drawing/2014/main" id="{04DE0BE4-3827-442D-9CB8-265A67B81A08}"/>
              </a:ext>
            </a:extLst>
          </p:cNvPr>
          <p:cNvSpPr>
            <a:spLocks xmlns:a="http://schemas.openxmlformats.org/drawingml/2006/main" noGrp="1"/>
          </p:cNvSpPr>
          <p:nvPr/>
        </p:nvSpPr>
        <p:spPr>
          <a:xfrm xmlns:a="http://schemas.openxmlformats.org/drawingml/2006/main">
            <a:off x="82105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B1390F3C-3489-4453-BDD8-A00FBF99E2A9}"/>
              </a:ext>
            </a:extLst>
          </p:cNvPr>
          <p:cNvSpPr>
            <a:spLocks xmlns:a="http://schemas.openxmlformats.org/drawingml/2006/main" noGrp="1"/>
          </p:cNvSpPr>
          <p:nvPr/>
        </p:nvSpPr>
        <p:spPr>
          <a:xfrm xmlns:a="http://schemas.openxmlformats.org/drawingml/2006/main">
            <a:off x="821055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No fabricated identifiers</a:t>
            </a:r>
          </a:p>
        </p:txBody>
      </p:sp>
      <p:sp>
        <p:nvSpPr>
          <p:cNvPr id="19" name="">
            <a:extLst xmlns:a="http://schemas.openxmlformats.org/drawingml/2006/main">
              <a:ext uri="{FF2B5EF4-FFF2-40B4-BE49-F238E27FC236}">
                <a16:creationId xmlns:a16="http://schemas.microsoft.com/office/drawing/2014/main" id="{82B4FA45-2882-42C3-B79E-041604E5C5B3}"/>
              </a:ext>
            </a:extLst>
          </p:cNvPr>
          <p:cNvSpPr>
            <a:spLocks xmlns:a="http://schemas.openxmlformats.org/drawingml/2006/main" noGrp="1"/>
          </p:cNvSpPr>
          <p:nvPr/>
        </p:nvSpPr>
        <p:spPr>
          <a:xfrm xmlns:a="http://schemas.openxmlformats.org/drawingml/2006/main">
            <a:off x="400050" y="601980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AI speeds up extraction; live sources remain the authority.</a:t>
            </a:r>
          </a:p>
        </p:txBody>
      </p:sp>
    </p:spTree>
    <p:extLst>
      <p:ext uri="{BB962C8B-B14F-4D97-AF65-F5344CB8AC3E}">
        <p14:creationId xmlns:p14="http://schemas.microsoft.com/office/powerpoint/2010/main" val="71077152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507E731-22DF-42F0-AF26-FE8F9C5DFD1D}"/>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PART 2 — LOOKUP ENGINE</a:t>
            </a:r>
          </a:p>
        </p:txBody>
      </p:sp>
      <p:sp>
        <p:nvSpPr>
          <p:cNvPr id="2" name="slide-5-title">
            <a:extLst xmlns:a="http://schemas.openxmlformats.org/drawingml/2006/main">
              <a:ext uri="{FF2B5EF4-FFF2-40B4-BE49-F238E27FC236}">
                <a16:creationId xmlns:a16="http://schemas.microsoft.com/office/drawing/2014/main" id="{CCDC9E1A-EB82-42C9-9AD1-104C44C9E2A4}"/>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Providers make many sources look the same</a:t>
            </a:r>
          </a:p>
        </p:txBody>
      </p:sp>
      <p:sp>
        <p:nvSpPr>
          <p:cNvPr id="3" name="">
            <a:extLst xmlns:a="http://schemas.openxmlformats.org/drawingml/2006/main">
              <a:ext uri="{FF2B5EF4-FFF2-40B4-BE49-F238E27FC236}">
                <a16:creationId xmlns:a16="http://schemas.microsoft.com/office/drawing/2014/main" id="{C4FEFA83-4402-4B43-9B0C-AF1DF5F9414B}"/>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D8203D87-3EAA-4A19-8D99-3E7E5B9AF502}"/>
              </a:ext>
            </a:extLst>
          </p:cNvPr>
          <p:cNvSpPr>
            <a:spLocks xmlns:a="http://schemas.openxmlformats.org/drawingml/2006/main" noGrp="1"/>
          </p:cNvSpPr>
          <p:nvPr/>
        </p:nvSpPr>
        <p:spPr>
          <a:xfrm xmlns:a="http://schemas.openxmlformats.org/drawingml/2006/main">
            <a:off x="2895600" y="2895600"/>
            <a:ext cx="704850" cy="2857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2D4D7D5-6C36-4D12-BC8C-C77A0710153A}"/>
              </a:ext>
            </a:extLst>
          </p:cNvPr>
          <p:cNvSpPr>
            <a:spLocks xmlns:a="http://schemas.openxmlformats.org/drawingml/2006/main" noGrp="1"/>
          </p:cNvSpPr>
          <p:nvPr/>
        </p:nvSpPr>
        <p:spPr>
          <a:xfrm xmlns:a="http://schemas.openxmlformats.org/drawingml/2006/main">
            <a:off x="6800850" y="2895600"/>
            <a:ext cx="704850" cy="2857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0F77F95-DE4A-4341-9532-EC252FBC9214}"/>
              </a:ext>
            </a:extLst>
          </p:cNvPr>
          <p:cNvSpPr>
            <a:spLocks xmlns:a="http://schemas.openxmlformats.org/drawingml/2006/main" noGrp="1"/>
          </p:cNvSpPr>
          <p:nvPr/>
        </p:nvSpPr>
        <p:spPr>
          <a:xfrm xmlns:a="http://schemas.openxmlformats.org/drawingml/2006/main">
            <a:off x="400050" y="2133600"/>
            <a:ext cx="2476500" cy="18097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BE5AAAF-E726-4DAA-8300-144073A4ED71}"/>
              </a:ext>
            </a:extLst>
          </p:cNvPr>
          <p:cNvSpPr>
            <a:spLocks xmlns:a="http://schemas.openxmlformats.org/drawingml/2006/main" noGrp="1"/>
          </p:cNvSpPr>
          <p:nvPr/>
        </p:nvSpPr>
        <p:spPr>
          <a:xfrm xmlns:a="http://schemas.openxmlformats.org/drawingml/2006/main">
            <a:off x="647700" y="24003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CONFIG ENTRY</a:t>
            </a:r>
          </a:p>
        </p:txBody>
      </p:sp>
      <p:sp>
        <p:nvSpPr>
          <p:cNvPr id="8" name="">
            <a:extLst xmlns:a="http://schemas.openxmlformats.org/drawingml/2006/main">
              <a:ext uri="{FF2B5EF4-FFF2-40B4-BE49-F238E27FC236}">
                <a16:creationId xmlns:a16="http://schemas.microsoft.com/office/drawing/2014/main" id="{DA18AE0D-D0B9-404C-B177-C27EE72A6555}"/>
              </a:ext>
            </a:extLst>
          </p:cNvPr>
          <p:cNvSpPr>
            <a:spLocks xmlns:a="http://schemas.openxmlformats.org/drawingml/2006/main" noGrp="1"/>
          </p:cNvSpPr>
          <p:nvPr/>
        </p:nvSpPr>
        <p:spPr>
          <a:xfrm xmlns:a="http://schemas.openxmlformats.org/drawingml/2006/main">
            <a:off x="647700" y="2800350"/>
            <a:ext cx="1905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762"/>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Product + version</a:t>
            </a:r>
          </a:p>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 source key</a:t>
            </a:r>
          </a:p>
        </p:txBody>
      </p:sp>
      <p:sp>
        <p:nvSpPr>
          <p:cNvPr id="9" name="">
            <a:extLst xmlns:a="http://schemas.openxmlformats.org/drawingml/2006/main">
              <a:ext uri="{FF2B5EF4-FFF2-40B4-BE49-F238E27FC236}">
                <a16:creationId xmlns:a16="http://schemas.microsoft.com/office/drawing/2014/main" id="{22621F8C-4156-4E7A-BA81-8C8F8F106C39}"/>
              </a:ext>
            </a:extLst>
          </p:cNvPr>
          <p:cNvSpPr>
            <a:spLocks xmlns:a="http://schemas.openxmlformats.org/drawingml/2006/main" noGrp="1"/>
          </p:cNvSpPr>
          <p:nvPr/>
        </p:nvSpPr>
        <p:spPr>
          <a:xfrm xmlns:a="http://schemas.openxmlformats.org/drawingml/2006/main">
            <a:off x="3600450" y="1790700"/>
            <a:ext cx="3200400" cy="249555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54ABE7-10A4-48F5-BB15-A5D323DF84D9}"/>
              </a:ext>
            </a:extLst>
          </p:cNvPr>
          <p:cNvSpPr>
            <a:spLocks xmlns:a="http://schemas.openxmlformats.org/drawingml/2006/main" noGrp="1"/>
          </p:cNvSpPr>
          <p:nvPr/>
        </p:nvSpPr>
        <p:spPr>
          <a:xfrm xmlns:a="http://schemas.openxmlformats.org/drawingml/2006/main">
            <a:off x="3886200" y="2076450"/>
            <a:ext cx="2619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AUTO-REGISTERED REGISTRY</a:t>
            </a:r>
          </a:p>
        </p:txBody>
      </p:sp>
      <p:sp>
        <p:nvSpPr>
          <p:cNvPr id="11" name="">
            <a:extLst xmlns:a="http://schemas.openxmlformats.org/drawingml/2006/main">
              <a:ext uri="{FF2B5EF4-FFF2-40B4-BE49-F238E27FC236}">
                <a16:creationId xmlns:a16="http://schemas.microsoft.com/office/drawing/2014/main" id="{2F8C3BE1-4DA7-40DE-AC90-8BC5FC5FBC25}"/>
              </a:ext>
            </a:extLst>
          </p:cNvPr>
          <p:cNvSpPr>
            <a:spLocks xmlns:a="http://schemas.openxmlformats.org/drawingml/2006/main" noGrp="1"/>
          </p:cNvSpPr>
          <p:nvPr/>
        </p:nvSpPr>
        <p:spPr>
          <a:xfrm xmlns:a="http://schemas.openxmlformats.org/drawingml/2006/main">
            <a:off x="3886200" y="253365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944"/>
          </a:bodyPr>
          <a:lstStyle xmlns:a="http://schemas.openxmlformats.org/drawingml/2006/main"/>
          <a:p xmlns:a="http://schemas.openxmlformats.org/drawingml/2006/main">
            <a:pPr algn="l">
              <a:buNone/>
              <a:defRPr sz="2700" b="1">
                <a:solidFill>
                  <a:srgbClr val="111111"/>
                </a:solidFill>
                <a:latin typeface="Arial"/>
                <a:ea typeface="Arial"/>
                <a:cs typeface="Arial"/>
              </a:defRPr>
            </a:pPr>
            <a:r>
              <a:rPr sz="2700" b="1">
                <a:solidFill>
                  <a:srgbClr val="111111"/>
                </a:solidFill>
                <a:latin typeface="Arial"/>
                <a:ea typeface="Arial"/>
                <a:cs typeface="Arial"/>
              </a:rPr>
              <a:t>8 providers</a:t>
            </a:r>
          </a:p>
        </p:txBody>
      </p:sp>
      <p:sp>
        <p:nvSpPr>
          <p:cNvPr id="12" name="">
            <a:extLst xmlns:a="http://schemas.openxmlformats.org/drawingml/2006/main">
              <a:ext uri="{FF2B5EF4-FFF2-40B4-BE49-F238E27FC236}">
                <a16:creationId xmlns:a16="http://schemas.microsoft.com/office/drawing/2014/main" id="{54CC6B42-74E9-4498-A8C4-C03BE1C65B8A}"/>
              </a:ext>
            </a:extLst>
          </p:cNvPr>
          <p:cNvSpPr>
            <a:spLocks xmlns:a="http://schemas.openxmlformats.org/drawingml/2006/main" noGrp="1"/>
          </p:cNvSpPr>
          <p:nvPr/>
        </p:nvSpPr>
        <p:spPr>
          <a:xfrm xmlns:a="http://schemas.openxmlformats.org/drawingml/2006/main">
            <a:off x="3886200" y="3143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Lifecycle catalog</a:t>
            </a:r>
          </a:p>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Package registries</a:t>
            </a:r>
          </a:p>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Vendor documentation</a:t>
            </a:r>
          </a:p>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Manual fallback</a:t>
            </a:r>
          </a:p>
        </p:txBody>
      </p:sp>
      <p:sp>
        <p:nvSpPr>
          <p:cNvPr id="13" name="">
            <a:extLst xmlns:a="http://schemas.openxmlformats.org/drawingml/2006/main">
              <a:ext uri="{FF2B5EF4-FFF2-40B4-BE49-F238E27FC236}">
                <a16:creationId xmlns:a16="http://schemas.microsoft.com/office/drawing/2014/main" id="{856A09B4-D8AA-4276-8CEA-69F1C6BBECF4}"/>
              </a:ext>
            </a:extLst>
          </p:cNvPr>
          <p:cNvSpPr>
            <a:spLocks xmlns:a="http://schemas.openxmlformats.org/drawingml/2006/main" noGrp="1"/>
          </p:cNvSpPr>
          <p:nvPr/>
        </p:nvSpPr>
        <p:spPr>
          <a:xfrm xmlns:a="http://schemas.openxmlformats.org/drawingml/2006/main">
            <a:off x="7505700" y="2133600"/>
            <a:ext cx="4286250" cy="18097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96747A8-C643-4B59-8AE8-FF402E6B7FAB}"/>
              </a:ext>
            </a:extLst>
          </p:cNvPr>
          <p:cNvSpPr>
            <a:spLocks xmlns:a="http://schemas.openxmlformats.org/drawingml/2006/main" noGrp="1"/>
          </p:cNvSpPr>
          <p:nvPr/>
        </p:nvSpPr>
        <p:spPr>
          <a:xfrm xmlns:a="http://schemas.openxmlformats.org/drawingml/2006/main">
            <a:off x="7791450" y="24003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NORMALIZED RESULT</a:t>
            </a:r>
          </a:p>
        </p:txBody>
      </p:sp>
      <p:sp>
        <p:nvSpPr>
          <p:cNvPr id="15" name="">
            <a:extLst xmlns:a="http://schemas.openxmlformats.org/drawingml/2006/main">
              <a:ext uri="{FF2B5EF4-FFF2-40B4-BE49-F238E27FC236}">
                <a16:creationId xmlns:a16="http://schemas.microsoft.com/office/drawing/2014/main" id="{CC421CE7-EDBC-469D-934F-29523C176274}"/>
              </a:ext>
            </a:extLst>
          </p:cNvPr>
          <p:cNvSpPr>
            <a:spLocks xmlns:a="http://schemas.openxmlformats.org/drawingml/2006/main" noGrp="1"/>
          </p:cNvSpPr>
          <p:nvPr/>
        </p:nvSpPr>
        <p:spPr>
          <a:xfrm xmlns:a="http://schemas.openxmlformats.org/drawingml/2006/main">
            <a:off x="7791450" y="2800350"/>
            <a:ext cx="3429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620"/>
          </a:bodyPr>
          <a:lstStyle xmlns:a="http://schemas.openxmlformats.org/drawingml/2006/main"/>
          <a:p xmlns:a="http://schemas.openxmlformats.org/drawingml/2006/main">
            <a:pPr algn="l">
              <a:buNone/>
              <a:defRPr sz="2025" b="1">
                <a:solidFill>
                  <a:srgbClr val="111111"/>
                </a:solidFill>
                <a:latin typeface="Arial"/>
                <a:ea typeface="Arial"/>
                <a:cs typeface="Arial"/>
              </a:defRPr>
            </a:pPr>
            <a:r>
              <a:rPr sz="2025" b="1">
                <a:solidFill>
                  <a:srgbClr val="111111"/>
                </a:solidFill>
                <a:latin typeface="Arial"/>
                <a:ea typeface="Arial"/>
                <a:cs typeface="Arial"/>
              </a:rPr>
              <a:t>Status, dates, latest version, message and source link</a:t>
            </a:r>
          </a:p>
        </p:txBody>
      </p:sp>
      <p:sp>
        <p:nvSpPr>
          <p:cNvPr id="16" name="">
            <a:extLst xmlns:a="http://schemas.openxmlformats.org/drawingml/2006/main">
              <a:ext uri="{FF2B5EF4-FFF2-40B4-BE49-F238E27FC236}">
                <a16:creationId xmlns:a16="http://schemas.microsoft.com/office/drawing/2014/main" id="{300D69AE-88C1-4D02-A1B6-2EB8D4407ECC}"/>
              </a:ext>
            </a:extLst>
          </p:cNvPr>
          <p:cNvSpPr>
            <a:spLocks xmlns:a="http://schemas.openxmlformats.org/drawingml/2006/main" noGrp="1"/>
          </p:cNvSpPr>
          <p:nvPr/>
        </p:nvSpPr>
        <p:spPr>
          <a:xfrm xmlns:a="http://schemas.openxmlformats.org/drawingml/2006/main">
            <a:off x="400050" y="47625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667"/>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Sources available today</a:t>
            </a:r>
          </a:p>
        </p:txBody>
      </p:sp>
      <p:sp>
        <p:nvSpPr>
          <p:cNvPr id="17" name="">
            <a:extLst xmlns:a="http://schemas.openxmlformats.org/drawingml/2006/main">
              <a:ext uri="{FF2B5EF4-FFF2-40B4-BE49-F238E27FC236}">
                <a16:creationId xmlns:a16="http://schemas.microsoft.com/office/drawing/2014/main" id="{C4F671E1-CDFE-4158-9B57-3D5A1B44A31A}"/>
              </a:ext>
            </a:extLst>
          </p:cNvPr>
          <p:cNvSpPr>
            <a:spLocks xmlns:a="http://schemas.openxmlformats.org/drawingml/2006/main" noGrp="1"/>
          </p:cNvSpPr>
          <p:nvPr/>
        </p:nvSpPr>
        <p:spPr>
          <a:xfrm xmlns:a="http://schemas.openxmlformats.org/drawingml/2006/main">
            <a:off x="400050" y="527685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endoflife.date  •  AWS RDS  •  AWS SDK  •  Jackson  •  Maven Central  •  npm  •  Tyk  •  manual</a:t>
            </a:r>
          </a:p>
        </p:txBody>
      </p:sp>
      <p:sp>
        <p:nvSpPr>
          <p:cNvPr id="18" name="">
            <a:extLst xmlns:a="http://schemas.openxmlformats.org/drawingml/2006/main">
              <a:ext uri="{FF2B5EF4-FFF2-40B4-BE49-F238E27FC236}">
                <a16:creationId xmlns:a16="http://schemas.microsoft.com/office/drawing/2014/main" id="{BFEA4777-A815-490C-AB26-1EB1DC71CB98}"/>
              </a:ext>
            </a:extLst>
          </p:cNvPr>
          <p:cNvSpPr>
            <a:spLocks xmlns:a="http://schemas.openxmlformats.org/drawingml/2006/main" noGrp="1"/>
          </p:cNvSpPr>
          <p:nvPr/>
        </p:nvSpPr>
        <p:spPr>
          <a:xfrm xmlns:a="http://schemas.openxmlformats.org/drawingml/2006/main">
            <a:off x="400050" y="60198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buNone/>
              <a:defRPr sz="1800" b="1">
                <a:solidFill>
                  <a:srgbClr val="111111"/>
                </a:solidFill>
                <a:latin typeface="Arial"/>
                <a:ea typeface="Arial"/>
                <a:cs typeface="Arial"/>
              </a:defRPr>
            </a:pPr>
            <a:r>
              <a:rPr sz="1800" b="1">
                <a:solidFill>
                  <a:srgbClr val="111111"/>
                </a:solidFill>
                <a:latin typeface="Arial"/>
                <a:ea typeface="Arial"/>
                <a:cs typeface="Arial"/>
              </a:rPr>
              <a:t>Adding a provider is localized; reporting does not need to change.</a:t>
            </a:r>
          </a:p>
        </p:txBody>
      </p:sp>
    </p:spTree>
    <p:extLst>
      <p:ext uri="{BB962C8B-B14F-4D97-AF65-F5344CB8AC3E}">
        <p14:creationId xmlns:p14="http://schemas.microsoft.com/office/powerpoint/2010/main" val="15526734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C717C9B-0E5B-4996-88B8-58132CB3696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REPORTING</a:t>
            </a:r>
          </a:p>
        </p:txBody>
      </p:sp>
      <p:sp>
        <p:nvSpPr>
          <p:cNvPr id="2" name="slide-6-title">
            <a:extLst xmlns:a="http://schemas.openxmlformats.org/drawingml/2006/main">
              <a:ext uri="{FF2B5EF4-FFF2-40B4-BE49-F238E27FC236}">
                <a16:creationId xmlns:a16="http://schemas.microsoft.com/office/drawing/2014/main" id="{08C9B1E2-6A9C-4AE2-80EE-15F6E4B92170}"/>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The report focuses attention on action</a:t>
            </a:r>
          </a:p>
        </p:txBody>
      </p:sp>
      <p:sp>
        <p:nvSpPr>
          <p:cNvPr id="3" name="">
            <a:extLst xmlns:a="http://schemas.openxmlformats.org/drawingml/2006/main">
              <a:ext uri="{FF2B5EF4-FFF2-40B4-BE49-F238E27FC236}">
                <a16:creationId xmlns:a16="http://schemas.microsoft.com/office/drawing/2014/main" id="{66153068-40DC-4342-B5DC-C448A0FA94CC}"/>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2B7481F5-C917-4AA7-8AA0-E5DF586D6555}"/>
              </a:ext>
            </a:extLst>
          </p:cNvPr>
          <p:cNvSpPr>
            <a:spLocks xmlns:a="http://schemas.openxmlformats.org/drawingml/2006/main" noGrp="1"/>
          </p:cNvSpPr>
          <p:nvPr/>
        </p:nvSpPr>
        <p:spPr>
          <a:xfrm xmlns:a="http://schemas.openxmlformats.org/drawingml/2006/main">
            <a:off x="400050" y="1676400"/>
            <a:ext cx="11391900" cy="457200"/>
          </a:xfrm>
          <a:prstGeom xmlns:a="http://schemas.openxmlformats.org/drawingml/2006/main" prst="rect">
            <a:avLst/>
          </a:prstGeom>
          <a:solidFill xmlns:a="http://schemas.openxmlformats.org/drawingml/2006/main">
            <a:srgbClr val="26323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3980B6F-BE5A-41DF-B095-3DE7C193C69C}"/>
              </a:ext>
            </a:extLst>
          </p:cNvPr>
          <p:cNvSpPr>
            <a:spLocks xmlns:a="http://schemas.openxmlformats.org/drawingml/2006/main" noGrp="1"/>
          </p:cNvSpPr>
          <p:nvPr/>
        </p:nvSpPr>
        <p:spPr>
          <a:xfrm xmlns:a="http://schemas.openxmlformats.org/drawingml/2006/main">
            <a:off x="590550" y="17907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STATUS</a:t>
            </a:r>
          </a:p>
        </p:txBody>
      </p:sp>
      <p:sp>
        <p:nvSpPr>
          <p:cNvPr id="6" name="">
            <a:extLst xmlns:a="http://schemas.openxmlformats.org/drawingml/2006/main">
              <a:ext uri="{FF2B5EF4-FFF2-40B4-BE49-F238E27FC236}">
                <a16:creationId xmlns:a16="http://schemas.microsoft.com/office/drawing/2014/main" id="{9AA6E765-FF77-4FAB-B840-5464C148419B}"/>
              </a:ext>
            </a:extLst>
          </p:cNvPr>
          <p:cNvSpPr>
            <a:spLocks xmlns:a="http://schemas.openxmlformats.org/drawingml/2006/main" noGrp="1"/>
          </p:cNvSpPr>
          <p:nvPr/>
        </p:nvSpPr>
        <p:spPr>
          <a:xfrm xmlns:a="http://schemas.openxmlformats.org/drawingml/2006/main">
            <a:off x="3257550" y="1790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WHAT IT MEANS</a:t>
            </a:r>
          </a:p>
        </p:txBody>
      </p:sp>
      <p:sp>
        <p:nvSpPr>
          <p:cNvPr id="7" name="">
            <a:extLst xmlns:a="http://schemas.openxmlformats.org/drawingml/2006/main">
              <a:ext uri="{FF2B5EF4-FFF2-40B4-BE49-F238E27FC236}">
                <a16:creationId xmlns:a16="http://schemas.microsoft.com/office/drawing/2014/main" id="{878F6FBA-5797-4EF2-9708-77E93ED124E6}"/>
              </a:ext>
            </a:extLst>
          </p:cNvPr>
          <p:cNvSpPr>
            <a:spLocks xmlns:a="http://schemas.openxmlformats.org/drawingml/2006/main" noGrp="1"/>
          </p:cNvSpPr>
          <p:nvPr/>
        </p:nvSpPr>
        <p:spPr>
          <a:xfrm xmlns:a="http://schemas.openxmlformats.org/drawingml/2006/main">
            <a:off x="7924800" y="17907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PROJECT RESPONSE</a:t>
            </a:r>
          </a:p>
        </p:txBody>
      </p:sp>
      <p:sp>
        <p:nvSpPr>
          <p:cNvPr id="8" name="">
            <a:extLst xmlns:a="http://schemas.openxmlformats.org/drawingml/2006/main">
              <a:ext uri="{FF2B5EF4-FFF2-40B4-BE49-F238E27FC236}">
                <a16:creationId xmlns:a16="http://schemas.microsoft.com/office/drawing/2014/main" id="{5378D481-0661-4558-9DA2-DA53D8C46C75}"/>
              </a:ext>
            </a:extLst>
          </p:cNvPr>
          <p:cNvSpPr>
            <a:spLocks xmlns:a="http://schemas.openxmlformats.org/drawingml/2006/main" noGrp="1"/>
          </p:cNvSpPr>
          <p:nvPr/>
        </p:nvSpPr>
        <p:spPr>
          <a:xfrm xmlns:a="http://schemas.openxmlformats.org/drawingml/2006/main">
            <a:off x="400050" y="2133600"/>
            <a:ext cx="11391900" cy="685800"/>
          </a:xfrm>
          <a:prstGeom xmlns:a="http://schemas.openxmlformats.org/drawingml/2006/main" prst="rect">
            <a:avLst/>
          </a:prstGeom>
          <a:solidFill xmlns:a="http://schemas.openxmlformats.org/drawingml/2006/main">
            <a:srgbClr val="FCE4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E9852EC-D791-4124-8204-6679EA1E895C}"/>
              </a:ext>
            </a:extLst>
          </p:cNvPr>
          <p:cNvSpPr>
            <a:spLocks xmlns:a="http://schemas.openxmlformats.org/drawingml/2006/main" noGrp="1"/>
          </p:cNvSpPr>
          <p:nvPr/>
        </p:nvSpPr>
        <p:spPr>
          <a:xfrm xmlns:a="http://schemas.openxmlformats.org/drawingml/2006/main">
            <a:off x="590550" y="2324100"/>
            <a:ext cx="2038350" cy="304800"/>
          </a:xfrm>
          <a:prstGeom xmlns:a="http://schemas.openxmlformats.org/drawingml/2006/main" prst="roundRect">
            <a:avLst>
              <a:gd name="adj" fmla="val 9375"/>
            </a:avLst>
          </a:prstGeom>
          <a:solidFill xmlns:a="http://schemas.openxmlformats.org/drawingml/2006/main">
            <a:srgbClr val="D32F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515ADF5-5480-4405-9482-34F38B785937}"/>
              </a:ext>
            </a:extLst>
          </p:cNvPr>
          <p:cNvSpPr>
            <a:spLocks xmlns:a="http://schemas.openxmlformats.org/drawingml/2006/main" noGrp="1"/>
          </p:cNvSpPr>
          <p:nvPr/>
        </p:nvSpPr>
        <p:spPr>
          <a:xfrm xmlns:a="http://schemas.openxmlformats.org/drawingml/2006/main">
            <a:off x="666750" y="23717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END OF LIFE</a:t>
            </a:r>
          </a:p>
        </p:txBody>
      </p:sp>
      <p:sp>
        <p:nvSpPr>
          <p:cNvPr id="11" name="">
            <a:extLst xmlns:a="http://schemas.openxmlformats.org/drawingml/2006/main">
              <a:ext uri="{FF2B5EF4-FFF2-40B4-BE49-F238E27FC236}">
                <a16:creationId xmlns:a16="http://schemas.microsoft.com/office/drawing/2014/main" id="{52885FDB-8F4F-47D0-9C97-C34DC505E00C}"/>
              </a:ext>
            </a:extLst>
          </p:cNvPr>
          <p:cNvSpPr>
            <a:spLocks xmlns:a="http://schemas.openxmlformats.org/drawingml/2006/main" noGrp="1"/>
          </p:cNvSpPr>
          <p:nvPr/>
        </p:nvSpPr>
        <p:spPr>
          <a:xfrm xmlns:a="http://schemas.openxmlformats.org/drawingml/2006/main">
            <a:off x="3257550" y="23145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Support date has passed</a:t>
            </a:r>
          </a:p>
        </p:txBody>
      </p:sp>
      <p:sp>
        <p:nvSpPr>
          <p:cNvPr id="12" name="">
            <a:extLst xmlns:a="http://schemas.openxmlformats.org/drawingml/2006/main">
              <a:ext uri="{FF2B5EF4-FFF2-40B4-BE49-F238E27FC236}">
                <a16:creationId xmlns:a16="http://schemas.microsoft.com/office/drawing/2014/main" id="{C1E39228-7B81-412D-B26A-4D06A05D3A29}"/>
              </a:ext>
            </a:extLst>
          </p:cNvPr>
          <p:cNvSpPr>
            <a:spLocks xmlns:a="http://schemas.openxmlformats.org/drawingml/2006/main" noGrp="1"/>
          </p:cNvSpPr>
          <p:nvPr/>
        </p:nvSpPr>
        <p:spPr>
          <a:xfrm xmlns:a="http://schemas.openxmlformats.org/drawingml/2006/main">
            <a:off x="7924800" y="23145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Plan remediation now</a:t>
            </a:r>
          </a:p>
        </p:txBody>
      </p:sp>
      <p:sp>
        <p:nvSpPr>
          <p:cNvPr id="13" name="">
            <a:extLst xmlns:a="http://schemas.openxmlformats.org/drawingml/2006/main">
              <a:ext uri="{FF2B5EF4-FFF2-40B4-BE49-F238E27FC236}">
                <a16:creationId xmlns:a16="http://schemas.microsoft.com/office/drawing/2014/main" id="{8A5EAE52-39A6-4747-B65A-78FE9365498D}"/>
              </a:ext>
            </a:extLst>
          </p:cNvPr>
          <p:cNvSpPr>
            <a:spLocks xmlns:a="http://schemas.openxmlformats.org/drawingml/2006/main" noGrp="1"/>
          </p:cNvSpPr>
          <p:nvPr/>
        </p:nvSpPr>
        <p:spPr>
          <a:xfrm xmlns:a="http://schemas.openxmlformats.org/drawingml/2006/main">
            <a:off x="400050" y="2819400"/>
            <a:ext cx="11391900" cy="685800"/>
          </a:xfrm>
          <a:prstGeom xmlns:a="http://schemas.openxmlformats.org/drawingml/2006/main" prst="rect">
            <a:avLst/>
          </a:prstGeom>
          <a:solidFill xmlns:a="http://schemas.openxmlformats.org/drawingml/2006/main">
            <a:srgbClr val="FFF3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2DCBCD4-8E05-43AD-B222-47B289BC27CE}"/>
              </a:ext>
            </a:extLst>
          </p:cNvPr>
          <p:cNvSpPr>
            <a:spLocks xmlns:a="http://schemas.openxmlformats.org/drawingml/2006/main" noGrp="1"/>
          </p:cNvSpPr>
          <p:nvPr/>
        </p:nvSpPr>
        <p:spPr>
          <a:xfrm xmlns:a="http://schemas.openxmlformats.org/drawingml/2006/main">
            <a:off x="590550" y="3009900"/>
            <a:ext cx="2038350" cy="304800"/>
          </a:xfrm>
          <a:prstGeom xmlns:a="http://schemas.openxmlformats.org/drawingml/2006/main" prst="roundRect">
            <a:avLst>
              <a:gd name="adj" fmla="val 9375"/>
            </a:avLst>
          </a:prstGeom>
          <a:solidFill xmlns:a="http://schemas.openxmlformats.org/drawingml/2006/main">
            <a:srgbClr val="F57C0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8B14C74-7043-466A-859D-E6C31180AD55}"/>
              </a:ext>
            </a:extLst>
          </p:cNvPr>
          <p:cNvSpPr>
            <a:spLocks xmlns:a="http://schemas.openxmlformats.org/drawingml/2006/main" noGrp="1"/>
          </p:cNvSpPr>
          <p:nvPr/>
        </p:nvSpPr>
        <p:spPr>
          <a:xfrm xmlns:a="http://schemas.openxmlformats.org/drawingml/2006/main">
            <a:off x="666750" y="30575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APPROACHING</a:t>
            </a:r>
          </a:p>
        </p:txBody>
      </p:sp>
      <p:sp>
        <p:nvSpPr>
          <p:cNvPr id="16" name="">
            <a:extLst xmlns:a="http://schemas.openxmlformats.org/drawingml/2006/main">
              <a:ext uri="{FF2B5EF4-FFF2-40B4-BE49-F238E27FC236}">
                <a16:creationId xmlns:a16="http://schemas.microsoft.com/office/drawing/2014/main" id="{4BC5CFD8-C039-4113-9731-57A89E790112}"/>
              </a:ext>
            </a:extLst>
          </p:cNvPr>
          <p:cNvSpPr>
            <a:spLocks xmlns:a="http://schemas.openxmlformats.org/drawingml/2006/main" noGrp="1"/>
          </p:cNvSpPr>
          <p:nvPr/>
        </p:nvSpPr>
        <p:spPr>
          <a:xfrm xmlns:a="http://schemas.openxmlformats.org/drawingml/2006/main">
            <a:off x="3257550" y="30003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Within the configured alert window</a:t>
            </a:r>
          </a:p>
        </p:txBody>
      </p:sp>
      <p:sp>
        <p:nvSpPr>
          <p:cNvPr id="17" name="">
            <a:extLst xmlns:a="http://schemas.openxmlformats.org/drawingml/2006/main">
              <a:ext uri="{FF2B5EF4-FFF2-40B4-BE49-F238E27FC236}">
                <a16:creationId xmlns:a16="http://schemas.microsoft.com/office/drawing/2014/main" id="{E104AE97-6061-450C-9C39-5E0A4CBF961A}"/>
              </a:ext>
            </a:extLst>
          </p:cNvPr>
          <p:cNvSpPr>
            <a:spLocks xmlns:a="http://schemas.openxmlformats.org/drawingml/2006/main" noGrp="1"/>
          </p:cNvSpPr>
          <p:nvPr/>
        </p:nvSpPr>
        <p:spPr>
          <a:xfrm xmlns:a="http://schemas.openxmlformats.org/drawingml/2006/main">
            <a:off x="7924800" y="30003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Place upgrade in the plan</a:t>
            </a:r>
          </a:p>
        </p:txBody>
      </p:sp>
      <p:sp>
        <p:nvSpPr>
          <p:cNvPr id="18" name="">
            <a:extLst xmlns:a="http://schemas.openxmlformats.org/drawingml/2006/main">
              <a:ext uri="{FF2B5EF4-FFF2-40B4-BE49-F238E27FC236}">
                <a16:creationId xmlns:a16="http://schemas.microsoft.com/office/drawing/2014/main" id="{7763B657-EF28-4719-8983-A37365C17461}"/>
              </a:ext>
            </a:extLst>
          </p:cNvPr>
          <p:cNvSpPr>
            <a:spLocks xmlns:a="http://schemas.openxmlformats.org/drawingml/2006/main" noGrp="1"/>
          </p:cNvSpPr>
          <p:nvPr/>
        </p:nvSpPr>
        <p:spPr>
          <a:xfrm xmlns:a="http://schemas.openxmlformats.org/drawingml/2006/main">
            <a:off x="400050" y="3505200"/>
            <a:ext cx="11391900" cy="685800"/>
          </a:xfrm>
          <a:prstGeom xmlns:a="http://schemas.openxmlformats.org/drawingml/2006/main" prst="rect">
            <a:avLst/>
          </a:prstGeom>
          <a:solidFill xmlns:a="http://schemas.openxmlformats.org/drawingml/2006/main">
            <a:srgbClr val="E8F5E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4FB161F-D674-4151-9866-2277BBB1DF8B}"/>
              </a:ext>
            </a:extLst>
          </p:cNvPr>
          <p:cNvSpPr>
            <a:spLocks xmlns:a="http://schemas.openxmlformats.org/drawingml/2006/main" noGrp="1"/>
          </p:cNvSpPr>
          <p:nvPr/>
        </p:nvSpPr>
        <p:spPr>
          <a:xfrm xmlns:a="http://schemas.openxmlformats.org/drawingml/2006/main">
            <a:off x="590550" y="3695700"/>
            <a:ext cx="2038350" cy="304800"/>
          </a:xfrm>
          <a:prstGeom xmlns:a="http://schemas.openxmlformats.org/drawingml/2006/main" prst="roundRect">
            <a:avLst>
              <a:gd name="adj" fmla="val 9375"/>
            </a:avLst>
          </a:prstGeom>
          <a:solidFill xmlns:a="http://schemas.openxmlformats.org/drawingml/2006/main">
            <a:srgbClr val="2E7D3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C984B23-6BF5-46B2-A633-784BD02CFFFE}"/>
              </a:ext>
            </a:extLst>
          </p:cNvPr>
          <p:cNvSpPr>
            <a:spLocks xmlns:a="http://schemas.openxmlformats.org/drawingml/2006/main" noGrp="1"/>
          </p:cNvSpPr>
          <p:nvPr/>
        </p:nvSpPr>
        <p:spPr>
          <a:xfrm xmlns:a="http://schemas.openxmlformats.org/drawingml/2006/main">
            <a:off x="666750" y="37433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OK</a:t>
            </a:r>
          </a:p>
        </p:txBody>
      </p:sp>
      <p:sp>
        <p:nvSpPr>
          <p:cNvPr id="21" name="">
            <a:extLst xmlns:a="http://schemas.openxmlformats.org/drawingml/2006/main">
              <a:ext uri="{FF2B5EF4-FFF2-40B4-BE49-F238E27FC236}">
                <a16:creationId xmlns:a16="http://schemas.microsoft.com/office/drawing/2014/main" id="{EDF0F45F-E3D2-4E29-99A3-C258CA500F50}"/>
              </a:ext>
            </a:extLst>
          </p:cNvPr>
          <p:cNvSpPr>
            <a:spLocks xmlns:a="http://schemas.openxmlformats.org/drawingml/2006/main" noGrp="1"/>
          </p:cNvSpPr>
          <p:nvPr/>
        </p:nvSpPr>
        <p:spPr>
          <a:xfrm xmlns:a="http://schemas.openxmlformats.org/drawingml/2006/main">
            <a:off x="3257550" y="36861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No immediate EOL concern</a:t>
            </a:r>
          </a:p>
        </p:txBody>
      </p:sp>
      <p:sp>
        <p:nvSpPr>
          <p:cNvPr id="22" name="">
            <a:extLst xmlns:a="http://schemas.openxmlformats.org/drawingml/2006/main">
              <a:ext uri="{FF2B5EF4-FFF2-40B4-BE49-F238E27FC236}">
                <a16:creationId xmlns:a16="http://schemas.microsoft.com/office/drawing/2014/main" id="{6714CE66-12F5-4BD0-8008-4801F194D1E2}"/>
              </a:ext>
            </a:extLst>
          </p:cNvPr>
          <p:cNvSpPr>
            <a:spLocks xmlns:a="http://schemas.openxmlformats.org/drawingml/2006/main" noGrp="1"/>
          </p:cNvSpPr>
          <p:nvPr/>
        </p:nvSpPr>
        <p:spPr>
          <a:xfrm xmlns:a="http://schemas.openxmlformats.org/drawingml/2006/main">
            <a:off x="7924800" y="36861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Continue monitoring</a:t>
            </a:r>
          </a:p>
        </p:txBody>
      </p:sp>
      <p:sp>
        <p:nvSpPr>
          <p:cNvPr id="23" name="">
            <a:extLst xmlns:a="http://schemas.openxmlformats.org/drawingml/2006/main">
              <a:ext uri="{FF2B5EF4-FFF2-40B4-BE49-F238E27FC236}">
                <a16:creationId xmlns:a16="http://schemas.microsoft.com/office/drawing/2014/main" id="{1A47EA7F-7853-4D07-BF39-BC5B48259DC6}"/>
              </a:ext>
            </a:extLst>
          </p:cNvPr>
          <p:cNvSpPr>
            <a:spLocks xmlns:a="http://schemas.openxmlformats.org/drawingml/2006/main" noGrp="1"/>
          </p:cNvSpPr>
          <p:nvPr/>
        </p:nvSpPr>
        <p:spPr>
          <a:xfrm xmlns:a="http://schemas.openxmlformats.org/drawingml/2006/main">
            <a:off x="400050" y="4191000"/>
            <a:ext cx="11391900" cy="68580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5A13322-B4FA-4BFB-8CA9-7E9BE07BB908}"/>
              </a:ext>
            </a:extLst>
          </p:cNvPr>
          <p:cNvSpPr>
            <a:spLocks xmlns:a="http://schemas.openxmlformats.org/drawingml/2006/main" noGrp="1"/>
          </p:cNvSpPr>
          <p:nvPr/>
        </p:nvSpPr>
        <p:spPr>
          <a:xfrm xmlns:a="http://schemas.openxmlformats.org/drawingml/2006/main">
            <a:off x="590550" y="4381500"/>
            <a:ext cx="2038350" cy="304800"/>
          </a:xfrm>
          <a:prstGeom xmlns:a="http://schemas.openxmlformats.org/drawingml/2006/main" prst="roundRect">
            <a:avLst>
              <a:gd name="adj" fmla="val 9375"/>
            </a:avLst>
          </a:prstGeom>
          <a:solidFill xmlns:a="http://schemas.openxmlformats.org/drawingml/2006/main">
            <a:srgbClr val="6B728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A605054-C835-4EC7-A8E3-30F8A9A50511}"/>
              </a:ext>
            </a:extLst>
          </p:cNvPr>
          <p:cNvSpPr>
            <a:spLocks xmlns:a="http://schemas.openxmlformats.org/drawingml/2006/main" noGrp="1"/>
          </p:cNvSpPr>
          <p:nvPr/>
        </p:nvSpPr>
        <p:spPr>
          <a:xfrm xmlns:a="http://schemas.openxmlformats.org/drawingml/2006/main">
            <a:off x="666750" y="44291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ERROR</a:t>
            </a:r>
          </a:p>
        </p:txBody>
      </p:sp>
      <p:sp>
        <p:nvSpPr>
          <p:cNvPr id="26" name="">
            <a:extLst xmlns:a="http://schemas.openxmlformats.org/drawingml/2006/main">
              <a:ext uri="{FF2B5EF4-FFF2-40B4-BE49-F238E27FC236}">
                <a16:creationId xmlns:a16="http://schemas.microsoft.com/office/drawing/2014/main" id="{21C10C9D-0850-4AD1-8AA4-3B51B0C009C9}"/>
              </a:ext>
            </a:extLst>
          </p:cNvPr>
          <p:cNvSpPr>
            <a:spLocks xmlns:a="http://schemas.openxmlformats.org/drawingml/2006/main" noGrp="1"/>
          </p:cNvSpPr>
          <p:nvPr/>
        </p:nvSpPr>
        <p:spPr>
          <a:xfrm xmlns:a="http://schemas.openxmlformats.org/drawingml/2006/main">
            <a:off x="3257550" y="43719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Source or lookup failed</a:t>
            </a:r>
          </a:p>
        </p:txBody>
      </p:sp>
      <p:sp>
        <p:nvSpPr>
          <p:cNvPr id="27" name="">
            <a:extLst xmlns:a="http://schemas.openxmlformats.org/drawingml/2006/main">
              <a:ext uri="{FF2B5EF4-FFF2-40B4-BE49-F238E27FC236}">
                <a16:creationId xmlns:a16="http://schemas.microsoft.com/office/drawing/2014/main" id="{86917967-2B85-4C76-A436-CF63A87EE3B2}"/>
              </a:ext>
            </a:extLst>
          </p:cNvPr>
          <p:cNvSpPr>
            <a:spLocks xmlns:a="http://schemas.openxmlformats.org/drawingml/2006/main" noGrp="1"/>
          </p:cNvSpPr>
          <p:nvPr/>
        </p:nvSpPr>
        <p:spPr>
          <a:xfrm xmlns:a="http://schemas.openxmlformats.org/drawingml/2006/main">
            <a:off x="7924800" y="43719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Investigate data quality</a:t>
            </a:r>
          </a:p>
        </p:txBody>
      </p:sp>
      <p:sp>
        <p:nvSpPr>
          <p:cNvPr id="28" name="">
            <a:extLst xmlns:a="http://schemas.openxmlformats.org/drawingml/2006/main">
              <a:ext uri="{FF2B5EF4-FFF2-40B4-BE49-F238E27FC236}">
                <a16:creationId xmlns:a16="http://schemas.microsoft.com/office/drawing/2014/main" id="{E7712D3E-0519-43F5-93CD-4B8182872679}"/>
              </a:ext>
            </a:extLst>
          </p:cNvPr>
          <p:cNvSpPr>
            <a:spLocks xmlns:a="http://schemas.openxmlformats.org/drawingml/2006/main" noGrp="1"/>
          </p:cNvSpPr>
          <p:nvPr/>
        </p:nvSpPr>
        <p:spPr>
          <a:xfrm xmlns:a="http://schemas.openxmlformats.org/drawingml/2006/main">
            <a:off x="400050" y="4876800"/>
            <a:ext cx="11391900" cy="685800"/>
          </a:xfrm>
          <a:prstGeom xmlns:a="http://schemas.openxmlformats.org/drawingml/2006/main" prst="rect">
            <a:avLst/>
          </a:prstGeom>
          <a:solidFill xmlns:a="http://schemas.openxmlformats.org/drawingml/2006/main">
            <a:srgbClr val="ECEFF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7FD41DE-F9F0-4674-923B-8E6EFE207686}"/>
              </a:ext>
            </a:extLst>
          </p:cNvPr>
          <p:cNvSpPr>
            <a:spLocks xmlns:a="http://schemas.openxmlformats.org/drawingml/2006/main" noGrp="1"/>
          </p:cNvSpPr>
          <p:nvPr/>
        </p:nvSpPr>
        <p:spPr>
          <a:xfrm xmlns:a="http://schemas.openxmlformats.org/drawingml/2006/main">
            <a:off x="590550" y="5067300"/>
            <a:ext cx="2038350" cy="304800"/>
          </a:xfrm>
          <a:prstGeom xmlns:a="http://schemas.openxmlformats.org/drawingml/2006/main" prst="roundRect">
            <a:avLst>
              <a:gd name="adj" fmla="val 9375"/>
            </a:avLst>
          </a:prstGeom>
          <a:solidFill xmlns:a="http://schemas.openxmlformats.org/drawingml/2006/main">
            <a:srgbClr val="607D8B"/>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C08C858-507A-4F17-B11A-B3FDD179B70C}"/>
              </a:ext>
            </a:extLst>
          </p:cNvPr>
          <p:cNvSpPr>
            <a:spLocks xmlns:a="http://schemas.openxmlformats.org/drawingml/2006/main" noGrp="1"/>
          </p:cNvSpPr>
          <p:nvPr/>
        </p:nvSpPr>
        <p:spPr>
          <a:xfrm xmlns:a="http://schemas.openxmlformats.org/drawingml/2006/main">
            <a:off x="666750" y="51149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UNTRACKED</a:t>
            </a:r>
          </a:p>
        </p:txBody>
      </p:sp>
      <p:sp>
        <p:nvSpPr>
          <p:cNvPr id="31" name="">
            <a:extLst xmlns:a="http://schemas.openxmlformats.org/drawingml/2006/main">
              <a:ext uri="{FF2B5EF4-FFF2-40B4-BE49-F238E27FC236}">
                <a16:creationId xmlns:a16="http://schemas.microsoft.com/office/drawing/2014/main" id="{DA685E53-8B2A-4EA0-8409-B27A0837E478}"/>
              </a:ext>
            </a:extLst>
          </p:cNvPr>
          <p:cNvSpPr>
            <a:spLocks xmlns:a="http://schemas.openxmlformats.org/drawingml/2006/main" noGrp="1"/>
          </p:cNvSpPr>
          <p:nvPr/>
        </p:nvSpPr>
        <p:spPr>
          <a:xfrm xmlns:a="http://schemas.openxmlformats.org/drawingml/2006/main">
            <a:off x="3257550" y="50577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No automated EOL source</a:t>
            </a:r>
          </a:p>
        </p:txBody>
      </p:sp>
      <p:sp>
        <p:nvSpPr>
          <p:cNvPr id="32" name="">
            <a:extLst xmlns:a="http://schemas.openxmlformats.org/drawingml/2006/main">
              <a:ext uri="{FF2B5EF4-FFF2-40B4-BE49-F238E27FC236}">
                <a16:creationId xmlns:a16="http://schemas.microsoft.com/office/drawing/2014/main" id="{CF1D60AA-EA1F-41BD-8405-C92536C5620D}"/>
              </a:ext>
            </a:extLst>
          </p:cNvPr>
          <p:cNvSpPr>
            <a:spLocks xmlns:a="http://schemas.openxmlformats.org/drawingml/2006/main" noGrp="1"/>
          </p:cNvSpPr>
          <p:nvPr/>
        </p:nvSpPr>
        <p:spPr>
          <a:xfrm xmlns:a="http://schemas.openxmlformats.org/drawingml/2006/main">
            <a:off x="7924800" y="50577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Assign a manual owner</a:t>
            </a:r>
          </a:p>
        </p:txBody>
      </p:sp>
      <p:sp>
        <p:nvSpPr>
          <p:cNvPr id="33" name="">
            <a:extLst xmlns:a="http://schemas.openxmlformats.org/drawingml/2006/main">
              <a:ext uri="{FF2B5EF4-FFF2-40B4-BE49-F238E27FC236}">
                <a16:creationId xmlns:a16="http://schemas.microsoft.com/office/drawing/2014/main" id="{BC5956E0-460F-4FA8-AB05-8E526AC9E9F8}"/>
              </a:ext>
            </a:extLst>
          </p:cNvPr>
          <p:cNvSpPr>
            <a:spLocks xmlns:a="http://schemas.openxmlformats.org/drawingml/2006/main" noGrp="1"/>
          </p:cNvSpPr>
          <p:nvPr/>
        </p:nvSpPr>
        <p:spPr>
          <a:xfrm xmlns:a="http://schemas.openxmlformats.org/drawingml/2006/main">
            <a:off x="400050" y="5810250"/>
            <a:ext cx="609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952"/>
          </a:bodyPr>
          <a:lstStyle xmlns:a="http://schemas.openxmlformats.org/drawingml/2006/main"/>
          <a:p xmlns:a="http://schemas.openxmlformats.org/drawingml/2006/main">
            <a:pPr algn="l">
              <a:buNone/>
              <a:defRPr sz="1575" b="1">
                <a:solidFill>
                  <a:srgbClr val="111111"/>
                </a:solidFill>
                <a:latin typeface="Arial"/>
                <a:ea typeface="Arial"/>
                <a:cs typeface="Arial"/>
              </a:defRPr>
            </a:pPr>
            <a:r>
              <a:rPr sz="1575" b="1">
                <a:solidFill>
                  <a:srgbClr val="111111"/>
                </a:solidFill>
                <a:latin typeface="Arial"/>
                <a:ea typeface="Arial"/>
                <a:cs typeface="Arial"/>
              </a:rPr>
              <a:t>Sample configuration uses 30 / 60 / 90-day thresholds.</a:t>
            </a:r>
          </a:p>
        </p:txBody>
      </p:sp>
      <p:sp>
        <p:nvSpPr>
          <p:cNvPr id="34" name="">
            <a:extLst xmlns:a="http://schemas.openxmlformats.org/drawingml/2006/main">
              <a:ext uri="{FF2B5EF4-FFF2-40B4-BE49-F238E27FC236}">
                <a16:creationId xmlns:a16="http://schemas.microsoft.com/office/drawing/2014/main" id="{FB913FDF-1896-4CFF-A670-2C51C5670404}"/>
              </a:ext>
            </a:extLst>
          </p:cNvPr>
          <p:cNvSpPr>
            <a:spLocks xmlns:a="http://schemas.openxmlformats.org/drawingml/2006/main" noGrp="1"/>
          </p:cNvSpPr>
          <p:nvPr/>
        </p:nvSpPr>
        <p:spPr>
          <a:xfrm xmlns:a="http://schemas.openxmlformats.org/drawingml/2006/main">
            <a:off x="7239000" y="5810250"/>
            <a:ext cx="4552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474"/>
          </a:bodyPr>
          <a:lstStyle xmlns:a="http://schemas.openxmlformats.org/drawingml/2006/main"/>
          <a:p xmlns:a="http://schemas.openxmlformats.org/drawingml/2006/main">
            <a:pPr algn="r">
              <a:buNone/>
              <a:defRPr sz="1425" b="0">
                <a:solidFill>
                  <a:srgbClr val="5F6670"/>
                </a:solidFill>
                <a:latin typeface="Arial"/>
                <a:ea typeface="Arial"/>
                <a:cs typeface="Arial"/>
              </a:defRPr>
            </a:pPr>
            <a:r>
              <a:rPr sz="1425" b="0">
                <a:solidFill>
                  <a:srgbClr val="5F6670"/>
                </a:solidFill>
                <a:latin typeface="Arial"/>
                <a:ea typeface="Arial"/>
                <a:cs typeface="Arial"/>
              </a:rPr>
              <a:t>Current alert decision: EOL + approaching items</a:t>
            </a:r>
          </a:p>
        </p:txBody>
      </p:sp>
    </p:spTree>
    <p:extLst>
      <p:ext uri="{BB962C8B-B14F-4D97-AF65-F5344CB8AC3E}">
        <p14:creationId xmlns:p14="http://schemas.microsoft.com/office/powerpoint/2010/main" val="19488921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4C690F1-F184-4586-BA56-DD59B6A7E379}"/>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USAGE &amp; READINESS</a:t>
            </a:r>
          </a:p>
        </p:txBody>
      </p:sp>
      <p:sp>
        <p:nvSpPr>
          <p:cNvPr id="2" name="slide-7-title">
            <a:extLst xmlns:a="http://schemas.openxmlformats.org/drawingml/2006/main">
              <a:ext uri="{FF2B5EF4-FFF2-40B4-BE49-F238E27FC236}">
                <a16:creationId xmlns:a16="http://schemas.microsoft.com/office/drawing/2014/main" id="{C0C5C135-EF51-405F-B96E-A77ED315B66A}"/>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41"/>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Manual use works; scheduled delivery needs validation</a:t>
            </a:r>
          </a:p>
        </p:txBody>
      </p:sp>
      <p:sp>
        <p:nvSpPr>
          <p:cNvPr id="3" name="">
            <a:extLst xmlns:a="http://schemas.openxmlformats.org/drawingml/2006/main">
              <a:ext uri="{FF2B5EF4-FFF2-40B4-BE49-F238E27FC236}">
                <a16:creationId xmlns:a16="http://schemas.microsoft.com/office/drawing/2014/main" id="{AE26A406-40DB-4DCA-A6A9-BBEAC49600A6}"/>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F5C4DDDA-64EE-4249-812E-4B9793B1B421}"/>
              </a:ext>
            </a:extLst>
          </p:cNvPr>
          <p:cNvSpPr>
            <a:spLocks xmlns:a="http://schemas.openxmlformats.org/drawingml/2006/main" noGrp="1"/>
          </p:cNvSpPr>
          <p:nvPr/>
        </p:nvSpPr>
        <p:spPr>
          <a:xfrm xmlns:a="http://schemas.openxmlformats.org/drawingml/2006/main">
            <a:off x="400050" y="1676400"/>
            <a:ext cx="5295900" cy="3886200"/>
          </a:xfrm>
          <a:prstGeom xmlns:a="http://schemas.openxmlformats.org/drawingml/2006/main" prst="rect">
            <a:avLst/>
          </a:prstGeom>
          <a:solidFill xmlns:a="http://schemas.openxmlformats.org/drawingml/2006/main">
            <a:srgbClr val="E8F5E9"/>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FC45358-5411-497E-8D38-F8C1F96F449F}"/>
              </a:ext>
            </a:extLst>
          </p:cNvPr>
          <p:cNvSpPr>
            <a:spLocks xmlns:a="http://schemas.openxmlformats.org/drawingml/2006/main" noGrp="1"/>
          </p:cNvSpPr>
          <p:nvPr/>
        </p:nvSpPr>
        <p:spPr>
          <a:xfrm xmlns:a="http://schemas.openxmlformats.org/drawingml/2006/main">
            <a:off x="704850" y="1981200"/>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2E7D32"/>
                </a:solidFill>
                <a:latin typeface="Arial"/>
                <a:ea typeface="Arial"/>
                <a:cs typeface="Arial"/>
              </a:defRPr>
            </a:pPr>
            <a:r>
              <a:rPr sz="1200" b="1">
                <a:solidFill>
                  <a:srgbClr val="2E7D32"/>
                </a:solidFill>
                <a:latin typeface="Arial"/>
                <a:ea typeface="Arial"/>
                <a:cs typeface="Arial"/>
              </a:rPr>
              <a:t>TESTED TODAY</a:t>
            </a:r>
          </a:p>
        </p:txBody>
      </p:sp>
      <p:sp>
        <p:nvSpPr>
          <p:cNvPr id="6" name="">
            <a:extLst xmlns:a="http://schemas.openxmlformats.org/drawingml/2006/main">
              <a:ext uri="{FF2B5EF4-FFF2-40B4-BE49-F238E27FC236}">
                <a16:creationId xmlns:a16="http://schemas.microsoft.com/office/drawing/2014/main" id="{8FB4B744-6D49-4E14-B459-A99A1879627F}"/>
              </a:ext>
            </a:extLst>
          </p:cNvPr>
          <p:cNvSpPr>
            <a:spLocks xmlns:a="http://schemas.openxmlformats.org/drawingml/2006/main" noGrp="1"/>
          </p:cNvSpPr>
          <p:nvPr/>
        </p:nvSpPr>
        <p:spPr>
          <a:xfrm xmlns:a="http://schemas.openxmlformats.org/drawingml/2006/main">
            <a:off x="704850" y="2400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buNone/>
              <a:defRPr sz="2550" b="1">
                <a:solidFill>
                  <a:srgbClr val="111111"/>
                </a:solidFill>
                <a:latin typeface="Arial"/>
                <a:ea typeface="Arial"/>
                <a:cs typeface="Arial"/>
              </a:defRPr>
            </a:pPr>
            <a:r>
              <a:rPr sz="2550" b="1">
                <a:solidFill>
                  <a:srgbClr val="111111"/>
                </a:solidFill>
                <a:latin typeface="Arial"/>
                <a:ea typeface="Arial"/>
                <a:cs typeface="Arial"/>
              </a:rPr>
              <a:t>Manual local run</a:t>
            </a:r>
          </a:p>
        </p:txBody>
      </p:sp>
      <p:sp>
        <p:nvSpPr>
          <p:cNvPr id="7" name="">
            <a:extLst xmlns:a="http://schemas.openxmlformats.org/drawingml/2006/main">
              <a:ext uri="{FF2B5EF4-FFF2-40B4-BE49-F238E27FC236}">
                <a16:creationId xmlns:a16="http://schemas.microsoft.com/office/drawing/2014/main" id="{A0B8E6C4-B0AF-44F8-BAC0-F8B74D7A1D5E}"/>
              </a:ext>
            </a:extLst>
          </p:cNvPr>
          <p:cNvSpPr>
            <a:spLocks xmlns:a="http://schemas.openxmlformats.org/drawingml/2006/main" noGrp="1"/>
          </p:cNvSpPr>
          <p:nvPr/>
        </p:nvSpPr>
        <p:spPr>
          <a:xfrm xmlns:a="http://schemas.openxmlformats.org/drawingml/2006/main">
            <a:off x="704850" y="32956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8CC3C8-315C-49FD-9019-2607DFB54BE9}"/>
              </a:ext>
            </a:extLst>
          </p:cNvPr>
          <p:cNvSpPr>
            <a:spLocks xmlns:a="http://schemas.openxmlformats.org/drawingml/2006/main" noGrp="1"/>
          </p:cNvSpPr>
          <p:nvPr/>
        </p:nvSpPr>
        <p:spPr>
          <a:xfrm xmlns:a="http://schemas.openxmlformats.org/drawingml/2006/main">
            <a:off x="933450" y="32004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Read a local JSON configuration</a:t>
            </a:r>
          </a:p>
        </p:txBody>
      </p:sp>
      <p:sp>
        <p:nvSpPr>
          <p:cNvPr id="9" name="">
            <a:extLst xmlns:a="http://schemas.openxmlformats.org/drawingml/2006/main">
              <a:ext uri="{FF2B5EF4-FFF2-40B4-BE49-F238E27FC236}">
                <a16:creationId xmlns:a16="http://schemas.microsoft.com/office/drawing/2014/main" id="{49449412-D5F4-44FA-85BE-F583A3D5F9A2}"/>
              </a:ext>
            </a:extLst>
          </p:cNvPr>
          <p:cNvSpPr>
            <a:spLocks xmlns:a="http://schemas.openxmlformats.org/drawingml/2006/main" noGrp="1"/>
          </p:cNvSpPr>
          <p:nvPr/>
        </p:nvSpPr>
        <p:spPr>
          <a:xfrm xmlns:a="http://schemas.openxmlformats.org/drawingml/2006/main">
            <a:off x="704850" y="37909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F7114C5-9CA5-43A3-9186-BCB82E55F1F7}"/>
              </a:ext>
            </a:extLst>
          </p:cNvPr>
          <p:cNvSpPr>
            <a:spLocks xmlns:a="http://schemas.openxmlformats.org/drawingml/2006/main" noGrp="1"/>
          </p:cNvSpPr>
          <p:nvPr/>
        </p:nvSpPr>
        <p:spPr>
          <a:xfrm xmlns:a="http://schemas.openxmlformats.org/drawingml/2006/main">
            <a:off x="933450" y="36957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Run the provider checks</a:t>
            </a:r>
          </a:p>
        </p:txBody>
      </p:sp>
      <p:sp>
        <p:nvSpPr>
          <p:cNvPr id="11" name="">
            <a:extLst xmlns:a="http://schemas.openxmlformats.org/drawingml/2006/main">
              <a:ext uri="{FF2B5EF4-FFF2-40B4-BE49-F238E27FC236}">
                <a16:creationId xmlns:a16="http://schemas.microsoft.com/office/drawing/2014/main" id="{D62F951F-44D4-418D-B779-CCD874CAA032}"/>
              </a:ext>
            </a:extLst>
          </p:cNvPr>
          <p:cNvSpPr>
            <a:spLocks xmlns:a="http://schemas.openxmlformats.org/drawingml/2006/main" noGrp="1"/>
          </p:cNvSpPr>
          <p:nvPr/>
        </p:nvSpPr>
        <p:spPr>
          <a:xfrm xmlns:a="http://schemas.openxmlformats.org/drawingml/2006/main">
            <a:off x="704850" y="42862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EF9E30-4B08-42E9-9F89-E7F2E24B457D}"/>
              </a:ext>
            </a:extLst>
          </p:cNvPr>
          <p:cNvSpPr>
            <a:spLocks xmlns:a="http://schemas.openxmlformats.org/drawingml/2006/main" noGrp="1"/>
          </p:cNvSpPr>
          <p:nvPr/>
        </p:nvSpPr>
        <p:spPr>
          <a:xfrm xmlns:a="http://schemas.openxmlformats.org/drawingml/2006/main">
            <a:off x="933450" y="41910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Write console and HTML output</a:t>
            </a:r>
          </a:p>
        </p:txBody>
      </p:sp>
      <p:sp>
        <p:nvSpPr>
          <p:cNvPr id="13" name="">
            <a:extLst xmlns:a="http://schemas.openxmlformats.org/drawingml/2006/main">
              <a:ext uri="{FF2B5EF4-FFF2-40B4-BE49-F238E27FC236}">
                <a16:creationId xmlns:a16="http://schemas.microsoft.com/office/drawing/2014/main" id="{998BE8B6-FAE7-4A94-8685-88CF28FACDEC}"/>
              </a:ext>
            </a:extLst>
          </p:cNvPr>
          <p:cNvSpPr>
            <a:spLocks xmlns:a="http://schemas.openxmlformats.org/drawingml/2006/main" noGrp="1"/>
          </p:cNvSpPr>
          <p:nvPr/>
        </p:nvSpPr>
        <p:spPr>
          <a:xfrm xmlns:a="http://schemas.openxmlformats.org/drawingml/2006/main">
            <a:off x="704850" y="47815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C9C608F-0338-4FC2-B439-912251CB735B}"/>
              </a:ext>
            </a:extLst>
          </p:cNvPr>
          <p:cNvSpPr>
            <a:spLocks xmlns:a="http://schemas.openxmlformats.org/drawingml/2006/main" noGrp="1"/>
          </p:cNvSpPr>
          <p:nvPr/>
        </p:nvSpPr>
        <p:spPr>
          <a:xfrm xmlns:a="http://schemas.openxmlformats.org/drawingml/2006/main">
            <a:off x="933450" y="46863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Review source links and status</a:t>
            </a:r>
          </a:p>
        </p:txBody>
      </p:sp>
      <p:sp>
        <p:nvSpPr>
          <p:cNvPr id="15" name="">
            <a:extLst xmlns:a="http://schemas.openxmlformats.org/drawingml/2006/main">
              <a:ext uri="{FF2B5EF4-FFF2-40B4-BE49-F238E27FC236}">
                <a16:creationId xmlns:a16="http://schemas.microsoft.com/office/drawing/2014/main" id="{E3413C02-A39F-468E-B721-C3620361C971}"/>
              </a:ext>
            </a:extLst>
          </p:cNvPr>
          <p:cNvSpPr>
            <a:spLocks xmlns:a="http://schemas.openxmlformats.org/drawingml/2006/main" noGrp="1"/>
          </p:cNvSpPr>
          <p:nvPr/>
        </p:nvSpPr>
        <p:spPr>
          <a:xfrm xmlns:a="http://schemas.openxmlformats.org/drawingml/2006/main">
            <a:off x="704850" y="51244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111111"/>
                </a:solidFill>
                <a:latin typeface="Consolas"/>
                <a:ea typeface="Consolas"/>
                <a:cs typeface="Consolas"/>
              </a:defRPr>
            </a:pPr>
            <a:r>
              <a:rPr sz="1350" b="1">
                <a:solidFill>
                  <a:srgbClr val="111111"/>
                </a:solidFill>
                <a:latin typeface="Consolas"/>
                <a:ea typeface="Consolas"/>
                <a:cs typeface="Consolas"/>
              </a:rPr>
              <a:t>python lambda_function.py &lt;config.json&gt;</a:t>
            </a:r>
          </a:p>
        </p:txBody>
      </p:sp>
      <p:sp>
        <p:nvSpPr>
          <p:cNvPr id="16" name="">
            <a:extLst xmlns:a="http://schemas.openxmlformats.org/drawingml/2006/main">
              <a:ext uri="{FF2B5EF4-FFF2-40B4-BE49-F238E27FC236}">
                <a16:creationId xmlns:a16="http://schemas.microsoft.com/office/drawing/2014/main" id="{6986C8ED-EA68-451F-8B6F-443EDA54B8C0}"/>
              </a:ext>
            </a:extLst>
          </p:cNvPr>
          <p:cNvSpPr>
            <a:spLocks xmlns:a="http://schemas.openxmlformats.org/drawingml/2006/main" noGrp="1"/>
          </p:cNvSpPr>
          <p:nvPr/>
        </p:nvSpPr>
        <p:spPr>
          <a:xfrm xmlns:a="http://schemas.openxmlformats.org/drawingml/2006/main">
            <a:off x="6096000" y="1676400"/>
            <a:ext cx="5695950" cy="388620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C2C4F2E-EEFC-4723-8A2E-3DFE3FB49153}"/>
              </a:ext>
            </a:extLst>
          </p:cNvPr>
          <p:cNvSpPr>
            <a:spLocks xmlns:a="http://schemas.openxmlformats.org/drawingml/2006/main" noGrp="1"/>
          </p:cNvSpPr>
          <p:nvPr/>
        </p:nvSpPr>
        <p:spPr>
          <a:xfrm xmlns:a="http://schemas.openxmlformats.org/drawingml/2006/main">
            <a:off x="6400800" y="198120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IMPLEMENTED — NOT YET E2E TESTED</a:t>
            </a:r>
          </a:p>
        </p:txBody>
      </p:sp>
      <p:sp>
        <p:nvSpPr>
          <p:cNvPr id="18" name="">
            <a:extLst xmlns:a="http://schemas.openxmlformats.org/drawingml/2006/main">
              <a:ext uri="{FF2B5EF4-FFF2-40B4-BE49-F238E27FC236}">
                <a16:creationId xmlns:a16="http://schemas.microsoft.com/office/drawing/2014/main" id="{4C1FFEF9-3635-4DF3-BC6F-AC303CECEC7C}"/>
              </a:ext>
            </a:extLst>
          </p:cNvPr>
          <p:cNvSpPr>
            <a:spLocks xmlns:a="http://schemas.openxmlformats.org/drawingml/2006/main" noGrp="1"/>
          </p:cNvSpPr>
          <p:nvPr/>
        </p:nvSpPr>
        <p:spPr>
          <a:xfrm xmlns:a="http://schemas.openxmlformats.org/drawingml/2006/main">
            <a:off x="6400800" y="24003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buNone/>
              <a:defRPr sz="2550" b="1">
                <a:solidFill>
                  <a:srgbClr val="111111"/>
                </a:solidFill>
                <a:latin typeface="Arial"/>
                <a:ea typeface="Arial"/>
                <a:cs typeface="Arial"/>
              </a:defRPr>
            </a:pPr>
            <a:r>
              <a:rPr sz="2550" b="1">
                <a:solidFill>
                  <a:srgbClr val="111111"/>
                </a:solidFill>
                <a:latin typeface="Arial"/>
                <a:ea typeface="Arial"/>
                <a:cs typeface="Arial"/>
              </a:rPr>
              <a:t>Scheduled AWS path</a:t>
            </a:r>
          </a:p>
        </p:txBody>
      </p:sp>
      <p:sp>
        <p:nvSpPr>
          <p:cNvPr id="19" name="">
            <a:extLst xmlns:a="http://schemas.openxmlformats.org/drawingml/2006/main">
              <a:ext uri="{FF2B5EF4-FFF2-40B4-BE49-F238E27FC236}">
                <a16:creationId xmlns:a16="http://schemas.microsoft.com/office/drawing/2014/main" id="{BD84B781-14B6-4930-B8D8-8B13C035FF04}"/>
              </a:ext>
            </a:extLst>
          </p:cNvPr>
          <p:cNvSpPr>
            <a:spLocks xmlns:a="http://schemas.openxmlformats.org/drawingml/2006/main" noGrp="1"/>
          </p:cNvSpPr>
          <p:nvPr/>
        </p:nvSpPr>
        <p:spPr>
          <a:xfrm xmlns:a="http://schemas.openxmlformats.org/drawingml/2006/main">
            <a:off x="6400800" y="32956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C283346-B674-43CE-BDB3-CAE5A62EA5B9}"/>
              </a:ext>
            </a:extLst>
          </p:cNvPr>
          <p:cNvSpPr>
            <a:spLocks xmlns:a="http://schemas.openxmlformats.org/drawingml/2006/main" noGrp="1"/>
          </p:cNvSpPr>
          <p:nvPr/>
        </p:nvSpPr>
        <p:spPr>
          <a:xfrm xmlns:a="http://schemas.openxmlformats.org/drawingml/2006/main">
            <a:off x="6629400" y="32004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Per-project config stored in S3</a:t>
            </a:r>
          </a:p>
        </p:txBody>
      </p:sp>
      <p:sp>
        <p:nvSpPr>
          <p:cNvPr id="21" name="">
            <a:extLst xmlns:a="http://schemas.openxmlformats.org/drawingml/2006/main">
              <a:ext uri="{FF2B5EF4-FFF2-40B4-BE49-F238E27FC236}">
                <a16:creationId xmlns:a16="http://schemas.microsoft.com/office/drawing/2014/main" id="{48FFBF28-D7DA-45E7-94BA-61958476C5DD}"/>
              </a:ext>
            </a:extLst>
          </p:cNvPr>
          <p:cNvSpPr>
            <a:spLocks xmlns:a="http://schemas.openxmlformats.org/drawingml/2006/main" noGrp="1"/>
          </p:cNvSpPr>
          <p:nvPr/>
        </p:nvSpPr>
        <p:spPr>
          <a:xfrm xmlns:a="http://schemas.openxmlformats.org/drawingml/2006/main">
            <a:off x="6400800" y="37909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F13E373-E464-407D-A5CF-0E8D10F62AAE}"/>
              </a:ext>
            </a:extLst>
          </p:cNvPr>
          <p:cNvSpPr>
            <a:spLocks xmlns:a="http://schemas.openxmlformats.org/drawingml/2006/main" noGrp="1"/>
          </p:cNvSpPr>
          <p:nvPr/>
        </p:nvSpPr>
        <p:spPr>
          <a:xfrm xmlns:a="http://schemas.openxmlformats.org/drawingml/2006/main">
            <a:off x="6629400" y="36957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EventBridge invokes one shared Lambda</a:t>
            </a:r>
          </a:p>
        </p:txBody>
      </p:sp>
      <p:sp>
        <p:nvSpPr>
          <p:cNvPr id="23" name="">
            <a:extLst xmlns:a="http://schemas.openxmlformats.org/drawingml/2006/main">
              <a:ext uri="{FF2B5EF4-FFF2-40B4-BE49-F238E27FC236}">
                <a16:creationId xmlns:a16="http://schemas.microsoft.com/office/drawing/2014/main" id="{5465266E-3A0A-490D-8CA6-76901A754090}"/>
              </a:ext>
            </a:extLst>
          </p:cNvPr>
          <p:cNvSpPr>
            <a:spLocks xmlns:a="http://schemas.openxmlformats.org/drawingml/2006/main" noGrp="1"/>
          </p:cNvSpPr>
          <p:nvPr/>
        </p:nvSpPr>
        <p:spPr>
          <a:xfrm xmlns:a="http://schemas.openxmlformats.org/drawingml/2006/main">
            <a:off x="6400800" y="42862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37D42F1-0DD7-4ED7-9756-2A653555B1D9}"/>
              </a:ext>
            </a:extLst>
          </p:cNvPr>
          <p:cNvSpPr>
            <a:spLocks xmlns:a="http://schemas.openxmlformats.org/drawingml/2006/main" noGrp="1"/>
          </p:cNvSpPr>
          <p:nvPr/>
        </p:nvSpPr>
        <p:spPr>
          <a:xfrm xmlns:a="http://schemas.openxmlformats.org/drawingml/2006/main">
            <a:off x="6629400" y="41910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SNS / SES route reports to each project</a:t>
            </a:r>
          </a:p>
        </p:txBody>
      </p:sp>
      <p:sp>
        <p:nvSpPr>
          <p:cNvPr id="25" name="">
            <a:extLst xmlns:a="http://schemas.openxmlformats.org/drawingml/2006/main">
              <a:ext uri="{FF2B5EF4-FFF2-40B4-BE49-F238E27FC236}">
                <a16:creationId xmlns:a16="http://schemas.microsoft.com/office/drawing/2014/main" id="{0DEB322A-FA3A-4E35-A087-5939B65B5EB3}"/>
              </a:ext>
            </a:extLst>
          </p:cNvPr>
          <p:cNvSpPr>
            <a:spLocks xmlns:a="http://schemas.openxmlformats.org/drawingml/2006/main" noGrp="1"/>
          </p:cNvSpPr>
          <p:nvPr/>
        </p:nvSpPr>
        <p:spPr>
          <a:xfrm xmlns:a="http://schemas.openxmlformats.org/drawingml/2006/main">
            <a:off x="6400800" y="47815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303D312-7460-42FD-A344-67AA948D8C14}"/>
              </a:ext>
            </a:extLst>
          </p:cNvPr>
          <p:cNvSpPr>
            <a:spLocks xmlns:a="http://schemas.openxmlformats.org/drawingml/2006/main" noGrp="1"/>
          </p:cNvSpPr>
          <p:nvPr/>
        </p:nvSpPr>
        <p:spPr>
          <a:xfrm xmlns:a="http://schemas.openxmlformats.org/drawingml/2006/main">
            <a:off x="6629400" y="46863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No cross-run change detection yet</a:t>
            </a:r>
          </a:p>
        </p:txBody>
      </p:sp>
      <p:sp>
        <p:nvSpPr>
          <p:cNvPr id="27" name="">
            <a:extLst xmlns:a="http://schemas.openxmlformats.org/drawingml/2006/main">
              <a:ext uri="{FF2B5EF4-FFF2-40B4-BE49-F238E27FC236}">
                <a16:creationId xmlns:a16="http://schemas.microsoft.com/office/drawing/2014/main" id="{6B6CD497-2929-435B-9A7A-6BE219EF1AD0}"/>
              </a:ext>
            </a:extLst>
          </p:cNvPr>
          <p:cNvSpPr>
            <a:spLocks xmlns:a="http://schemas.openxmlformats.org/drawingml/2006/main" noGrp="1"/>
          </p:cNvSpPr>
          <p:nvPr/>
        </p:nvSpPr>
        <p:spPr>
          <a:xfrm xmlns:a="http://schemas.openxmlformats.org/drawingml/2006/main">
            <a:off x="6400800" y="51244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Default: daily at 08:00 UTC</a:t>
            </a:r>
          </a:p>
        </p:txBody>
      </p:sp>
      <p:sp>
        <p:nvSpPr>
          <p:cNvPr id="28" name="">
            <a:extLst xmlns:a="http://schemas.openxmlformats.org/drawingml/2006/main">
              <a:ext uri="{FF2B5EF4-FFF2-40B4-BE49-F238E27FC236}">
                <a16:creationId xmlns:a16="http://schemas.microsoft.com/office/drawing/2014/main" id="{3C0ABF67-9F20-47AB-BCC3-26FFDDA3C4B2}"/>
              </a:ext>
            </a:extLst>
          </p:cNvPr>
          <p:cNvSpPr>
            <a:spLocks xmlns:a="http://schemas.openxmlformats.org/drawingml/2006/main" noGrp="1"/>
          </p:cNvSpPr>
          <p:nvPr/>
        </p:nvSpPr>
        <p:spPr>
          <a:xfrm xmlns:a="http://schemas.openxmlformats.org/drawingml/2006/main">
            <a:off x="400050" y="5924550"/>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11111"/>
                </a:solidFill>
                <a:latin typeface="Arial"/>
                <a:ea typeface="Arial"/>
                <a:cs typeface="Arial"/>
              </a:defRPr>
            </a:pPr>
            <a:r>
              <a:rPr sz="1725" b="1">
                <a:solidFill>
                  <a:srgbClr val="111111"/>
                </a:solidFill>
                <a:latin typeface="Arial"/>
                <a:ea typeface="Arial"/>
                <a:cs typeface="Arial"/>
              </a:rPr>
              <a:t>For a monthly report, configure a monthly EventBridge expression and validate delivery end to end.</a:t>
            </a:r>
          </a:p>
        </p:txBody>
      </p:sp>
    </p:spTree>
    <p:extLst>
      <p:ext uri="{BB962C8B-B14F-4D97-AF65-F5344CB8AC3E}">
        <p14:creationId xmlns:p14="http://schemas.microsoft.com/office/powerpoint/2010/main" val="168401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318344D2-30B0-440E-A13E-582BA346EB31}"/>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LIVE DEMO</a:t>
            </a:r>
          </a:p>
        </p:txBody>
      </p:sp>
      <p:sp>
        <p:nvSpPr>
          <p:cNvPr id="2" name="slide-8-title">
            <a:extLst xmlns:a="http://schemas.openxmlformats.org/drawingml/2006/main">
              <a:ext uri="{FF2B5EF4-FFF2-40B4-BE49-F238E27FC236}">
                <a16:creationId xmlns:a16="http://schemas.microsoft.com/office/drawing/2014/main" id="{824B8E3A-FF20-484C-81F6-580D249A25F7}"/>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Demo: prove the manual workflow in six minutes</a:t>
            </a:r>
          </a:p>
        </p:txBody>
      </p:sp>
      <p:sp>
        <p:nvSpPr>
          <p:cNvPr id="3" name="">
            <a:extLst xmlns:a="http://schemas.openxmlformats.org/drawingml/2006/main">
              <a:ext uri="{FF2B5EF4-FFF2-40B4-BE49-F238E27FC236}">
                <a16:creationId xmlns:a16="http://schemas.microsoft.com/office/drawing/2014/main" id="{64D799D1-401A-4600-BC13-91A361F1412E}"/>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8DDD63B7-8767-4D3B-9BBE-95BB82DEC8A8}"/>
              </a:ext>
            </a:extLst>
          </p:cNvPr>
          <p:cNvSpPr>
            <a:spLocks xmlns:a="http://schemas.openxmlformats.org/drawingml/2006/main" noGrp="1"/>
          </p:cNvSpPr>
          <p:nvPr/>
        </p:nvSpPr>
        <p:spPr>
          <a:xfrm xmlns:a="http://schemas.openxmlformats.org/drawingml/2006/main">
            <a:off x="723900" y="1924050"/>
            <a:ext cx="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46A55183-7ABC-4029-8BDE-0046137E0FBF}"/>
              </a:ext>
            </a:extLst>
          </p:cNvPr>
          <p:cNvSpPr>
            <a:spLocks xmlns:a="http://schemas.openxmlformats.org/drawingml/2006/main" noGrp="1"/>
          </p:cNvSpPr>
          <p:nvPr/>
        </p:nvSpPr>
        <p:spPr>
          <a:xfrm xmlns:a="http://schemas.openxmlformats.org/drawingml/2006/main">
            <a:off x="552450" y="180975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69A56EC-CA24-4EA6-98E3-42C9403796A4}"/>
              </a:ext>
            </a:extLst>
          </p:cNvPr>
          <p:cNvSpPr>
            <a:spLocks xmlns:a="http://schemas.openxmlformats.org/drawingml/2006/main" noGrp="1"/>
          </p:cNvSpPr>
          <p:nvPr/>
        </p:nvSpPr>
        <p:spPr>
          <a:xfrm xmlns:a="http://schemas.openxmlformats.org/drawingml/2006/main">
            <a:off x="552450" y="186690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77951F26-B536-4C7D-BD5C-6888D75744E1}"/>
              </a:ext>
            </a:extLst>
          </p:cNvPr>
          <p:cNvSpPr>
            <a:spLocks xmlns:a="http://schemas.openxmlformats.org/drawingml/2006/main" noGrp="1"/>
          </p:cNvSpPr>
          <p:nvPr/>
        </p:nvSpPr>
        <p:spPr>
          <a:xfrm xmlns:a="http://schemas.openxmlformats.org/drawingml/2006/main">
            <a:off x="1257300" y="17907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Show the inventory source</a:t>
            </a:r>
          </a:p>
        </p:txBody>
      </p:sp>
      <p:sp>
        <p:nvSpPr>
          <p:cNvPr id="8" name="">
            <a:extLst xmlns:a="http://schemas.openxmlformats.org/drawingml/2006/main">
              <a:ext uri="{FF2B5EF4-FFF2-40B4-BE49-F238E27FC236}">
                <a16:creationId xmlns:a16="http://schemas.microsoft.com/office/drawing/2014/main" id="{F5B35DEC-787C-4355-B529-868A2433DD40}"/>
              </a:ext>
            </a:extLst>
          </p:cNvPr>
          <p:cNvSpPr>
            <a:spLocks xmlns:a="http://schemas.openxmlformats.org/drawingml/2006/main" noGrp="1"/>
          </p:cNvSpPr>
          <p:nvPr/>
        </p:nvSpPr>
        <p:spPr>
          <a:xfrm xmlns:a="http://schemas.openxmlformats.org/drawingml/2006/main">
            <a:off x="1257300" y="2152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11"/>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Open a pom.xml, Gradle file, package.json, or existing curated config.</a:t>
            </a:r>
          </a:p>
        </p:txBody>
      </p:sp>
      <p:sp>
        <p:nvSpPr>
          <p:cNvPr id="9" name="">
            <a:extLst xmlns:a="http://schemas.openxmlformats.org/drawingml/2006/main">
              <a:ext uri="{FF2B5EF4-FFF2-40B4-BE49-F238E27FC236}">
                <a16:creationId xmlns:a16="http://schemas.microsoft.com/office/drawing/2014/main" id="{B6717D2C-FB5F-455F-A880-AEE1262C80E8}"/>
              </a:ext>
            </a:extLst>
          </p:cNvPr>
          <p:cNvSpPr>
            <a:spLocks xmlns:a="http://schemas.openxmlformats.org/drawingml/2006/main" noGrp="1"/>
          </p:cNvSpPr>
          <p:nvPr/>
        </p:nvSpPr>
        <p:spPr>
          <a:xfrm xmlns:a="http://schemas.openxmlformats.org/drawingml/2006/main">
            <a:off x="790575" y="228600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0" name="">
            <a:extLst xmlns:a="http://schemas.openxmlformats.org/drawingml/2006/main">
              <a:ext uri="{FF2B5EF4-FFF2-40B4-BE49-F238E27FC236}">
                <a16:creationId xmlns:a16="http://schemas.microsoft.com/office/drawing/2014/main" id="{31674E8C-8CDF-4F01-A3F4-5860C2F1E6F1}"/>
              </a:ext>
            </a:extLst>
          </p:cNvPr>
          <p:cNvSpPr>
            <a:spLocks xmlns:a="http://schemas.openxmlformats.org/drawingml/2006/main" noGrp="1"/>
          </p:cNvSpPr>
          <p:nvPr/>
        </p:nvSpPr>
        <p:spPr>
          <a:xfrm xmlns:a="http://schemas.openxmlformats.org/drawingml/2006/main">
            <a:off x="552450" y="278130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8C8D46C-5E6A-4CA3-8C64-CB2A091EC113}"/>
              </a:ext>
            </a:extLst>
          </p:cNvPr>
          <p:cNvSpPr>
            <a:spLocks xmlns:a="http://schemas.openxmlformats.org/drawingml/2006/main" noGrp="1"/>
          </p:cNvSpPr>
          <p:nvPr/>
        </p:nvSpPr>
        <p:spPr>
          <a:xfrm xmlns:a="http://schemas.openxmlformats.org/drawingml/2006/main">
            <a:off x="552450" y="283845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2BC45146-C26B-41FB-9C6F-2B16526711AE}"/>
              </a:ext>
            </a:extLst>
          </p:cNvPr>
          <p:cNvSpPr>
            <a:spLocks xmlns:a="http://schemas.openxmlformats.org/drawingml/2006/main" noGrp="1"/>
          </p:cNvSpPr>
          <p:nvPr/>
        </p:nvSpPr>
        <p:spPr>
          <a:xfrm xmlns:a="http://schemas.openxmlformats.org/drawingml/2006/main">
            <a:off x="1257300" y="276225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Generate or update the config</a:t>
            </a:r>
          </a:p>
        </p:txBody>
      </p:sp>
      <p:sp>
        <p:nvSpPr>
          <p:cNvPr id="13" name="">
            <a:extLst xmlns:a="http://schemas.openxmlformats.org/drawingml/2006/main">
              <a:ext uri="{FF2B5EF4-FFF2-40B4-BE49-F238E27FC236}">
                <a16:creationId xmlns:a16="http://schemas.microsoft.com/office/drawing/2014/main" id="{1395A4DD-E9CC-443E-A5B3-1D0FB21724EF}"/>
              </a:ext>
            </a:extLst>
          </p:cNvPr>
          <p:cNvSpPr>
            <a:spLocks xmlns:a="http://schemas.openxmlformats.org/drawingml/2006/main" noGrp="1"/>
          </p:cNvSpPr>
          <p:nvPr/>
        </p:nvSpPr>
        <p:spPr>
          <a:xfrm xmlns:a="http://schemas.openxmlformats.org/drawingml/2006/main">
            <a:off x="1257300" y="31242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Show provider selection and the readable product labels.</a:t>
            </a:r>
          </a:p>
        </p:txBody>
      </p:sp>
      <p:sp>
        <p:nvSpPr>
          <p:cNvPr id="14" name="">
            <a:extLst xmlns:a="http://schemas.openxmlformats.org/drawingml/2006/main">
              <a:ext uri="{FF2B5EF4-FFF2-40B4-BE49-F238E27FC236}">
                <a16:creationId xmlns:a16="http://schemas.microsoft.com/office/drawing/2014/main" id="{B555A74E-1D7E-42CD-827B-AC6258E0FFDE}"/>
              </a:ext>
            </a:extLst>
          </p:cNvPr>
          <p:cNvSpPr>
            <a:spLocks xmlns:a="http://schemas.openxmlformats.org/drawingml/2006/main" noGrp="1"/>
          </p:cNvSpPr>
          <p:nvPr/>
        </p:nvSpPr>
        <p:spPr>
          <a:xfrm xmlns:a="http://schemas.openxmlformats.org/drawingml/2006/main">
            <a:off x="790575" y="325755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5" name="">
            <a:extLst xmlns:a="http://schemas.openxmlformats.org/drawingml/2006/main">
              <a:ext uri="{FF2B5EF4-FFF2-40B4-BE49-F238E27FC236}">
                <a16:creationId xmlns:a16="http://schemas.microsoft.com/office/drawing/2014/main" id="{8A9B1B5A-064E-4C1A-BE84-2C71CE7E2322}"/>
              </a:ext>
            </a:extLst>
          </p:cNvPr>
          <p:cNvSpPr>
            <a:spLocks xmlns:a="http://schemas.openxmlformats.org/drawingml/2006/main" noGrp="1"/>
          </p:cNvSpPr>
          <p:nvPr/>
        </p:nvSpPr>
        <p:spPr>
          <a:xfrm xmlns:a="http://schemas.openxmlformats.org/drawingml/2006/main">
            <a:off x="552450" y="3752850"/>
            <a:ext cx="476250" cy="476250"/>
          </a:xfrm>
          <a:prstGeom xmlns:a="http://schemas.openxmlformats.org/drawingml/2006/main" prst="ellipse">
            <a:avLst/>
          </a:prstGeom>
          <a:solidFill xmlns:a="http://schemas.openxmlformats.org/drawingml/2006/main">
            <a:srgbClr val="F57C0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659D1CA-59CF-40BC-B720-D97B437EA417}"/>
              </a:ext>
            </a:extLst>
          </p:cNvPr>
          <p:cNvSpPr>
            <a:spLocks xmlns:a="http://schemas.openxmlformats.org/drawingml/2006/main" noGrp="1"/>
          </p:cNvSpPr>
          <p:nvPr/>
        </p:nvSpPr>
        <p:spPr>
          <a:xfrm xmlns:a="http://schemas.openxmlformats.org/drawingml/2006/main">
            <a:off x="552450" y="381000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17" name="">
            <a:extLst xmlns:a="http://schemas.openxmlformats.org/drawingml/2006/main">
              <a:ext uri="{FF2B5EF4-FFF2-40B4-BE49-F238E27FC236}">
                <a16:creationId xmlns:a16="http://schemas.microsoft.com/office/drawing/2014/main" id="{AAACCCB5-C5EE-4794-9728-D2AD09F7AF9E}"/>
              </a:ext>
            </a:extLst>
          </p:cNvPr>
          <p:cNvSpPr>
            <a:spLocks xmlns:a="http://schemas.openxmlformats.org/drawingml/2006/main" noGrp="1"/>
          </p:cNvSpPr>
          <p:nvPr/>
        </p:nvSpPr>
        <p:spPr>
          <a:xfrm xmlns:a="http://schemas.openxmlformats.org/drawingml/2006/main">
            <a:off x="1257300" y="37338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Validate and run</a:t>
            </a:r>
          </a:p>
        </p:txBody>
      </p:sp>
      <p:sp>
        <p:nvSpPr>
          <p:cNvPr id="18" name="">
            <a:extLst xmlns:a="http://schemas.openxmlformats.org/drawingml/2006/main">
              <a:ext uri="{FF2B5EF4-FFF2-40B4-BE49-F238E27FC236}">
                <a16:creationId xmlns:a16="http://schemas.microsoft.com/office/drawing/2014/main" id="{BD376AAD-B886-4218-AAC2-0B2816C57E3B}"/>
              </a:ext>
            </a:extLst>
          </p:cNvPr>
          <p:cNvSpPr>
            <a:spLocks xmlns:a="http://schemas.openxmlformats.org/drawingml/2006/main" noGrp="1"/>
          </p:cNvSpPr>
          <p:nvPr/>
        </p:nvSpPr>
        <p:spPr>
          <a:xfrm xmlns:a="http://schemas.openxmlformats.org/drawingml/2006/main">
            <a:off x="1257300" y="40957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371"/>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Parse JSON, then execute the local checker against the config.</a:t>
            </a:r>
          </a:p>
        </p:txBody>
      </p:sp>
      <p:sp>
        <p:nvSpPr>
          <p:cNvPr id="19" name="">
            <a:extLst xmlns:a="http://schemas.openxmlformats.org/drawingml/2006/main">
              <a:ext uri="{FF2B5EF4-FFF2-40B4-BE49-F238E27FC236}">
                <a16:creationId xmlns:a16="http://schemas.microsoft.com/office/drawing/2014/main" id="{C1C04692-50A8-49E0-B440-A52C5B66FBDE}"/>
              </a:ext>
            </a:extLst>
          </p:cNvPr>
          <p:cNvSpPr>
            <a:spLocks xmlns:a="http://schemas.openxmlformats.org/drawingml/2006/main" noGrp="1"/>
          </p:cNvSpPr>
          <p:nvPr/>
        </p:nvSpPr>
        <p:spPr>
          <a:xfrm xmlns:a="http://schemas.openxmlformats.org/drawingml/2006/main">
            <a:off x="790575" y="422910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20" name="">
            <a:extLst xmlns:a="http://schemas.openxmlformats.org/drawingml/2006/main">
              <a:ext uri="{FF2B5EF4-FFF2-40B4-BE49-F238E27FC236}">
                <a16:creationId xmlns:a16="http://schemas.microsoft.com/office/drawing/2014/main" id="{639A3D8C-359D-4D93-97C3-2F9FABE57566}"/>
              </a:ext>
            </a:extLst>
          </p:cNvPr>
          <p:cNvSpPr>
            <a:spLocks xmlns:a="http://schemas.openxmlformats.org/drawingml/2006/main" noGrp="1"/>
          </p:cNvSpPr>
          <p:nvPr/>
        </p:nvSpPr>
        <p:spPr>
          <a:xfrm xmlns:a="http://schemas.openxmlformats.org/drawingml/2006/main">
            <a:off x="552450" y="472440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3AB95C0-E59F-45F1-8A00-723B7D810005}"/>
              </a:ext>
            </a:extLst>
          </p:cNvPr>
          <p:cNvSpPr>
            <a:spLocks xmlns:a="http://schemas.openxmlformats.org/drawingml/2006/main" noGrp="1"/>
          </p:cNvSpPr>
          <p:nvPr/>
        </p:nvSpPr>
        <p:spPr>
          <a:xfrm xmlns:a="http://schemas.openxmlformats.org/drawingml/2006/main">
            <a:off x="552450" y="478155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2" name="">
            <a:extLst xmlns:a="http://schemas.openxmlformats.org/drawingml/2006/main">
              <a:ext uri="{FF2B5EF4-FFF2-40B4-BE49-F238E27FC236}">
                <a16:creationId xmlns:a16="http://schemas.microsoft.com/office/drawing/2014/main" id="{CE8A4038-1467-49A1-B76D-7318921A159A}"/>
              </a:ext>
            </a:extLst>
          </p:cNvPr>
          <p:cNvSpPr>
            <a:spLocks xmlns:a="http://schemas.openxmlformats.org/drawingml/2006/main" noGrp="1"/>
          </p:cNvSpPr>
          <p:nvPr/>
        </p:nvSpPr>
        <p:spPr>
          <a:xfrm xmlns:a="http://schemas.openxmlformats.org/drawingml/2006/main">
            <a:off x="1257300" y="470535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Open the report</a:t>
            </a:r>
          </a:p>
        </p:txBody>
      </p:sp>
      <p:sp>
        <p:nvSpPr>
          <p:cNvPr id="23" name="">
            <a:extLst xmlns:a="http://schemas.openxmlformats.org/drawingml/2006/main">
              <a:ext uri="{FF2B5EF4-FFF2-40B4-BE49-F238E27FC236}">
                <a16:creationId xmlns:a16="http://schemas.microsoft.com/office/drawing/2014/main" id="{1A47D02D-D9C6-42DC-BDE1-05639ACF6B85}"/>
              </a:ext>
            </a:extLst>
          </p:cNvPr>
          <p:cNvSpPr>
            <a:spLocks xmlns:a="http://schemas.openxmlformats.org/drawingml/2006/main" noGrp="1"/>
          </p:cNvSpPr>
          <p:nvPr/>
        </p:nvSpPr>
        <p:spPr>
          <a:xfrm xmlns:a="http://schemas.openxmlformats.org/drawingml/2006/main">
            <a:off x="1257300" y="50673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Trace one item from status to its upstream source link.</a:t>
            </a:r>
          </a:p>
        </p:txBody>
      </p:sp>
      <p:sp>
        <p:nvSpPr>
          <p:cNvPr id="24" name="">
            <a:extLst xmlns:a="http://schemas.openxmlformats.org/drawingml/2006/main">
              <a:ext uri="{FF2B5EF4-FFF2-40B4-BE49-F238E27FC236}">
                <a16:creationId xmlns:a16="http://schemas.microsoft.com/office/drawing/2014/main" id="{9E1FB0F5-AFE9-4886-BF2E-1C01F85065CB}"/>
              </a:ext>
            </a:extLst>
          </p:cNvPr>
          <p:cNvSpPr>
            <a:spLocks xmlns:a="http://schemas.openxmlformats.org/drawingml/2006/main" noGrp="1"/>
          </p:cNvSpPr>
          <p:nvPr/>
        </p:nvSpPr>
        <p:spPr>
          <a:xfrm xmlns:a="http://schemas.openxmlformats.org/drawingml/2006/main">
            <a:off x="6724650" y="1790700"/>
            <a:ext cx="5067300" cy="36385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062D93E-7317-43B1-B034-E3F477D0A18F}"/>
              </a:ext>
            </a:extLst>
          </p:cNvPr>
          <p:cNvSpPr>
            <a:spLocks xmlns:a="http://schemas.openxmlformats.org/drawingml/2006/main" noGrp="1"/>
          </p:cNvSpPr>
          <p:nvPr/>
        </p:nvSpPr>
        <p:spPr>
          <a:xfrm xmlns:a="http://schemas.openxmlformats.org/drawingml/2006/main">
            <a:off x="7048500" y="21145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SUCCESS LOOKS LIKE</a:t>
            </a:r>
          </a:p>
        </p:txBody>
      </p:sp>
      <p:sp>
        <p:nvSpPr>
          <p:cNvPr id="26" name="">
            <a:extLst xmlns:a="http://schemas.openxmlformats.org/drawingml/2006/main">
              <a:ext uri="{FF2B5EF4-FFF2-40B4-BE49-F238E27FC236}">
                <a16:creationId xmlns:a16="http://schemas.microsoft.com/office/drawing/2014/main" id="{C9DE0F02-E48D-4D86-A662-E5317F312126}"/>
              </a:ext>
            </a:extLst>
          </p:cNvPr>
          <p:cNvSpPr>
            <a:spLocks xmlns:a="http://schemas.openxmlformats.org/drawingml/2006/main" noGrp="1"/>
          </p:cNvSpPr>
          <p:nvPr/>
        </p:nvSpPr>
        <p:spPr>
          <a:xfrm xmlns:a="http://schemas.openxmlformats.org/drawingml/2006/main">
            <a:off x="7048500" y="27432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3C38E56-1B59-4B68-99D4-FCB6AE8B4506}"/>
              </a:ext>
            </a:extLst>
          </p:cNvPr>
          <p:cNvSpPr>
            <a:spLocks xmlns:a="http://schemas.openxmlformats.org/drawingml/2006/main" noGrp="1"/>
          </p:cNvSpPr>
          <p:nvPr/>
        </p:nvSpPr>
        <p:spPr>
          <a:xfrm xmlns:a="http://schemas.openxmlformats.org/drawingml/2006/main">
            <a:off x="7277100" y="264795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Every real entry is traceable to a source</a:t>
            </a:r>
          </a:p>
        </p:txBody>
      </p:sp>
      <p:sp>
        <p:nvSpPr>
          <p:cNvPr id="28" name="">
            <a:extLst xmlns:a="http://schemas.openxmlformats.org/drawingml/2006/main">
              <a:ext uri="{FF2B5EF4-FFF2-40B4-BE49-F238E27FC236}">
                <a16:creationId xmlns:a16="http://schemas.microsoft.com/office/drawing/2014/main" id="{B729EBF1-A160-40C6-BF91-9ECFEED0D1A3}"/>
              </a:ext>
            </a:extLst>
          </p:cNvPr>
          <p:cNvSpPr>
            <a:spLocks xmlns:a="http://schemas.openxmlformats.org/drawingml/2006/main" noGrp="1"/>
          </p:cNvSpPr>
          <p:nvPr/>
        </p:nvSpPr>
        <p:spPr>
          <a:xfrm xmlns:a="http://schemas.openxmlformats.org/drawingml/2006/main">
            <a:off x="7048500" y="33337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86A6726-28D7-4A99-86D1-3435FCCD3649}"/>
              </a:ext>
            </a:extLst>
          </p:cNvPr>
          <p:cNvSpPr>
            <a:spLocks xmlns:a="http://schemas.openxmlformats.org/drawingml/2006/main" noGrp="1"/>
          </p:cNvSpPr>
          <p:nvPr/>
        </p:nvSpPr>
        <p:spPr>
          <a:xfrm xmlns:a="http://schemas.openxmlformats.org/drawingml/2006/main">
            <a:off x="7277100" y="323850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Statuses and dates are plausible</a:t>
            </a:r>
          </a:p>
        </p:txBody>
      </p:sp>
      <p:sp>
        <p:nvSpPr>
          <p:cNvPr id="30" name="">
            <a:extLst xmlns:a="http://schemas.openxmlformats.org/drawingml/2006/main">
              <a:ext uri="{FF2B5EF4-FFF2-40B4-BE49-F238E27FC236}">
                <a16:creationId xmlns:a16="http://schemas.microsoft.com/office/drawing/2014/main" id="{DE66C308-DF04-4A86-BAD0-D23FBBA5EB04}"/>
              </a:ext>
            </a:extLst>
          </p:cNvPr>
          <p:cNvSpPr>
            <a:spLocks xmlns:a="http://schemas.openxmlformats.org/drawingml/2006/main" noGrp="1"/>
          </p:cNvSpPr>
          <p:nvPr/>
        </p:nvSpPr>
        <p:spPr>
          <a:xfrm xmlns:a="http://schemas.openxmlformats.org/drawingml/2006/main">
            <a:off x="7048500" y="39243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1EC2ED3-8D6C-4B82-89D5-BC54121083C8}"/>
              </a:ext>
            </a:extLst>
          </p:cNvPr>
          <p:cNvSpPr>
            <a:spLocks xmlns:a="http://schemas.openxmlformats.org/drawingml/2006/main" noGrp="1"/>
          </p:cNvSpPr>
          <p:nvPr/>
        </p:nvSpPr>
        <p:spPr>
          <a:xfrm xmlns:a="http://schemas.openxmlformats.org/drawingml/2006/main">
            <a:off x="7277100" y="382905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The alert banner matches the rows</a:t>
            </a:r>
          </a:p>
        </p:txBody>
      </p:sp>
      <p:sp>
        <p:nvSpPr>
          <p:cNvPr id="32" name="">
            <a:extLst xmlns:a="http://schemas.openxmlformats.org/drawingml/2006/main">
              <a:ext uri="{FF2B5EF4-FFF2-40B4-BE49-F238E27FC236}">
                <a16:creationId xmlns:a16="http://schemas.microsoft.com/office/drawing/2014/main" id="{890FB031-95E8-400C-B42D-F79E8F5E3953}"/>
              </a:ext>
            </a:extLst>
          </p:cNvPr>
          <p:cNvSpPr>
            <a:spLocks xmlns:a="http://schemas.openxmlformats.org/drawingml/2006/main" noGrp="1"/>
          </p:cNvSpPr>
          <p:nvPr/>
        </p:nvSpPr>
        <p:spPr>
          <a:xfrm xmlns:a="http://schemas.openxmlformats.org/drawingml/2006/main">
            <a:off x="7048500" y="45148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B2291F4-D505-4A06-8B0C-D558DBF52F51}"/>
              </a:ext>
            </a:extLst>
          </p:cNvPr>
          <p:cNvSpPr>
            <a:spLocks xmlns:a="http://schemas.openxmlformats.org/drawingml/2006/main" noGrp="1"/>
          </p:cNvSpPr>
          <p:nvPr/>
        </p:nvSpPr>
        <p:spPr>
          <a:xfrm xmlns:a="http://schemas.openxmlformats.org/drawingml/2006/main">
            <a:off x="7277100" y="441960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The HTML report is readable and shareable</a:t>
            </a:r>
          </a:p>
        </p:txBody>
      </p:sp>
      <p:sp>
        <p:nvSpPr>
          <p:cNvPr id="34" name="">
            <a:extLst xmlns:a="http://schemas.openxmlformats.org/drawingml/2006/main">
              <a:ext uri="{FF2B5EF4-FFF2-40B4-BE49-F238E27FC236}">
                <a16:creationId xmlns:a16="http://schemas.microsoft.com/office/drawing/2014/main" id="{0B5C7EC7-4C6B-4386-BD7F-774DEADE18B5}"/>
              </a:ext>
            </a:extLst>
          </p:cNvPr>
          <p:cNvSpPr>
            <a:spLocks xmlns:a="http://schemas.openxmlformats.org/drawingml/2006/main" noGrp="1"/>
          </p:cNvSpPr>
          <p:nvPr/>
        </p:nvSpPr>
        <p:spPr>
          <a:xfrm xmlns:a="http://schemas.openxmlformats.org/drawingml/2006/main">
            <a:off x="6724650" y="5753100"/>
            <a:ext cx="5067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596"/>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Fallback: if a live source is unavailable, open the latest saved HTML report and continue the walkthrough.</a:t>
            </a:r>
          </a:p>
        </p:txBody>
      </p:sp>
    </p:spTree>
    <p:extLst>
      <p:ext uri="{BB962C8B-B14F-4D97-AF65-F5344CB8AC3E}">
        <p14:creationId xmlns:p14="http://schemas.microsoft.com/office/powerpoint/2010/main" val="154714410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FE946DF-F7DE-485E-BBFE-B753212E8DB7}"/>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DEVELOPMENT APPROACH</a:t>
            </a:r>
          </a:p>
        </p:txBody>
      </p:sp>
      <p:sp>
        <p:nvSpPr>
          <p:cNvPr id="2" name="slide-9-title">
            <a:extLst xmlns:a="http://schemas.openxmlformats.org/drawingml/2006/main">
              <a:ext uri="{FF2B5EF4-FFF2-40B4-BE49-F238E27FC236}">
                <a16:creationId xmlns:a16="http://schemas.microsoft.com/office/drawing/2014/main" id="{32BB4D46-C733-45C2-BDB7-ED8CC737397A}"/>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92"/>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AI speeds development; guardrails protect the runtime</a:t>
            </a:r>
          </a:p>
        </p:txBody>
      </p:sp>
      <p:sp>
        <p:nvSpPr>
          <p:cNvPr id="3" name="">
            <a:extLst xmlns:a="http://schemas.openxmlformats.org/drawingml/2006/main">
              <a:ext uri="{FF2B5EF4-FFF2-40B4-BE49-F238E27FC236}">
                <a16:creationId xmlns:a16="http://schemas.microsoft.com/office/drawing/2014/main" id="{E1C9134C-6629-4046-A572-312411D393C2}"/>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F26EA42A-2365-40FA-ABB4-8A0BD37C7988}"/>
              </a:ext>
            </a:extLst>
          </p:cNvPr>
          <p:cNvSpPr>
            <a:spLocks xmlns:a="http://schemas.openxmlformats.org/drawingml/2006/main" noGrp="1"/>
          </p:cNvSpPr>
          <p:nvPr/>
        </p:nvSpPr>
        <p:spPr>
          <a:xfrm xmlns:a="http://schemas.openxmlformats.org/drawingml/2006/main">
            <a:off x="400050" y="1752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AI-ASSISTED WORK</a:t>
            </a:r>
          </a:p>
        </p:txBody>
      </p:sp>
      <p:sp>
        <p:nvSpPr>
          <p:cNvPr id="5" name="">
            <a:extLst xmlns:a="http://schemas.openxmlformats.org/drawingml/2006/main">
              <a:ext uri="{FF2B5EF4-FFF2-40B4-BE49-F238E27FC236}">
                <a16:creationId xmlns:a16="http://schemas.microsoft.com/office/drawing/2014/main" id="{578D2858-28CE-45A9-AD97-60F2DD85E438}"/>
              </a:ext>
            </a:extLst>
          </p:cNvPr>
          <p:cNvSpPr>
            <a:spLocks xmlns:a="http://schemas.openxmlformats.org/drawingml/2006/main" noGrp="1"/>
          </p:cNvSpPr>
          <p:nvPr/>
        </p:nvSpPr>
        <p:spPr>
          <a:xfrm xmlns:a="http://schemas.openxmlformats.org/drawingml/2006/main">
            <a:off x="400050" y="2190750"/>
            <a:ext cx="4953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Agents and skills help with the judgment-heavy work.</a:t>
            </a:r>
          </a:p>
        </p:txBody>
      </p:sp>
      <p:sp>
        <p:nvSpPr>
          <p:cNvPr id="6" name="">
            <a:extLst xmlns:a="http://schemas.openxmlformats.org/drawingml/2006/main">
              <a:ext uri="{FF2B5EF4-FFF2-40B4-BE49-F238E27FC236}">
                <a16:creationId xmlns:a16="http://schemas.microsoft.com/office/drawing/2014/main" id="{D5C76DA0-7CCA-495E-9ECA-B318BFD6930B}"/>
              </a:ext>
            </a:extLst>
          </p:cNvPr>
          <p:cNvSpPr>
            <a:spLocks xmlns:a="http://schemas.openxmlformats.org/drawingml/2006/main" noGrp="1"/>
          </p:cNvSpPr>
          <p:nvPr/>
        </p:nvSpPr>
        <p:spPr>
          <a:xfrm xmlns:a="http://schemas.openxmlformats.org/drawingml/2006/main">
            <a:off x="400050" y="36195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32C4B3-AEE8-4802-843A-DB5C97716620}"/>
              </a:ext>
            </a:extLst>
          </p:cNvPr>
          <p:cNvSpPr>
            <a:spLocks xmlns:a="http://schemas.openxmlformats.org/drawingml/2006/main" noGrp="1"/>
          </p:cNvSpPr>
          <p:nvPr/>
        </p:nvSpPr>
        <p:spPr>
          <a:xfrm xmlns:a="http://schemas.openxmlformats.org/drawingml/2006/main">
            <a:off x="628650" y="352425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Extract unstructured inventories</a:t>
            </a:r>
          </a:p>
        </p:txBody>
      </p:sp>
      <p:sp>
        <p:nvSpPr>
          <p:cNvPr id="8" name="">
            <a:extLst xmlns:a="http://schemas.openxmlformats.org/drawingml/2006/main">
              <a:ext uri="{FF2B5EF4-FFF2-40B4-BE49-F238E27FC236}">
                <a16:creationId xmlns:a16="http://schemas.microsoft.com/office/drawing/2014/main" id="{62AA314B-4CA9-4282-9CFF-0B54BC46D07A}"/>
              </a:ext>
            </a:extLst>
          </p:cNvPr>
          <p:cNvSpPr>
            <a:spLocks xmlns:a="http://schemas.openxmlformats.org/drawingml/2006/main" noGrp="1"/>
          </p:cNvSpPr>
          <p:nvPr/>
        </p:nvSpPr>
        <p:spPr>
          <a:xfrm xmlns:a="http://schemas.openxmlformats.org/drawingml/2006/main">
            <a:off x="400050" y="41338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E5F1C92-2A58-4EC9-98E7-1AA3BDF5C819}"/>
              </a:ext>
            </a:extLst>
          </p:cNvPr>
          <p:cNvSpPr>
            <a:spLocks xmlns:a="http://schemas.openxmlformats.org/drawingml/2006/main" noGrp="1"/>
          </p:cNvSpPr>
          <p:nvPr/>
        </p:nvSpPr>
        <p:spPr>
          <a:xfrm xmlns:a="http://schemas.openxmlformats.org/drawingml/2006/main">
            <a:off x="628650" y="403860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Generate and update curated configs</a:t>
            </a:r>
          </a:p>
        </p:txBody>
      </p:sp>
      <p:sp>
        <p:nvSpPr>
          <p:cNvPr id="10" name="">
            <a:extLst xmlns:a="http://schemas.openxmlformats.org/drawingml/2006/main">
              <a:ext uri="{FF2B5EF4-FFF2-40B4-BE49-F238E27FC236}">
                <a16:creationId xmlns:a16="http://schemas.microsoft.com/office/drawing/2014/main" id="{B05B6CB2-0D18-4334-B9A4-39BBA8F9B231}"/>
              </a:ext>
            </a:extLst>
          </p:cNvPr>
          <p:cNvSpPr>
            <a:spLocks xmlns:a="http://schemas.openxmlformats.org/drawingml/2006/main" noGrp="1"/>
          </p:cNvSpPr>
          <p:nvPr/>
        </p:nvSpPr>
        <p:spPr>
          <a:xfrm xmlns:a="http://schemas.openxmlformats.org/drawingml/2006/main">
            <a:off x="400050" y="46482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4952C33-1E6D-4369-BBB0-4802F0FF012D}"/>
              </a:ext>
            </a:extLst>
          </p:cNvPr>
          <p:cNvSpPr>
            <a:spLocks xmlns:a="http://schemas.openxmlformats.org/drawingml/2006/main" noGrp="1"/>
          </p:cNvSpPr>
          <p:nvPr/>
        </p:nvSpPr>
        <p:spPr>
          <a:xfrm xmlns:a="http://schemas.openxmlformats.org/drawingml/2006/main">
            <a:off x="628650" y="455295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Scaffold providers and documentation</a:t>
            </a:r>
          </a:p>
        </p:txBody>
      </p:sp>
      <p:sp>
        <p:nvSpPr>
          <p:cNvPr id="12" name="">
            <a:extLst xmlns:a="http://schemas.openxmlformats.org/drawingml/2006/main">
              <a:ext uri="{FF2B5EF4-FFF2-40B4-BE49-F238E27FC236}">
                <a16:creationId xmlns:a16="http://schemas.microsoft.com/office/drawing/2014/main" id="{182877F0-86B2-4921-BEE8-A15E7B86C68A}"/>
              </a:ext>
            </a:extLst>
          </p:cNvPr>
          <p:cNvSpPr>
            <a:spLocks xmlns:a="http://schemas.openxmlformats.org/drawingml/2006/main" noGrp="1"/>
          </p:cNvSpPr>
          <p:nvPr/>
        </p:nvSpPr>
        <p:spPr>
          <a:xfrm xmlns:a="http://schemas.openxmlformats.org/drawingml/2006/main">
            <a:off x="400050" y="51625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A6EFE3F-EFB2-40BA-8E0D-BF2FE64026C0}"/>
              </a:ext>
            </a:extLst>
          </p:cNvPr>
          <p:cNvSpPr>
            <a:spLocks xmlns:a="http://schemas.openxmlformats.org/drawingml/2006/main" noGrp="1"/>
          </p:cNvSpPr>
          <p:nvPr/>
        </p:nvSpPr>
        <p:spPr>
          <a:xfrm xmlns:a="http://schemas.openxmlformats.org/drawingml/2006/main">
            <a:off x="628650" y="506730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Review changes against repository guidance</a:t>
            </a:r>
          </a:p>
        </p:txBody>
      </p:sp>
      <p:sp>
        <p:nvSpPr>
          <p:cNvPr id="14" name="">
            <a:extLst xmlns:a="http://schemas.openxmlformats.org/drawingml/2006/main">
              <a:ext uri="{FF2B5EF4-FFF2-40B4-BE49-F238E27FC236}">
                <a16:creationId xmlns:a16="http://schemas.microsoft.com/office/drawing/2014/main" id="{6823E7C3-CD59-4A38-BE43-CA6CC70BE930}"/>
              </a:ext>
            </a:extLst>
          </p:cNvPr>
          <p:cNvSpPr>
            <a:spLocks xmlns:a="http://schemas.openxmlformats.org/drawingml/2006/main" noGrp="1"/>
          </p:cNvSpPr>
          <p:nvPr/>
        </p:nvSpPr>
        <p:spPr>
          <a:xfrm xmlns:a="http://schemas.openxmlformats.org/drawingml/2006/main">
            <a:off x="6286500" y="1562100"/>
            <a:ext cx="5505450" cy="41719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A506B6D-AA29-48F6-80D8-B0249B32337B}"/>
              </a:ext>
            </a:extLst>
          </p:cNvPr>
          <p:cNvSpPr>
            <a:spLocks xmlns:a="http://schemas.openxmlformats.org/drawingml/2006/main" noGrp="1"/>
          </p:cNvSpPr>
          <p:nvPr/>
        </p:nvSpPr>
        <p:spPr>
          <a:xfrm xmlns:a="http://schemas.openxmlformats.org/drawingml/2006/main">
            <a:off x="662940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ENGINEERING CONTROLS</a:t>
            </a:r>
          </a:p>
        </p:txBody>
      </p:sp>
      <p:sp>
        <p:nvSpPr>
          <p:cNvPr id="16" name="">
            <a:extLst xmlns:a="http://schemas.openxmlformats.org/drawingml/2006/main">
              <a:ext uri="{FF2B5EF4-FFF2-40B4-BE49-F238E27FC236}">
                <a16:creationId xmlns:a16="http://schemas.microsoft.com/office/drawing/2014/main" id="{A99CF378-81FD-442C-A3FE-FAF5378BB780}"/>
              </a:ext>
            </a:extLst>
          </p:cNvPr>
          <p:cNvSpPr>
            <a:spLocks xmlns:a="http://schemas.openxmlformats.org/drawingml/2006/main" noGrp="1"/>
          </p:cNvSpPr>
          <p:nvPr/>
        </p:nvSpPr>
        <p:spPr>
          <a:xfrm xmlns:a="http://schemas.openxmlformats.org/drawingml/2006/main">
            <a:off x="6629400" y="2324100"/>
            <a:ext cx="438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247"/>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The deployable package stays predictable.</a:t>
            </a:r>
          </a:p>
        </p:txBody>
      </p:sp>
      <p:sp>
        <p:nvSpPr>
          <p:cNvPr id="17" name="">
            <a:extLst xmlns:a="http://schemas.openxmlformats.org/drawingml/2006/main">
              <a:ext uri="{FF2B5EF4-FFF2-40B4-BE49-F238E27FC236}">
                <a16:creationId xmlns:a16="http://schemas.microsoft.com/office/drawing/2014/main" id="{CD605C8F-0849-4B81-B407-90E981DCCA17}"/>
              </a:ext>
            </a:extLst>
          </p:cNvPr>
          <p:cNvSpPr>
            <a:spLocks xmlns:a="http://schemas.openxmlformats.org/drawingml/2006/main" noGrp="1"/>
          </p:cNvSpPr>
          <p:nvPr/>
        </p:nvSpPr>
        <p:spPr>
          <a:xfrm xmlns:a="http://schemas.openxmlformats.org/drawingml/2006/main">
            <a:off x="6629400" y="34290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3C06733-4A81-42A0-9627-B2B89378E393}"/>
              </a:ext>
            </a:extLst>
          </p:cNvPr>
          <p:cNvSpPr>
            <a:spLocks xmlns:a="http://schemas.openxmlformats.org/drawingml/2006/main" noGrp="1"/>
          </p:cNvSpPr>
          <p:nvPr/>
        </p:nvSpPr>
        <p:spPr>
          <a:xfrm xmlns:a="http://schemas.openxmlformats.org/drawingml/2006/main">
            <a:off x="6858000" y="33337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Stdlib-only Python runtime</a:t>
            </a:r>
          </a:p>
        </p:txBody>
      </p:sp>
      <p:sp>
        <p:nvSpPr>
          <p:cNvPr id="19" name="">
            <a:extLst xmlns:a="http://schemas.openxmlformats.org/drawingml/2006/main">
              <a:ext uri="{FF2B5EF4-FFF2-40B4-BE49-F238E27FC236}">
                <a16:creationId xmlns:a16="http://schemas.microsoft.com/office/drawing/2014/main" id="{63D10059-1301-42F1-914F-3107CD369D49}"/>
              </a:ext>
            </a:extLst>
          </p:cNvPr>
          <p:cNvSpPr>
            <a:spLocks xmlns:a="http://schemas.openxmlformats.org/drawingml/2006/main" noGrp="1"/>
          </p:cNvSpPr>
          <p:nvPr/>
        </p:nvSpPr>
        <p:spPr>
          <a:xfrm xmlns:a="http://schemas.openxmlformats.org/drawingml/2006/main">
            <a:off x="6629400" y="38862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BB29439-0EA8-4D33-B4CE-CF9D657D1F3D}"/>
              </a:ext>
            </a:extLst>
          </p:cNvPr>
          <p:cNvSpPr>
            <a:spLocks xmlns:a="http://schemas.openxmlformats.org/drawingml/2006/main" noGrp="1"/>
          </p:cNvSpPr>
          <p:nvPr/>
        </p:nvSpPr>
        <p:spPr>
          <a:xfrm xmlns:a="http://schemas.openxmlformats.org/drawingml/2006/main">
            <a:off x="6858000" y="37909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Network-free tests for provider logic</a:t>
            </a:r>
          </a:p>
        </p:txBody>
      </p:sp>
      <p:sp>
        <p:nvSpPr>
          <p:cNvPr id="21" name="">
            <a:extLst xmlns:a="http://schemas.openxmlformats.org/drawingml/2006/main">
              <a:ext uri="{FF2B5EF4-FFF2-40B4-BE49-F238E27FC236}">
                <a16:creationId xmlns:a16="http://schemas.microsoft.com/office/drawing/2014/main" id="{52496DE7-EE73-492C-BEC5-FB202CFB5709}"/>
              </a:ext>
            </a:extLst>
          </p:cNvPr>
          <p:cNvSpPr>
            <a:spLocks xmlns:a="http://schemas.openxmlformats.org/drawingml/2006/main" noGrp="1"/>
          </p:cNvSpPr>
          <p:nvPr/>
        </p:nvSpPr>
        <p:spPr>
          <a:xfrm xmlns:a="http://schemas.openxmlformats.org/drawingml/2006/main">
            <a:off x="6629400" y="43434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7856FAE-4C35-4776-94E8-09BA10EE9599}"/>
              </a:ext>
            </a:extLst>
          </p:cNvPr>
          <p:cNvSpPr>
            <a:spLocks xmlns:a="http://schemas.openxmlformats.org/drawingml/2006/main" noGrp="1"/>
          </p:cNvSpPr>
          <p:nvPr/>
        </p:nvSpPr>
        <p:spPr>
          <a:xfrm xmlns:a="http://schemas.openxmlformats.org/drawingml/2006/main">
            <a:off x="6858000" y="42481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Defensive parsers fail loudly on source drift</a:t>
            </a:r>
          </a:p>
        </p:txBody>
      </p:sp>
      <p:sp>
        <p:nvSpPr>
          <p:cNvPr id="23" name="">
            <a:extLst xmlns:a="http://schemas.openxmlformats.org/drawingml/2006/main">
              <a:ext uri="{FF2B5EF4-FFF2-40B4-BE49-F238E27FC236}">
                <a16:creationId xmlns:a16="http://schemas.microsoft.com/office/drawing/2014/main" id="{43AC6D59-6992-4951-BDD2-D837C0F57B7E}"/>
              </a:ext>
            </a:extLst>
          </p:cNvPr>
          <p:cNvSpPr>
            <a:spLocks xmlns:a="http://schemas.openxmlformats.org/drawingml/2006/main" noGrp="1"/>
          </p:cNvSpPr>
          <p:nvPr/>
        </p:nvSpPr>
        <p:spPr>
          <a:xfrm xmlns:a="http://schemas.openxmlformats.org/drawingml/2006/main">
            <a:off x="6629400" y="48006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73A85E3-8E96-4A1B-9845-A7F6C54DB22A}"/>
              </a:ext>
            </a:extLst>
          </p:cNvPr>
          <p:cNvSpPr>
            <a:spLocks xmlns:a="http://schemas.openxmlformats.org/drawingml/2006/main" noGrp="1"/>
          </p:cNvSpPr>
          <p:nvPr/>
        </p:nvSpPr>
        <p:spPr>
          <a:xfrm xmlns:a="http://schemas.openxmlformats.org/drawingml/2006/main">
            <a:off x="6858000" y="47053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One live smoke run before completion</a:t>
            </a:r>
          </a:p>
        </p:txBody>
      </p:sp>
      <p:sp>
        <p:nvSpPr>
          <p:cNvPr id="25" name="">
            <a:extLst xmlns:a="http://schemas.openxmlformats.org/drawingml/2006/main">
              <a:ext uri="{FF2B5EF4-FFF2-40B4-BE49-F238E27FC236}">
                <a16:creationId xmlns:a16="http://schemas.microsoft.com/office/drawing/2014/main" id="{E3380B11-3CFF-4B6D-BEC6-E36751E77F7F}"/>
              </a:ext>
            </a:extLst>
          </p:cNvPr>
          <p:cNvSpPr>
            <a:spLocks xmlns:a="http://schemas.openxmlformats.org/drawingml/2006/main" noGrp="1"/>
          </p:cNvSpPr>
          <p:nvPr/>
        </p:nvSpPr>
        <p:spPr>
          <a:xfrm xmlns:a="http://schemas.openxmlformats.org/drawingml/2006/main">
            <a:off x="6629400" y="52578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DA1E6CC-7C32-45E1-913A-6B37D125671B}"/>
              </a:ext>
            </a:extLst>
          </p:cNvPr>
          <p:cNvSpPr>
            <a:spLocks xmlns:a="http://schemas.openxmlformats.org/drawingml/2006/main" noGrp="1"/>
          </p:cNvSpPr>
          <p:nvPr/>
        </p:nvSpPr>
        <p:spPr>
          <a:xfrm xmlns:a="http://schemas.openxmlformats.org/drawingml/2006/main">
            <a:off x="6858000" y="51625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Provider modules auto-register</a:t>
            </a:r>
          </a:p>
        </p:txBody>
      </p:sp>
      <p:sp>
        <p:nvSpPr>
          <p:cNvPr id="27" name="">
            <a:extLst xmlns:a="http://schemas.openxmlformats.org/drawingml/2006/main">
              <a:ext uri="{FF2B5EF4-FFF2-40B4-BE49-F238E27FC236}">
                <a16:creationId xmlns:a16="http://schemas.microsoft.com/office/drawing/2014/main" id="{624B55FD-5D9B-47D6-8FA3-7672822FB214}"/>
              </a:ext>
            </a:extLst>
          </p:cNvPr>
          <p:cNvSpPr>
            <a:spLocks xmlns:a="http://schemas.openxmlformats.org/drawingml/2006/main" noGrp="1"/>
          </p:cNvSpPr>
          <p:nvPr/>
        </p:nvSpPr>
        <p:spPr>
          <a:xfrm xmlns:a="http://schemas.openxmlformats.org/drawingml/2006/main">
            <a:off x="400050" y="60198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Outcome: faster extension without lowering the evidence bar.</a:t>
            </a:r>
          </a:p>
        </p:txBody>
      </p:sp>
    </p:spTree>
    <p:extLst>
      <p:ext uri="{BB962C8B-B14F-4D97-AF65-F5344CB8AC3E}">
        <p14:creationId xmlns:p14="http://schemas.microsoft.com/office/powerpoint/2010/main" val="20636746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81AA0BE-2E98-48D3-989E-4FF5FADDCC2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NEXT STEPS</a:t>
            </a:r>
          </a:p>
        </p:txBody>
      </p:sp>
      <p:sp>
        <p:nvSpPr>
          <p:cNvPr id="2" name="slide-10-title">
            <a:extLst xmlns:a="http://schemas.openxmlformats.org/drawingml/2006/main">
              <a:ext uri="{FF2B5EF4-FFF2-40B4-BE49-F238E27FC236}">
                <a16:creationId xmlns:a16="http://schemas.microsoft.com/office/drawing/2014/main" id="{B217EBC7-A2A1-4546-ADA1-9EB345AB4881}"/>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Validate scheduled delivery, then scale adoption</a:t>
            </a:r>
          </a:p>
        </p:txBody>
      </p:sp>
      <p:sp>
        <p:nvSpPr>
          <p:cNvPr id="3" name="">
            <a:extLst xmlns:a="http://schemas.openxmlformats.org/drawingml/2006/main">
              <a:ext uri="{FF2B5EF4-FFF2-40B4-BE49-F238E27FC236}">
                <a16:creationId xmlns:a16="http://schemas.microsoft.com/office/drawing/2014/main" id="{9FAFD3F6-5FCA-48DD-AF35-DB954071BE2A}"/>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F1487F90-65DF-40B9-AD3B-ACC9DD6BFBCC}"/>
              </a:ext>
            </a:extLst>
          </p:cNvPr>
          <p:cNvSpPr>
            <a:spLocks xmlns:a="http://schemas.openxmlformats.org/drawingml/2006/main" noGrp="1"/>
          </p:cNvSpPr>
          <p:nvPr/>
        </p:nvSpPr>
        <p:spPr>
          <a:xfrm xmlns:a="http://schemas.openxmlformats.org/drawingml/2006/main">
            <a:off x="400050" y="5334000"/>
            <a:ext cx="11391900" cy="0"/>
          </a:xfrm>
          <a:prstGeom xmlns:a="http://schemas.openxmlformats.org/drawingml/2006/main" prst="line">
            <a:avLst/>
          </a:prstGeom>
          <a:noFill xmlns:a="http://schemas.openxmlformats.org/drawingml/2006/main"/>
          <a:ln xmlns:a="http://schemas.openxmlformats.org/drawingml/2006/main" w="9525">
            <a:solidFill>
              <a:srgbClr val="111111"/>
            </a:solidFill>
            <a:prstDash val="solid"/>
          </a:ln>
        </p:spPr>
      </p:sp>
      <p:sp>
        <p:nvSpPr>
          <p:cNvPr id="5" name="">
            <a:extLst xmlns:a="http://schemas.openxmlformats.org/drawingml/2006/main">
              <a:ext uri="{FF2B5EF4-FFF2-40B4-BE49-F238E27FC236}">
                <a16:creationId xmlns:a16="http://schemas.microsoft.com/office/drawing/2014/main" id="{C4968644-138D-497A-A9A3-AF849D550863}"/>
              </a:ext>
            </a:extLst>
          </p:cNvPr>
          <p:cNvSpPr>
            <a:spLocks xmlns:a="http://schemas.openxmlformats.org/drawingml/2006/main" noGrp="1"/>
          </p:cNvSpPr>
          <p:nvPr/>
        </p:nvSpPr>
        <p:spPr>
          <a:xfrm xmlns:a="http://schemas.openxmlformats.org/drawingml/2006/main">
            <a:off x="40005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CF0FB81-D8FE-4D2E-948F-B1F8838B2D00}"/>
              </a:ext>
            </a:extLst>
          </p:cNvPr>
          <p:cNvSpPr>
            <a:spLocks xmlns:a="http://schemas.openxmlformats.org/drawingml/2006/main" noGrp="1"/>
          </p:cNvSpPr>
          <p:nvPr/>
        </p:nvSpPr>
        <p:spPr>
          <a:xfrm xmlns:a="http://schemas.openxmlformats.org/drawingml/2006/main">
            <a:off x="430530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D2A0EFB-49C7-45E7-8EB5-F0EB7D51E605}"/>
              </a:ext>
            </a:extLst>
          </p:cNvPr>
          <p:cNvSpPr>
            <a:spLocks xmlns:a="http://schemas.openxmlformats.org/drawingml/2006/main" noGrp="1"/>
          </p:cNvSpPr>
          <p:nvPr/>
        </p:nvSpPr>
        <p:spPr>
          <a:xfrm xmlns:a="http://schemas.openxmlformats.org/drawingml/2006/main">
            <a:off x="822960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FD9CEB-FD87-4BA1-A3D2-7B2D04C9A7E8}"/>
              </a:ext>
            </a:extLst>
          </p:cNvPr>
          <p:cNvSpPr>
            <a:spLocks xmlns:a="http://schemas.openxmlformats.org/drawingml/2006/main" noGrp="1"/>
          </p:cNvSpPr>
          <p:nvPr/>
        </p:nvSpPr>
        <p:spPr>
          <a:xfrm xmlns:a="http://schemas.openxmlformats.org/drawingml/2006/main">
            <a:off x="400050" y="1695450"/>
            <a:ext cx="3562350" cy="314325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62DA6C5-E963-4A57-ADFC-F9EDAB9BD93E}"/>
              </a:ext>
            </a:extLst>
          </p:cNvPr>
          <p:cNvSpPr>
            <a:spLocks xmlns:a="http://schemas.openxmlformats.org/drawingml/2006/main" noGrp="1"/>
          </p:cNvSpPr>
          <p:nvPr/>
        </p:nvSpPr>
        <p:spPr>
          <a:xfrm xmlns:a="http://schemas.openxmlformats.org/drawingml/2006/main">
            <a:off x="68580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PILOT</a:t>
            </a:r>
          </a:p>
        </p:txBody>
      </p:sp>
      <p:sp>
        <p:nvSpPr>
          <p:cNvPr id="10" name="">
            <a:extLst xmlns:a="http://schemas.openxmlformats.org/drawingml/2006/main">
              <a:ext uri="{FF2B5EF4-FFF2-40B4-BE49-F238E27FC236}">
                <a16:creationId xmlns:a16="http://schemas.microsoft.com/office/drawing/2014/main" id="{3E6CD5CC-4FC7-4C01-9CF6-E2D34122421E}"/>
              </a:ext>
            </a:extLst>
          </p:cNvPr>
          <p:cNvSpPr>
            <a:spLocks xmlns:a="http://schemas.openxmlformats.org/drawingml/2006/main" noGrp="1"/>
          </p:cNvSpPr>
          <p:nvPr/>
        </p:nvSpPr>
        <p:spPr>
          <a:xfrm xmlns:a="http://schemas.openxmlformats.org/drawingml/2006/main">
            <a:off x="68580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Prove the schedule</a:t>
            </a:r>
          </a:p>
        </p:txBody>
      </p:sp>
      <p:sp>
        <p:nvSpPr>
          <p:cNvPr id="11" name="">
            <a:extLst xmlns:a="http://schemas.openxmlformats.org/drawingml/2006/main">
              <a:ext uri="{FF2B5EF4-FFF2-40B4-BE49-F238E27FC236}">
                <a16:creationId xmlns:a16="http://schemas.microsoft.com/office/drawing/2014/main" id="{3219E7AD-6CB4-4B58-AC79-AEFB38BFCEE5}"/>
              </a:ext>
            </a:extLst>
          </p:cNvPr>
          <p:cNvSpPr>
            <a:spLocks xmlns:a="http://schemas.openxmlformats.org/drawingml/2006/main" noGrp="1"/>
          </p:cNvSpPr>
          <p:nvPr/>
        </p:nvSpPr>
        <p:spPr>
          <a:xfrm xmlns:a="http://schemas.openxmlformats.org/drawingml/2006/main">
            <a:off x="68580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Choose one project, configure a monthly run, and test S3 → Lambda → notification end to end.</a:t>
            </a:r>
          </a:p>
        </p:txBody>
      </p:sp>
      <p:sp>
        <p:nvSpPr>
          <p:cNvPr id="12" name="">
            <a:extLst xmlns:a="http://schemas.openxmlformats.org/drawingml/2006/main">
              <a:ext uri="{FF2B5EF4-FFF2-40B4-BE49-F238E27FC236}">
                <a16:creationId xmlns:a16="http://schemas.microsoft.com/office/drawing/2014/main" id="{088CF365-F28D-4E9F-AA84-96CEBB27EE86}"/>
              </a:ext>
            </a:extLst>
          </p:cNvPr>
          <p:cNvSpPr>
            <a:spLocks xmlns:a="http://schemas.openxmlformats.org/drawingml/2006/main" noGrp="1"/>
          </p:cNvSpPr>
          <p:nvPr/>
        </p:nvSpPr>
        <p:spPr>
          <a:xfrm xmlns:a="http://schemas.openxmlformats.org/drawingml/2006/main">
            <a:off x="4305300" y="1695450"/>
            <a:ext cx="3562350" cy="31432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1A1317A-CD5A-4BBE-A4D4-D09D0D8BC004}"/>
              </a:ext>
            </a:extLst>
          </p:cNvPr>
          <p:cNvSpPr>
            <a:spLocks xmlns:a="http://schemas.openxmlformats.org/drawingml/2006/main" noGrp="1"/>
          </p:cNvSpPr>
          <p:nvPr/>
        </p:nvSpPr>
        <p:spPr>
          <a:xfrm xmlns:a="http://schemas.openxmlformats.org/drawingml/2006/main">
            <a:off x="459105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HARDEN</a:t>
            </a:r>
          </a:p>
        </p:txBody>
      </p:sp>
      <p:sp>
        <p:nvSpPr>
          <p:cNvPr id="14" name="">
            <a:extLst xmlns:a="http://schemas.openxmlformats.org/drawingml/2006/main">
              <a:ext uri="{FF2B5EF4-FFF2-40B4-BE49-F238E27FC236}">
                <a16:creationId xmlns:a16="http://schemas.microsoft.com/office/drawing/2014/main" id="{472A9807-DDE9-449A-8BC5-F9023536C569}"/>
              </a:ext>
            </a:extLst>
          </p:cNvPr>
          <p:cNvSpPr>
            <a:spLocks xmlns:a="http://schemas.openxmlformats.org/drawingml/2006/main" noGrp="1"/>
          </p:cNvSpPr>
          <p:nvPr/>
        </p:nvSpPr>
        <p:spPr>
          <a:xfrm xmlns:a="http://schemas.openxmlformats.org/drawingml/2006/main">
            <a:off x="459105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Define operations</a:t>
            </a:r>
          </a:p>
        </p:txBody>
      </p:sp>
      <p:sp>
        <p:nvSpPr>
          <p:cNvPr id="15" name="">
            <a:extLst xmlns:a="http://schemas.openxmlformats.org/drawingml/2006/main">
              <a:ext uri="{FF2B5EF4-FFF2-40B4-BE49-F238E27FC236}">
                <a16:creationId xmlns:a16="http://schemas.microsoft.com/office/drawing/2014/main" id="{E2FDF2A3-E451-43B0-B9C1-47C7DCBD93EB}"/>
              </a:ext>
            </a:extLst>
          </p:cNvPr>
          <p:cNvSpPr>
            <a:spLocks xmlns:a="http://schemas.openxmlformats.org/drawingml/2006/main" noGrp="1"/>
          </p:cNvSpPr>
          <p:nvPr/>
        </p:nvSpPr>
        <p:spPr>
          <a:xfrm xmlns:a="http://schemas.openxmlformats.org/drawingml/2006/main">
            <a:off x="459105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Agree ownership, report review, provider-error handling, and alert-routing expectations.</a:t>
            </a:r>
          </a:p>
        </p:txBody>
      </p:sp>
      <p:sp>
        <p:nvSpPr>
          <p:cNvPr id="16" name="">
            <a:extLst xmlns:a="http://schemas.openxmlformats.org/drawingml/2006/main">
              <a:ext uri="{FF2B5EF4-FFF2-40B4-BE49-F238E27FC236}">
                <a16:creationId xmlns:a16="http://schemas.microsoft.com/office/drawing/2014/main" id="{9C17B959-D42D-4FF1-BFF6-E4ABCE291A3F}"/>
              </a:ext>
            </a:extLst>
          </p:cNvPr>
          <p:cNvSpPr>
            <a:spLocks xmlns:a="http://schemas.openxmlformats.org/drawingml/2006/main" noGrp="1"/>
          </p:cNvSpPr>
          <p:nvPr/>
        </p:nvSpPr>
        <p:spPr>
          <a:xfrm xmlns:a="http://schemas.openxmlformats.org/drawingml/2006/main">
            <a:off x="8229600" y="1695450"/>
            <a:ext cx="3562350" cy="31432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123BF87-0E1C-4523-857A-688AFA91E8CC}"/>
              </a:ext>
            </a:extLst>
          </p:cNvPr>
          <p:cNvSpPr>
            <a:spLocks xmlns:a="http://schemas.openxmlformats.org/drawingml/2006/main" noGrp="1"/>
          </p:cNvSpPr>
          <p:nvPr/>
        </p:nvSpPr>
        <p:spPr>
          <a:xfrm xmlns:a="http://schemas.openxmlformats.org/drawingml/2006/main">
            <a:off x="851535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SCALE</a:t>
            </a:r>
          </a:p>
        </p:txBody>
      </p:sp>
      <p:sp>
        <p:nvSpPr>
          <p:cNvPr id="18" name="">
            <a:extLst xmlns:a="http://schemas.openxmlformats.org/drawingml/2006/main">
              <a:ext uri="{FF2B5EF4-FFF2-40B4-BE49-F238E27FC236}">
                <a16:creationId xmlns:a16="http://schemas.microsoft.com/office/drawing/2014/main" id="{29568AB5-CDE2-44DC-BD27-31F5C4644381}"/>
              </a:ext>
            </a:extLst>
          </p:cNvPr>
          <p:cNvSpPr>
            <a:spLocks xmlns:a="http://schemas.openxmlformats.org/drawingml/2006/main" noGrp="1"/>
          </p:cNvSpPr>
          <p:nvPr/>
        </p:nvSpPr>
        <p:spPr>
          <a:xfrm xmlns:a="http://schemas.openxmlformats.org/drawingml/2006/main">
            <a:off x="851535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Onboard projects</a:t>
            </a:r>
          </a:p>
        </p:txBody>
      </p:sp>
      <p:sp>
        <p:nvSpPr>
          <p:cNvPr id="19" name="">
            <a:extLst xmlns:a="http://schemas.openxmlformats.org/drawingml/2006/main">
              <a:ext uri="{FF2B5EF4-FFF2-40B4-BE49-F238E27FC236}">
                <a16:creationId xmlns:a16="http://schemas.microsoft.com/office/drawing/2014/main" id="{0703CD4F-A78E-494F-8EEB-E6374EE19FEA}"/>
              </a:ext>
            </a:extLst>
          </p:cNvPr>
          <p:cNvSpPr>
            <a:spLocks xmlns:a="http://schemas.openxmlformats.org/drawingml/2006/main" noGrp="1"/>
          </p:cNvSpPr>
          <p:nvPr/>
        </p:nvSpPr>
        <p:spPr>
          <a:xfrm xmlns:a="http://schemas.openxmlformats.org/drawingml/2006/main">
            <a:off x="851535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Create each baseline inventory, assign an owner, and adopt a monthly lifecycle review.</a:t>
            </a:r>
          </a:p>
        </p:txBody>
      </p:sp>
      <p:sp>
        <p:nvSpPr>
          <p:cNvPr id="20" name="">
            <a:extLst xmlns:a="http://schemas.openxmlformats.org/drawingml/2006/main">
              <a:ext uri="{FF2B5EF4-FFF2-40B4-BE49-F238E27FC236}">
                <a16:creationId xmlns:a16="http://schemas.microsoft.com/office/drawing/2014/main" id="{54209ACB-40C6-4F26-BA9F-2A8C3E665A95}"/>
              </a:ext>
            </a:extLst>
          </p:cNvPr>
          <p:cNvSpPr>
            <a:spLocks xmlns:a="http://schemas.openxmlformats.org/drawingml/2006/main" noGrp="1"/>
          </p:cNvSpPr>
          <p:nvPr/>
        </p:nvSpPr>
        <p:spPr>
          <a:xfrm xmlns:a="http://schemas.openxmlformats.org/drawingml/2006/main">
            <a:off x="400050" y="5753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3D8DFF"/>
                </a:solidFill>
                <a:latin typeface="Arial"/>
                <a:ea typeface="Arial"/>
                <a:cs typeface="Arial"/>
              </a:defRPr>
            </a:pPr>
            <a:r>
              <a:rPr sz="1500" b="1">
                <a:solidFill>
                  <a:srgbClr val="3D8DFF"/>
                </a:solidFill>
                <a:latin typeface="Arial"/>
                <a:ea typeface="Arial"/>
                <a:cs typeface="Arial"/>
              </a:rPr>
              <a:t>Decision requested</a:t>
            </a:r>
          </a:p>
        </p:txBody>
      </p:sp>
      <p:sp>
        <p:nvSpPr>
          <p:cNvPr id="21" name="">
            <a:extLst xmlns:a="http://schemas.openxmlformats.org/drawingml/2006/main">
              <a:ext uri="{FF2B5EF4-FFF2-40B4-BE49-F238E27FC236}">
                <a16:creationId xmlns:a16="http://schemas.microsoft.com/office/drawing/2014/main" id="{CAAD3714-6077-43DD-A0D6-651F9554EA1E}"/>
              </a:ext>
            </a:extLst>
          </p:cNvPr>
          <p:cNvSpPr>
            <a:spLocks xmlns:a="http://schemas.openxmlformats.org/drawingml/2006/main" noGrp="1"/>
          </p:cNvSpPr>
          <p:nvPr/>
        </p:nvSpPr>
        <p:spPr>
          <a:xfrm xmlns:a="http://schemas.openxmlformats.org/drawingml/2006/main">
            <a:off x="3048000" y="5695950"/>
            <a:ext cx="7429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356"/>
          </a:bodyPr>
          <a:lstStyle xmlns:a="http://schemas.openxmlformats.org/drawingml/2006/main"/>
          <a:p xmlns:a="http://schemas.openxmlformats.org/drawingml/2006/main">
            <a:pPr algn="l">
              <a:buNone/>
              <a:defRPr sz="2175" b="1">
                <a:solidFill>
                  <a:srgbClr val="111111"/>
                </a:solidFill>
                <a:latin typeface="Arial"/>
                <a:ea typeface="Arial"/>
                <a:cs typeface="Arial"/>
              </a:defRPr>
            </a:pPr>
            <a:r>
              <a:rPr sz="2175" b="1">
                <a:solidFill>
                  <a:srgbClr val="111111"/>
                </a:solidFill>
                <a:latin typeface="Arial"/>
                <a:ea typeface="Arial"/>
                <a:cs typeface="Arial"/>
              </a:rPr>
              <a:t>Name the pilot project and its lifecycle owner.</a:t>
            </a:r>
          </a:p>
        </p:txBody>
      </p:sp>
    </p:spTree>
    <p:extLst>
      <p:ext uri="{BB962C8B-B14F-4D97-AF65-F5344CB8AC3E}">
        <p14:creationId xmlns:p14="http://schemas.microsoft.com/office/powerpoint/2010/main" val="18714651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2026-08-27T14:53:42.1560000Z</dcterms:created>
  <dcterms:modified xsi:type="dcterms:W3CDTF">2026-08-27T14:53:42.1560000Z</dcterms:modified>
</coreProperties>
</file>