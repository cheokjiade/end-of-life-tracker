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ba212e57714d96" /><Relationship Type="http://schemas.openxmlformats.org/officeDocument/2006/relationships/extended-properties" Target="/docProps/app.xml" Id="Re0d845b46dcd4440" /><Relationship Type="http://schemas.openxmlformats.org/officeDocument/2006/relationships/officeDocument" Target="/ppt/presentation.xml" Id="R8576a772abe44126" /></Relationships>
</file>

<file path=ppt/presentation.xml><?xml version="1.0" encoding="utf-8"?>
<p:presentation xmlns:p="http://schemas.openxmlformats.org/presentationml/2006/main">
  <p:sldMasterIdLst>
    <p:sldMasterId xmlns:r="http://schemas.openxmlformats.org/officeDocument/2006/relationships" id="2147483648" r:id="Red3d9248634746b1"/>
  </p:sldMasterIdLst>
  <p:notesMasterIdLst>
    <p:notesMasterId xmlns:r="http://schemas.openxmlformats.org/officeDocument/2006/relationships" r:id="R56ed2f71c0464c73"/>
  </p:notesMasterIdLst>
  <p:sldIdLst>
    <p:sldId xmlns:r="http://schemas.openxmlformats.org/officeDocument/2006/relationships" id="256" r:id="Rc2fb1def94bc4155"/>
    <p:sldId xmlns:r="http://schemas.openxmlformats.org/officeDocument/2006/relationships" id="257" r:id="Ra92309b4e9234942"/>
    <p:sldId xmlns:r="http://schemas.openxmlformats.org/officeDocument/2006/relationships" id="258" r:id="Ra7242719cff34266"/>
    <p:sldId xmlns:r="http://schemas.openxmlformats.org/officeDocument/2006/relationships" id="259" r:id="R0adabd3bd31949fe"/>
    <p:sldId xmlns:r="http://schemas.openxmlformats.org/officeDocument/2006/relationships" id="260" r:id="R74f7f9af4137475c"/>
    <p:sldId xmlns:r="http://schemas.openxmlformats.org/officeDocument/2006/relationships" id="261" r:id="R6cbebe2b80464093"/>
    <p:sldId xmlns:r="http://schemas.openxmlformats.org/officeDocument/2006/relationships" id="262" r:id="R806dcf0952f94331"/>
    <p:sldId xmlns:r="http://schemas.openxmlformats.org/officeDocument/2006/relationships" id="263" r:id="Reaf9af7719b44547"/>
    <p:sldId xmlns:r="http://schemas.openxmlformats.org/officeDocument/2006/relationships" id="264" r:id="R8e0e3df853044015"/>
    <p:sldId xmlns:r="http://schemas.openxmlformats.org/officeDocument/2006/relationships" id="265" r:id="R591b13705f6b43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442bd8df85b4082" /><Relationship Type="http://schemas.openxmlformats.org/officeDocument/2006/relationships/slideMaster" Target="/ppt/slideMasters/slideMaster1.xml" Id="Red3d9248634746b1" /><Relationship Type="http://schemas.openxmlformats.org/officeDocument/2006/relationships/notesMaster" Target="/ppt/notesMasters/notesMaster1.xml" Id="R56ed2f71c0464c73" /><Relationship Type="http://schemas.openxmlformats.org/officeDocument/2006/relationships/presProps" Target="/ppt/presProps.xml" Id="Rf5ba4c377fb24334" /><Relationship Type="http://schemas.openxmlformats.org/officeDocument/2006/relationships/tableStyles" Target="/ppt/tableStyles.xml" Id="R0c7f10b890654183" /><Relationship Type="http://schemas.openxmlformats.org/officeDocument/2006/relationships/slide" Target="/ppt/slides/slide1.xml" Id="Rc2fb1def94bc4155" /><Relationship Type="http://schemas.openxmlformats.org/officeDocument/2006/relationships/slide" Target="/ppt/slides/slide2.xml" Id="Ra92309b4e9234942" /><Relationship Type="http://schemas.openxmlformats.org/officeDocument/2006/relationships/slide" Target="/ppt/slides/slide3.xml" Id="Ra7242719cff34266" /><Relationship Type="http://schemas.openxmlformats.org/officeDocument/2006/relationships/slide" Target="/ppt/slides/slide4.xml" Id="R0adabd3bd31949fe" /><Relationship Type="http://schemas.openxmlformats.org/officeDocument/2006/relationships/slide" Target="/ppt/slides/slide5.xml" Id="R74f7f9af4137475c" /><Relationship Type="http://schemas.openxmlformats.org/officeDocument/2006/relationships/slide" Target="/ppt/slides/slide6.xml" Id="R6cbebe2b80464093" /><Relationship Type="http://schemas.openxmlformats.org/officeDocument/2006/relationships/slide" Target="/ppt/slides/slide7.xml" Id="R806dcf0952f94331" /><Relationship Type="http://schemas.openxmlformats.org/officeDocument/2006/relationships/slide" Target="/ppt/slides/slide8.xml" Id="Reaf9af7719b44547" /><Relationship Type="http://schemas.openxmlformats.org/officeDocument/2006/relationships/slide" Target="/ppt/slides/slide9.xml" Id="R8e0e3df853044015" /><Relationship Type="http://schemas.openxmlformats.org/officeDocument/2006/relationships/slide" Target="/ppt/slides/slide10.xml" Id="R591b13705f6b43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4084e6a9e245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2468192e214c3d" /><Relationship Type="http://schemas.openxmlformats.org/officeDocument/2006/relationships/notesMaster" Target="/ppt/notesMasters/notesMaster1.xml" Id="R8ed6265011cc41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10b69583874e83" /><Relationship Type="http://schemas.openxmlformats.org/officeDocument/2006/relationships/notesMaster" Target="/ppt/notesMasters/notesMaster1.xml" Id="R3d7878901e8f4e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972af0ec584eaa" /><Relationship Type="http://schemas.openxmlformats.org/officeDocument/2006/relationships/notesMaster" Target="/ppt/notesMasters/notesMaster1.xml" Id="R9858e71de3a54e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2d9ac7d05043c8" /><Relationship Type="http://schemas.openxmlformats.org/officeDocument/2006/relationships/notesMaster" Target="/ppt/notesMasters/notesMaster1.xml" Id="Rb04ddf7265d24a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350ae637e24860" /><Relationship Type="http://schemas.openxmlformats.org/officeDocument/2006/relationships/notesMaster" Target="/ppt/notesMasters/notesMaster1.xml" Id="R1b26adb4210744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90b3f212074fd3" /><Relationship Type="http://schemas.openxmlformats.org/officeDocument/2006/relationships/notesMaster" Target="/ppt/notesMasters/notesMaster1.xml" Id="R87c99ac4c8aa4c3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09dcaac67e44bf" /><Relationship Type="http://schemas.openxmlformats.org/officeDocument/2006/relationships/notesMaster" Target="/ppt/notesMasters/notesMaster1.xml" Id="R5632bf9cd92542c8"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cb819fdae04617" /><Relationship Type="http://schemas.openxmlformats.org/officeDocument/2006/relationships/notesMaster" Target="/ppt/notesMasters/notesMaster1.xml" Id="R7aa88478770e45d5" /></Relationships>
</file>

<file path=ppt/notesSlides/_rels/notesSlide9.xml.rels>&#65279;<?xml version="1.0" encoding="utf-8"?><Relationships xmlns="http://schemas.openxmlformats.org/package/2006/relationships"><Relationship Type="http://schemas.openxmlformats.org/officeDocument/2006/relationships/slide" Target="/ppt/slides/slide9.xml" Id="R31944d934d1749d5" /><Relationship Type="http://schemas.openxmlformats.org/officeDocument/2006/relationships/notesMaster" Target="/ppt/notesMasters/notesMaster1.xml" Id="Rcc682a7d203540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96197bd5d0c4687" /><Relationship Type="http://schemas.openxmlformats.org/officeDocument/2006/relationships/notesMaster" Target="/ppt/notesMasters/notesMaster1.xml" Id="Rcfbc457baf0e4d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This project is about replacing a recurring manual control with a repeatable, visible process. The demo will show the working local path and separate it clearly from the AWS path that still needs end-to-end validation.</a:t>
            </a:r>
          </a:p>
          <a:p xmlns:a="http://schemas.openxmlformats.org/drawingml/2006/main">
            <a:r>
              <a:t/>
            </a:r>
          </a:p>
          <a:p xmlns:a="http://schemas.openxmlformats.org/drawingml/2006/main">
            <a:r>
              <a:t>[Sources]</a:t>
            </a:r>
          </a:p>
          <a:p xmlns:a="http://schemas.openxmlformats.org/drawingml/2006/main">
            <a:r>
              <a:t>- E:/Git/endoflife/AGENTS.md</a:t>
            </a:r>
          </a:p>
          <a:p xmlns:a="http://schemas.openxmlformats.org/drawingml/2006/main">
            <a:r>
              <a:t>- E:/Git/endoflife/README.md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anchor the pain in delivery planning, not in browsing inconvenience. The risk is late visibility: dependency lifecycle work appears after scope, budget, or release commitments are already made.</a:t>
            </a:r>
          </a:p>
          <a:p xmlns:a="http://schemas.openxmlformats.org/drawingml/2006/main">
            <a:r>
              <a:t/>
            </a:r>
          </a:p>
          <a:p xmlns:a="http://schemas.openxmlformats.org/drawingml/2006/main">
            <a:r>
              <a:t>[Sources]</a:t>
            </a:r>
          </a:p>
          <a:p xmlns:a="http://schemas.openxmlformats.org/drawingml/2006/main">
            <a:r>
              <a:t>- User-provided project background</a:t>
            </a:r>
          </a:p>
          <a:p xmlns:a="http://schemas.openxmlformats.org/drawingml/2006/main">
            <a:r>
              <a:t>- E:/Git/endoflife/README.md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has two technical parts, but project managers experience one control: establish the inventory once, then run the same check repeatedly. The configuration file is the contract between those parts.</a:t>
            </a:r>
          </a:p>
          <a:p xmlns:a="http://schemas.openxmlformats.org/drawingml/2006/main">
            <a:r>
              <a:t/>
            </a:r>
          </a:p>
          <a:p xmlns:a="http://schemas.openxmlformats.org/drawingml/2006/main">
            <a:r>
              <a:t>[Sources]</a:t>
            </a:r>
          </a:p>
          <a:p xmlns:a="http://schemas.openxmlformats.org/drawingml/2006/main">
            <a:r>
              <a:t>- E:/Git/endoflife/generate_config.py</a:t>
            </a:r>
          </a:p>
          <a:p xmlns:a="http://schemas.openxmlformats.org/drawingml/2006/main">
            <a:r>
              <a:t>- E:/Git/endoflife/eoltracker/handler.py</a:t>
            </a:r>
          </a:p>
          <a:p xmlns:a="http://schemas.openxmlformats.org/drawingml/2006/main">
            <a:r>
              <a:t>- E:/Git/endoflife/eoltracker/report.py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bridge: show a dependency manifest and the resulting products list. Emphasize that AI helps interpret unstructured inventories but the workflow explicitly verifies product identifiers and versions before they are accepted.</a:t>
            </a:r>
          </a:p>
          <a:p xmlns:a="http://schemas.openxmlformats.org/drawingml/2006/main">
            <a:r>
              <a:t/>
            </a:r>
          </a:p>
          <a:p xmlns:a="http://schemas.openxmlformats.org/drawingml/2006/main">
            <a:r>
              <a:t>[Sources]</a:t>
            </a:r>
          </a:p>
          <a:p xmlns:a="http://schemas.openxmlformats.org/drawingml/2006/main">
            <a:r>
              <a:t>- E:/Git/endoflife/generate_config.py</a:t>
            </a:r>
          </a:p>
          <a:p xmlns:a="http://schemas.openxmlformats.org/drawingml/2006/main">
            <a:r>
              <a:t>- E:/Git/endoflife/.agents/skills/manage-eol-config/SKILL.md</a:t>
            </a:r>
          </a:p>
          <a:p xmlns:a="http://schemas.openxmlformats.org/drawingml/2006/main">
            <a:r>
              <a:t>- E:/Git/endoflife/eol_config_generation_prompt.md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architectural explanation high-level. The registry selects the right source, but every provider returns the same result shape. That separation is why the project can add sources without rebuilding reporting.</a:t>
            </a:r>
          </a:p>
          <a:p xmlns:a="http://schemas.openxmlformats.org/drawingml/2006/main">
            <a:r>
              <a:t/>
            </a:r>
          </a:p>
          <a:p xmlns:a="http://schemas.openxmlformats.org/drawingml/2006/main">
            <a:r>
              <a:t>[Sources]</a:t>
            </a:r>
          </a:p>
          <a:p xmlns:a="http://schemas.openxmlformats.org/drawingml/2006/main">
            <a:r>
              <a:t>- E:/Git/endoflife/eoltracker/parsers/__init__.py</a:t>
            </a:r>
          </a:p>
          <a:p xmlns:a="http://schemas.openxmlformats.org/drawingml/2006/main">
            <a:r>
              <a:t>- E:/Git/endoflife/eoltracker/parsers</a:t>
            </a:r>
          </a:p>
          <a:p xmlns:a="http://schemas.openxmlformats.org/drawingml/2006/main">
            <a:r>
              <a:t>- E:/Git/endoflife/eoltracker/report.py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the demo, open the HTML report and point to status grouping, upstream source links, latest patch/cycle details, and the alert threshold. Important boundary: error and untracked items appear in the report; the current has_alerts flag is driven by EOL and approaching items.</a:t>
            </a:r>
          </a:p>
          <a:p xmlns:a="http://schemas.openxmlformats.org/drawingml/2006/main">
            <a:r>
              <a:t/>
            </a:r>
          </a:p>
          <a:p xmlns:a="http://schemas.openxmlformats.org/drawingml/2006/main">
            <a:r>
              <a:t>[Sources]</a:t>
            </a:r>
          </a:p>
          <a:p xmlns:a="http://schemas.openxmlformats.org/drawingml/2006/main">
            <a:r>
              <a:t>- E:/Git/endoflife/eoltracker/report.py</a:t>
            </a:r>
          </a:p>
          <a:p xmlns:a="http://schemas.openxmlformats.org/drawingml/2006/main">
            <a:r>
              <a:t>- E:/Git/endoflife/eol_config.sample.json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explicit about readiness. The local path is the demonstrated proof. Terraform defines S3, EventBridge, Lambda, SNS and optional SES, but the user reports that this path has not yet been tested. Also clarify that the default schedule is daily; monthly is a configuration choice for the pilot.</a:t>
            </a:r>
          </a:p>
          <a:p xmlns:a="http://schemas.openxmlformats.org/drawingml/2006/main">
            <a:r>
              <a:t/>
            </a:r>
          </a:p>
          <a:p xmlns:a="http://schemas.openxmlformats.org/drawingml/2006/main">
            <a:r>
              <a:t>[Sources]</a:t>
            </a:r>
          </a:p>
          <a:p xmlns:a="http://schemas.openxmlformats.org/drawingml/2006/main">
            <a:r>
              <a:t>- E:/Git/endoflife/eoltracker/handler.py</a:t>
            </a:r>
          </a:p>
          <a:p xmlns:a="http://schemas.openxmlformats.org/drawingml/2006/main">
            <a:r>
              <a:t>- E:/Git/endoflife/eoltracker/notify.py</a:t>
            </a:r>
          </a:p>
          <a:p xmlns:a="http://schemas.openxmlformats.org/drawingml/2006/main">
            <a:r>
              <a:t>- E:/Git/endoflife/terraform/main.tf</a:t>
            </a:r>
          </a:p>
          <a:p xmlns:a="http://schemas.openxmlformats.org/drawingml/2006/main">
            <a:r>
              <a:t>- E:/Git/endoflife/terraform/variables.tf</a:t>
            </a:r>
          </a:p>
          <a:p xmlns:a="http://schemas.openxmlformats.org/drawingml/2006/main">
            <a:r>
              <a:t>- User-provided test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commands:</a:t>
            </a:r>
          </a:p>
          <a:p xmlns:a="http://schemas.openxmlformats.org/drawingml/2006/main">
            <a:r>
              <a:t>1. python generate_config.py &lt;project-folder&gt; --name &lt;project&gt; (only if demonstrating manifest extraction)</a:t>
            </a:r>
          </a:p>
          <a:p xmlns:a="http://schemas.openxmlformats.org/drawingml/2006/main">
            <a:r>
              <a:t>2. python -c "import json; json.load(open('&lt;config.json&gt;'))"</a:t>
            </a:r>
          </a:p>
          <a:p xmlns:a="http://schemas.openxmlformats.org/drawingml/2006/main">
            <a:r>
              <a:t>3. python lambda_function.py &lt;config.json&gt;</a:t>
            </a:r>
          </a:p>
          <a:p xmlns:a="http://schemas.openxmlformats.org/drawingml/2006/main">
            <a:r>
              <a:t>Then open the generated HTML under reports/&lt;project&gt;/&lt;year&gt;/&lt;month&gt;/&lt;day&gt;/. Keep a saved report ready so network variability does not derail the business story.</a:t>
            </a:r>
          </a:p>
          <a:p xmlns:a="http://schemas.openxmlformats.org/drawingml/2006/main">
            <a:r>
              <a:t/>
            </a:r>
          </a:p>
          <a:p xmlns:a="http://schemas.openxmlformats.org/drawingml/2006/main">
            <a:r>
              <a:t>[Sources]</a:t>
            </a:r>
          </a:p>
          <a:p xmlns:a="http://schemas.openxmlformats.org/drawingml/2006/main">
            <a:r>
              <a:t>- E:/Git/endoflife/generate_config.py</a:t>
            </a:r>
          </a:p>
          <a:p xmlns:a="http://schemas.openxmlformats.org/drawingml/2006/main">
            <a:r>
              <a:t>- E:/Git/endoflife/lambda_function.py</a:t>
            </a:r>
          </a:p>
          <a:p xmlns:a="http://schemas.openxmlformats.org/drawingml/2006/main">
            <a:r>
              <a:t>- E:/Git/endoflife/eoltracker/notify.py</a:t>
            </a:r>
          </a:p>
          <a:p xmlns:a="http://schemas.openxmlformats.org/drawingml/2006/main">
            <a:r>
              <a:t>- E:/Git/endoflife/AGENTS.md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 AI as an accelerator inside a controlled engineering workflow. The runtime itself is standard Python; agent skills capture repeatable development and configuration practices. Provider logic is tested without network access, followed by a live smoke run.</a:t>
            </a:r>
          </a:p>
          <a:p xmlns:a="http://schemas.openxmlformats.org/drawingml/2006/main">
            <a:r>
              <a:t/>
            </a:r>
          </a:p>
          <a:p xmlns:a="http://schemas.openxmlformats.org/drawingml/2006/main">
            <a:r>
              <a:t>[Sources]</a:t>
            </a:r>
          </a:p>
          <a:p xmlns:a="http://schemas.openxmlformats.org/drawingml/2006/main">
            <a:r>
              <a:t>- E:/Git/endoflife/AGENTS.md</a:t>
            </a:r>
          </a:p>
          <a:p xmlns:a="http://schemas.openxmlformats.org/drawingml/2006/main">
            <a:r>
              <a:t>- E:/Git/endoflife/CLAUDE.md</a:t>
            </a:r>
          </a:p>
          <a:p xmlns:a="http://schemas.openxmlformats.org/drawingml/2006/main">
            <a:r>
              <a:t>- E:/Git/endoflife/.agents/skills/manage-eol-config/SKILL.md</a:t>
            </a:r>
          </a:p>
          <a:p xmlns:a="http://schemas.openxmlformats.org/drawingml/2006/main">
            <a:r>
              <a:t>- E:/Git/endoflife/docs/adding-a-provider.md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a concrete management decision. The codebase is ready for a pilot, but operational confidence depends on an end-to-end scheduled run and clear ownership. Ask for the first project and named owner rather than broad rollout approval.</a:t>
            </a:r>
          </a:p>
          <a:p xmlns:a="http://schemas.openxmlformats.org/drawingml/2006/main">
            <a:r>
              <a:t/>
            </a:r>
          </a:p>
          <a:p xmlns:a="http://schemas.openxmlformats.org/drawingml/2006/main">
            <a:r>
              <a:t>[Sources]</a:t>
            </a:r>
          </a:p>
          <a:p xmlns:a="http://schemas.openxmlformats.org/drawingml/2006/main">
            <a:r>
              <a:t>- E:/Git/endoflife/terraform/main.tf</a:t>
            </a:r>
          </a:p>
          <a:p xmlns:a="http://schemas.openxmlformats.org/drawingml/2006/main">
            <a:r>
              <a:t>- E:/Git/endoflife/terraform/variables.tf</a:t>
            </a:r>
          </a:p>
          <a:p xmlns:a="http://schemas.openxmlformats.org/drawingml/2006/main">
            <a:r>
              <a:t>- E:/Git/endoflife/docs/updating-a-config.md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15b324488c446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a187ab771804498" /><Relationship Type="http://schemas.openxmlformats.org/officeDocument/2006/relationships/slideLayout" Target="/ppt/slideLayouts/slideLayout1.xml" Id="R82100f773e5649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100f773e5649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f0b5f8965954d66" /><Relationship Type="http://schemas.openxmlformats.org/officeDocument/2006/relationships/notesSlide" Target="/ppt/notesSlides/notesSlide1.xml" Id="R0264e26ab22f47a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a9f218500d843dd" /><Relationship Type="http://schemas.openxmlformats.org/officeDocument/2006/relationships/notesSlide" Target="/ppt/notesSlides/notesSlide2.xml" Id="Rb8c3cae946dd4f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c420024ade14115" /><Relationship Type="http://schemas.openxmlformats.org/officeDocument/2006/relationships/notesSlide" Target="/ppt/notesSlides/notesSlide3.xml" Id="Rc31013c6fad047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f3e4f68867f420f" /><Relationship Type="http://schemas.openxmlformats.org/officeDocument/2006/relationships/notesSlide" Target="/ppt/notesSlides/notesSlide4.xml" Id="R00cc656c1460420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f2cb0fe20e24180" /><Relationship Type="http://schemas.openxmlformats.org/officeDocument/2006/relationships/notesSlide" Target="/ppt/notesSlides/notesSlide5.xml" Id="R316174a7c6a64a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e5f28e9571640fb" /><Relationship Type="http://schemas.openxmlformats.org/officeDocument/2006/relationships/notesSlide" Target="/ppt/notesSlides/notesSlide6.xml" Id="R2fa3b1122be346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c42639487f64b21" /><Relationship Type="http://schemas.openxmlformats.org/officeDocument/2006/relationships/notesSlide" Target="/ppt/notesSlides/notesSlide7.xml" Id="R13164dbebaca480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6df523dffb44f6c" /><Relationship Type="http://schemas.openxmlformats.org/officeDocument/2006/relationships/notesSlide" Target="/ppt/notesSlides/notesSlide8.xml" Id="R492409d2e45643b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6de62ec053d4a0b" /><Relationship Type="http://schemas.openxmlformats.org/officeDocument/2006/relationships/notesSlide" Target="/ppt/notesSlides/notesSlide9.xml" Id="R7c2593cbf2e94df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03ebe5805314543" /><Relationship Type="http://schemas.openxmlformats.org/officeDocument/2006/relationships/notesSlide" Target="/ppt/notesSlides/notesSlide10.xml" Id="R3aedf0d005aa40f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77E6649-23CF-42D7-A34B-8D5AC4F55D96}"/>
              </a:ext>
            </a:extLst>
          </p:cNvPr>
          <p:cNvSpPr>
            <a:spLocks xmlns:a="http://schemas.openxmlformats.org/drawingml/2006/main" noGrp="1"/>
          </p:cNvSpPr>
          <p:nvPr/>
        </p:nvSpPr>
        <p:spPr>
          <a:xfrm xmlns:a="http://schemas.openxmlformats.org/drawingml/2006/main">
            <a:off x="400050" y="3429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5F6670"/>
                </a:solidFill>
                <a:latin typeface="Arial"/>
                <a:ea typeface="Arial"/>
                <a:cs typeface="Arial"/>
              </a:defRPr>
            </a:pPr>
            <a:r>
              <a:rPr sz="1125" b="1">
                <a:solidFill>
                  <a:srgbClr val="5F6670"/>
                </a:solidFill>
                <a:latin typeface="Arial"/>
                <a:ea typeface="Arial"/>
                <a:cs typeface="Arial"/>
              </a:rPr>
              <a:t>PROJECT OVERVIEW &amp; DEMO</a:t>
            </a:r>
          </a:p>
        </p:txBody>
      </p:sp>
      <p:sp>
        <p:nvSpPr>
          <p:cNvPr id="2" name="">
            <a:extLst xmlns:a="http://schemas.openxmlformats.org/drawingml/2006/main">
              <a:ext uri="{FF2B5EF4-FFF2-40B4-BE49-F238E27FC236}">
                <a16:creationId xmlns:a16="http://schemas.microsoft.com/office/drawing/2014/main" id="{029D67B2-C44F-4878-A9F9-7DAB44AC94A4}"/>
              </a:ext>
            </a:extLst>
          </p:cNvPr>
          <p:cNvSpPr>
            <a:spLocks xmlns:a="http://schemas.openxmlformats.org/drawingml/2006/main" noGrp="1"/>
          </p:cNvSpPr>
          <p:nvPr/>
        </p:nvSpPr>
        <p:spPr>
          <a:xfrm xmlns:a="http://schemas.openxmlformats.org/drawingml/2006/main">
            <a:off x="400050" y="1543050"/>
            <a:ext cx="876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5400" b="1">
                <a:solidFill>
                  <a:srgbClr val="111111"/>
                </a:solidFill>
                <a:latin typeface="Arial"/>
                <a:ea typeface="Arial"/>
                <a:cs typeface="Arial"/>
              </a:defRPr>
            </a:pPr>
            <a:r>
              <a:rPr sz="5400" b="1">
                <a:solidFill>
                  <a:srgbClr val="111111"/>
                </a:solidFill>
                <a:latin typeface="Arial"/>
                <a:ea typeface="Arial"/>
                <a:cs typeface="Arial"/>
              </a:rPr>
              <a:t>Dependency</a:t>
            </a:r>
          </a:p>
          <a:p xmlns:a="http://schemas.openxmlformats.org/drawingml/2006/main">
            <a:pPr algn="l">
              <a:buNone/>
              <a:defRPr sz="5400" b="1">
                <a:solidFill>
                  <a:srgbClr val="111111"/>
                </a:solidFill>
                <a:latin typeface="Arial"/>
                <a:ea typeface="Arial"/>
                <a:cs typeface="Arial"/>
              </a:defRPr>
            </a:pPr>
            <a:r>
              <a:rPr sz="5400" b="1">
                <a:solidFill>
                  <a:srgbClr val="111111"/>
                </a:solidFill>
                <a:latin typeface="Arial"/>
                <a:ea typeface="Arial"/>
                <a:cs typeface="Arial"/>
              </a:rPr>
              <a:t>EOL Tracker</a:t>
            </a:r>
          </a:p>
        </p:txBody>
      </p:sp>
      <p:sp>
        <p:nvSpPr>
          <p:cNvPr id="3" name="">
            <a:extLst xmlns:a="http://schemas.openxmlformats.org/drawingml/2006/main">
              <a:ext uri="{FF2B5EF4-FFF2-40B4-BE49-F238E27FC236}">
                <a16:creationId xmlns:a16="http://schemas.microsoft.com/office/drawing/2014/main" id="{A047D0F2-3C30-4A6B-BCB9-8FE97BB5D5DB}"/>
              </a:ext>
            </a:extLst>
          </p:cNvPr>
          <p:cNvSpPr>
            <a:spLocks xmlns:a="http://schemas.openxmlformats.org/drawingml/2006/main" noGrp="1"/>
          </p:cNvSpPr>
          <p:nvPr/>
        </p:nvSpPr>
        <p:spPr>
          <a:xfrm xmlns:a="http://schemas.openxmlformats.org/drawingml/2006/main">
            <a:off x="400050" y="3695700"/>
            <a:ext cx="19050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BDC00BF-B2A4-414F-A70C-EAE0327C4362}"/>
              </a:ext>
            </a:extLst>
          </p:cNvPr>
          <p:cNvSpPr>
            <a:spLocks xmlns:a="http://schemas.openxmlformats.org/drawingml/2006/main" noGrp="1"/>
          </p:cNvSpPr>
          <p:nvPr/>
        </p:nvSpPr>
        <p:spPr>
          <a:xfrm xmlns:a="http://schemas.openxmlformats.org/drawingml/2006/main">
            <a:off x="400050" y="4095750"/>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250" b="0">
                <a:solidFill>
                  <a:srgbClr val="5F6670"/>
                </a:solidFill>
                <a:latin typeface="Arial"/>
                <a:ea typeface="Arial"/>
                <a:cs typeface="Arial"/>
              </a:defRPr>
            </a:pPr>
            <a:r>
              <a:rPr sz="2250" b="0">
                <a:solidFill>
                  <a:srgbClr val="5F6670"/>
                </a:solidFill>
                <a:latin typeface="Arial"/>
                <a:ea typeface="Arial"/>
                <a:cs typeface="Arial"/>
              </a:rPr>
              <a:t>A repeatable way to see lifecycle risk before it becomes delivery risk</a:t>
            </a:r>
          </a:p>
        </p:txBody>
      </p:sp>
      <p:sp>
        <p:nvSpPr>
          <p:cNvPr id="5" name="">
            <a:extLst xmlns:a="http://schemas.openxmlformats.org/drawingml/2006/main">
              <a:ext uri="{FF2B5EF4-FFF2-40B4-BE49-F238E27FC236}">
                <a16:creationId xmlns:a16="http://schemas.microsoft.com/office/drawing/2014/main" id="{09709CD5-7BA3-453B-B3DC-28F4DCA76FD8}"/>
              </a:ext>
            </a:extLst>
          </p:cNvPr>
          <p:cNvSpPr>
            <a:spLocks xmlns:a="http://schemas.openxmlformats.org/drawingml/2006/main" noGrp="1"/>
          </p:cNvSpPr>
          <p:nvPr/>
        </p:nvSpPr>
        <p:spPr>
          <a:xfrm xmlns:a="http://schemas.openxmlformats.org/drawingml/2006/main">
            <a:off x="400050" y="57531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l">
              <a:buNone/>
              <a:defRPr sz="1500" b="1">
                <a:solidFill>
                  <a:srgbClr val="111111"/>
                </a:solidFill>
                <a:latin typeface="Arial"/>
                <a:ea typeface="Arial"/>
                <a:cs typeface="Arial"/>
              </a:defRPr>
            </a:pPr>
            <a:r>
              <a:rPr sz="1500" b="1">
                <a:solidFill>
                  <a:srgbClr val="111111"/>
                </a:solidFill>
                <a:latin typeface="Arial"/>
                <a:ea typeface="Arial"/>
                <a:cs typeface="Arial"/>
              </a:rPr>
              <a:t>Technical consultant</a:t>
            </a:r>
          </a:p>
        </p:txBody>
      </p:sp>
      <p:sp>
        <p:nvSpPr>
          <p:cNvPr id="6" name="">
            <a:extLst xmlns:a="http://schemas.openxmlformats.org/drawingml/2006/main">
              <a:ext uri="{FF2B5EF4-FFF2-40B4-BE49-F238E27FC236}">
                <a16:creationId xmlns:a16="http://schemas.microsoft.com/office/drawing/2014/main" id="{0E912834-F318-4A97-AFC2-97A832448548}"/>
              </a:ext>
            </a:extLst>
          </p:cNvPr>
          <p:cNvSpPr>
            <a:spLocks xmlns:a="http://schemas.openxmlformats.org/drawingml/2006/main" noGrp="1"/>
          </p:cNvSpPr>
          <p:nvPr/>
        </p:nvSpPr>
        <p:spPr>
          <a:xfrm xmlns:a="http://schemas.openxmlformats.org/drawingml/2006/main">
            <a:off x="400050" y="60960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l">
              <a:buNone/>
              <a:defRPr sz="1275" b="0">
                <a:solidFill>
                  <a:srgbClr val="5F6670"/>
                </a:solidFill>
                <a:latin typeface="Arial"/>
                <a:ea typeface="Arial"/>
                <a:cs typeface="Arial"/>
              </a:defRPr>
            </a:pPr>
            <a:r>
              <a:rPr sz="1275" b="0">
                <a:solidFill>
                  <a:srgbClr val="5F6670"/>
                </a:solidFill>
                <a:latin typeface="Arial"/>
                <a:ea typeface="Arial"/>
                <a:cs typeface="Arial"/>
              </a:rPr>
              <a:t>Project managers</a:t>
            </a:r>
          </a:p>
        </p:txBody>
      </p:sp>
      <p:sp>
        <p:nvSpPr>
          <p:cNvPr id="7" name="">
            <a:extLst xmlns:a="http://schemas.openxmlformats.org/drawingml/2006/main">
              <a:ext uri="{FF2B5EF4-FFF2-40B4-BE49-F238E27FC236}">
                <a16:creationId xmlns:a16="http://schemas.microsoft.com/office/drawing/2014/main" id="{D9B040D7-4D0E-4CBC-9A17-D2246721D9F4}"/>
              </a:ext>
            </a:extLst>
          </p:cNvPr>
          <p:cNvSpPr>
            <a:spLocks xmlns:a="http://schemas.openxmlformats.org/drawingml/2006/main" noGrp="1"/>
          </p:cNvSpPr>
          <p:nvPr/>
        </p:nvSpPr>
        <p:spPr>
          <a:xfrm xmlns:a="http://schemas.openxmlformats.org/drawingml/2006/main">
            <a:off x="11277600" y="64008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r">
              <a:buNone/>
              <a:defRPr sz="1125" b="0">
                <a:solidFill>
                  <a:srgbClr val="5F6670"/>
                </a:solidFill>
                <a:latin typeface="Arial"/>
                <a:ea typeface="Arial"/>
                <a:cs typeface="Arial"/>
              </a:defRPr>
            </a:pPr>
            <a:r>
              <a:rPr sz="1125" b="0">
                <a:solidFill>
                  <a:srgbClr val="5F6670"/>
                </a:solidFill>
                <a:latin typeface="Arial"/>
                <a:ea typeface="Arial"/>
                <a:cs typeface="Arial"/>
              </a:rPr>
              <a:t>01</a:t>
            </a:r>
          </a:p>
        </p:txBody>
      </p:sp>
    </p:spTree>
    <p:extLst>
      <p:ext uri="{BB962C8B-B14F-4D97-AF65-F5344CB8AC3E}">
        <p14:creationId xmlns:p14="http://schemas.microsoft.com/office/powerpoint/2010/main" val="16910825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8E1C32E-EE05-4D2B-97F9-3CE7096CA2F3}"/>
              </a:ext>
            </a:extLst>
          </p:cNvPr>
          <p:cNvSpPr>
            <a:spLocks xmlns:a="http://schemas.openxmlformats.org/drawingml/2006/main" noGrp="1"/>
          </p:cNvSpPr>
          <p:nvPr/>
        </p:nvSpPr>
        <p:spPr>
          <a:xfrm xmlns:a="http://schemas.openxmlformats.org/drawingml/2006/main">
            <a:off x="400050" y="285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l">
              <a:buNone/>
              <a:defRPr sz="1125" b="1">
                <a:solidFill>
                  <a:srgbClr val="5F6670"/>
                </a:solidFill>
                <a:latin typeface="Arial"/>
                <a:ea typeface="Arial"/>
                <a:cs typeface="Arial"/>
              </a:defRPr>
            </a:pPr>
            <a:r>
              <a:rPr sz="1125" b="1">
                <a:solidFill>
                  <a:srgbClr val="5F6670"/>
                </a:solidFill>
                <a:latin typeface="Arial"/>
                <a:ea typeface="Arial"/>
                <a:cs typeface="Arial"/>
              </a:rPr>
              <a:t>DEPENDENCY EOL TRACKER</a:t>
            </a:r>
          </a:p>
        </p:txBody>
      </p:sp>
      <p:sp>
        <p:nvSpPr>
          <p:cNvPr id="2" name="slide-2-title">
            <a:extLst xmlns:a="http://schemas.openxmlformats.org/drawingml/2006/main">
              <a:ext uri="{FF2B5EF4-FFF2-40B4-BE49-F238E27FC236}">
                <a16:creationId xmlns:a16="http://schemas.microsoft.com/office/drawing/2014/main" id="{06D5DD1B-519C-44BA-BC09-062E2B5CB8B6}"/>
              </a:ext>
            </a:extLst>
          </p:cNvPr>
          <p:cNvSpPr>
            <a:spLocks xmlns:a="http://schemas.openxmlformats.org/drawingml/2006/main" noGrp="1"/>
          </p:cNvSpPr>
          <p:nvPr/>
        </p:nvSpPr>
        <p:spPr>
          <a:xfrm xmlns:a="http://schemas.openxmlformats.org/drawingml/2006/main">
            <a:off x="400050" y="6286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525" b="1">
                <a:solidFill>
                  <a:srgbClr val="111111"/>
                </a:solidFill>
                <a:latin typeface="Arial"/>
                <a:ea typeface="Arial"/>
                <a:cs typeface="Arial"/>
              </a:defRPr>
            </a:pPr>
            <a:r>
              <a:rPr sz="3525" b="1">
                <a:solidFill>
                  <a:srgbClr val="111111"/>
                </a:solidFill>
                <a:latin typeface="Arial"/>
                <a:ea typeface="Arial"/>
                <a:cs typeface="Arial"/>
              </a:rPr>
              <a:t>Manual link-checking hides risk in plain sight</a:t>
            </a:r>
          </a:p>
        </p:txBody>
      </p:sp>
      <p:sp>
        <p:nvSpPr>
          <p:cNvPr id="3" name="">
            <a:extLst xmlns:a="http://schemas.openxmlformats.org/drawingml/2006/main">
              <a:ext uri="{FF2B5EF4-FFF2-40B4-BE49-F238E27FC236}">
                <a16:creationId xmlns:a16="http://schemas.microsoft.com/office/drawing/2014/main" id="{869657B0-7DC7-45E9-BE90-775949F7364F}"/>
              </a:ext>
            </a:extLst>
          </p:cNvPr>
          <p:cNvSpPr>
            <a:spLocks xmlns:a="http://schemas.openxmlformats.org/drawingml/2006/main" noGrp="1"/>
          </p:cNvSpPr>
          <p:nvPr/>
        </p:nvSpPr>
        <p:spPr>
          <a:xfrm xmlns:a="http://schemas.openxmlformats.org/drawingml/2006/main">
            <a:off x="11277600" y="64008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r">
              <a:buNone/>
              <a:defRPr sz="1125" b="0">
                <a:solidFill>
                  <a:srgbClr val="5F6670"/>
                </a:solidFill>
                <a:latin typeface="Arial"/>
                <a:ea typeface="Arial"/>
                <a:cs typeface="Arial"/>
              </a:defRPr>
            </a:pPr>
            <a:r>
              <a:rPr sz="1125" b="0">
                <a:solidFill>
                  <a:srgbClr val="5F6670"/>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AA0AC74F-06A4-495B-B16D-16EBD70A335F}"/>
              </a:ext>
            </a:extLst>
          </p:cNvPr>
          <p:cNvSpPr>
            <a:spLocks xmlns:a="http://schemas.openxmlformats.org/drawingml/2006/main" noGrp="1"/>
          </p:cNvSpPr>
          <p:nvPr/>
        </p:nvSpPr>
        <p:spPr>
          <a:xfrm xmlns:a="http://schemas.openxmlformats.org/drawingml/2006/main">
            <a:off x="6096000" y="1562100"/>
            <a:ext cx="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882107F9-501E-4418-9536-D1C26CB7056E}"/>
              </a:ext>
            </a:extLst>
          </p:cNvPr>
          <p:cNvSpPr>
            <a:spLocks xmlns:a="http://schemas.openxmlformats.org/drawingml/2006/main" noGrp="1"/>
          </p:cNvSpPr>
          <p:nvPr/>
        </p:nvSpPr>
        <p:spPr>
          <a:xfrm xmlns:a="http://schemas.openxmlformats.org/drawingml/2006/main">
            <a:off x="381000" y="1562100"/>
            <a:ext cx="5448300" cy="4343400"/>
          </a:xfrm>
          <a:prstGeom xmlns:a="http://schemas.openxmlformats.org/drawingml/2006/main" prst="rect">
            <a:avLst/>
          </a:prstGeom>
          <a:solidFill xmlns:a="http://schemas.openxmlformats.org/drawingml/2006/main">
            <a:srgbClr val="F1F2F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EB43D24-F5E0-4654-B85E-28975647145E}"/>
              </a:ext>
            </a:extLst>
          </p:cNvPr>
          <p:cNvSpPr>
            <a:spLocks xmlns:a="http://schemas.openxmlformats.org/drawingml/2006/main" noGrp="1"/>
          </p:cNvSpPr>
          <p:nvPr/>
        </p:nvSpPr>
        <p:spPr>
          <a:xfrm xmlns:a="http://schemas.openxmlformats.org/drawingml/2006/main">
            <a:off x="6362700" y="1562100"/>
            <a:ext cx="5448300" cy="43434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9D4CC347-74CE-4F41-9586-A748C9589214}"/>
              </a:ext>
            </a:extLst>
          </p:cNvPr>
          <p:cNvSpPr>
            <a:spLocks xmlns:a="http://schemas.openxmlformats.org/drawingml/2006/main" noGrp="1"/>
          </p:cNvSpPr>
          <p:nvPr/>
        </p:nvSpPr>
        <p:spPr>
          <a:xfrm xmlns:a="http://schemas.openxmlformats.org/drawingml/2006/main">
            <a:off x="685800" y="1866900"/>
            <a:ext cx="1333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208"/>
          </a:bodyPr>
          <a:lstStyle xmlns:a="http://schemas.openxmlformats.org/drawingml/2006/main"/>
          <a:p xmlns:a="http://schemas.openxmlformats.org/drawingml/2006/main">
            <a:pPr algn="l">
              <a:buNone/>
              <a:defRPr sz="1200" b="1">
                <a:solidFill>
                  <a:srgbClr val="5F6670"/>
                </a:solidFill>
                <a:latin typeface="Arial"/>
                <a:ea typeface="Arial"/>
                <a:cs typeface="Arial"/>
              </a:defRPr>
            </a:pPr>
            <a:r>
              <a:rPr sz="1200" b="1">
                <a:solidFill>
                  <a:srgbClr val="5F6670"/>
                </a:solidFill>
                <a:latin typeface="Arial"/>
                <a:ea typeface="Arial"/>
                <a:cs typeface="Arial"/>
              </a:rPr>
              <a:t>TODAY</a:t>
            </a:r>
          </a:p>
        </p:txBody>
      </p:sp>
      <p:sp>
        <p:nvSpPr>
          <p:cNvPr id="8" name="">
            <a:extLst xmlns:a="http://schemas.openxmlformats.org/drawingml/2006/main">
              <a:ext uri="{FF2B5EF4-FFF2-40B4-BE49-F238E27FC236}">
                <a16:creationId xmlns:a16="http://schemas.microsoft.com/office/drawing/2014/main" id="{AFFA3169-BE08-4E9D-AB34-937775A06F41}"/>
              </a:ext>
            </a:extLst>
          </p:cNvPr>
          <p:cNvSpPr>
            <a:spLocks xmlns:a="http://schemas.openxmlformats.org/drawingml/2006/main" noGrp="1"/>
          </p:cNvSpPr>
          <p:nvPr/>
        </p:nvSpPr>
        <p:spPr>
          <a:xfrm xmlns:a="http://schemas.openxmlformats.org/drawingml/2006/main">
            <a:off x="685800" y="2266950"/>
            <a:ext cx="4476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863"/>
          </a:bodyPr>
          <a:lstStyle xmlns:a="http://schemas.openxmlformats.org/drawingml/2006/main"/>
          <a:p xmlns:a="http://schemas.openxmlformats.org/drawingml/2006/main">
            <a:pPr algn="l">
              <a:buNone/>
              <a:defRPr sz="2325" b="1">
                <a:solidFill>
                  <a:srgbClr val="111111"/>
                </a:solidFill>
                <a:latin typeface="Arial"/>
                <a:ea typeface="Arial"/>
                <a:cs typeface="Arial"/>
              </a:defRPr>
            </a:pPr>
            <a:r>
              <a:rPr sz="2325" b="1">
                <a:solidFill>
                  <a:srgbClr val="111111"/>
                </a:solidFill>
                <a:latin typeface="Arial"/>
                <a:ea typeface="Arial"/>
                <a:cs typeface="Arial"/>
              </a:rPr>
              <a:t>The </a:t>
            </a:r>
            <a:r>
              <a:rPr sz="2325" b="1">
                <a:solidFill>
                  <a:srgbClr val="111111"/>
                </a:solidFill>
                <a:latin typeface="Arial"/>
                <a:ea typeface="Arial"/>
                <a:cs typeface="Arial"/>
              </a:rPr>
              <a:t>operations team</a:t>
            </a:r>
            <a:r>
              <a:rPr sz="2325" b="1">
                <a:solidFill>
                  <a:srgbClr val="111111"/>
                </a:solidFill>
                <a:latin typeface="Arial"/>
                <a:ea typeface="Arial"/>
                <a:cs typeface="Arial"/>
              </a:rPr>
              <a:t> repeatedly opens links and re-checks dates.</a:t>
            </a:r>
          </a:p>
        </p:txBody>
      </p:sp>
      <p:sp>
        <p:nvSpPr>
          <p:cNvPr id="9" name="">
            <a:extLst xmlns:a="http://schemas.openxmlformats.org/drawingml/2006/main">
              <a:ext uri="{FF2B5EF4-FFF2-40B4-BE49-F238E27FC236}">
                <a16:creationId xmlns:a16="http://schemas.microsoft.com/office/drawing/2014/main" id="{193775FD-138A-4F7C-946C-5808911C5D12}"/>
              </a:ext>
            </a:extLst>
          </p:cNvPr>
          <p:cNvSpPr>
            <a:spLocks xmlns:a="http://schemas.openxmlformats.org/drawingml/2006/main" noGrp="1"/>
          </p:cNvSpPr>
          <p:nvPr/>
        </p:nvSpPr>
        <p:spPr>
          <a:xfrm xmlns:a="http://schemas.openxmlformats.org/drawingml/2006/main">
            <a:off x="685800" y="361950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C8793B0-9671-479C-8A8F-22B578FA1E49}"/>
              </a:ext>
            </a:extLst>
          </p:cNvPr>
          <p:cNvSpPr>
            <a:spLocks xmlns:a="http://schemas.openxmlformats.org/drawingml/2006/main" noGrp="1"/>
          </p:cNvSpPr>
          <p:nvPr/>
        </p:nvSpPr>
        <p:spPr>
          <a:xfrm xmlns:a="http://schemas.openxmlformats.org/drawingml/2006/main">
            <a:off x="914400" y="3524250"/>
            <a:ext cx="4248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Knowledge sits across files, pages and bookmarks</a:t>
            </a:r>
          </a:p>
        </p:txBody>
      </p:sp>
      <p:sp>
        <p:nvSpPr>
          <p:cNvPr id="11" name="">
            <a:extLst xmlns:a="http://schemas.openxmlformats.org/drawingml/2006/main">
              <a:ext uri="{FF2B5EF4-FFF2-40B4-BE49-F238E27FC236}">
                <a16:creationId xmlns:a16="http://schemas.microsoft.com/office/drawing/2014/main" id="{C0DB9C36-519C-498B-BCC1-F40C3F61921B}"/>
              </a:ext>
            </a:extLst>
          </p:cNvPr>
          <p:cNvSpPr>
            <a:spLocks xmlns:a="http://schemas.openxmlformats.org/drawingml/2006/main" noGrp="1"/>
          </p:cNvSpPr>
          <p:nvPr/>
        </p:nvSpPr>
        <p:spPr>
          <a:xfrm xmlns:a="http://schemas.openxmlformats.org/drawingml/2006/main">
            <a:off x="685800" y="424815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52C895C-EBEF-43F3-A097-B140D1B992F8}"/>
              </a:ext>
            </a:extLst>
          </p:cNvPr>
          <p:cNvSpPr>
            <a:spLocks xmlns:a="http://schemas.openxmlformats.org/drawingml/2006/main" noGrp="1"/>
          </p:cNvSpPr>
          <p:nvPr/>
        </p:nvSpPr>
        <p:spPr>
          <a:xfrm xmlns:a="http://schemas.openxmlformats.org/drawingml/2006/main">
            <a:off x="914400" y="4152900"/>
            <a:ext cx="4248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Every review repeats the same navigation</a:t>
            </a:r>
          </a:p>
        </p:txBody>
      </p:sp>
      <p:sp>
        <p:nvSpPr>
          <p:cNvPr id="13" name="">
            <a:extLst xmlns:a="http://schemas.openxmlformats.org/drawingml/2006/main">
              <a:ext uri="{FF2B5EF4-FFF2-40B4-BE49-F238E27FC236}">
                <a16:creationId xmlns:a16="http://schemas.microsoft.com/office/drawing/2014/main" id="{974D9571-444F-46AC-BF87-676504E5CD1C}"/>
              </a:ext>
            </a:extLst>
          </p:cNvPr>
          <p:cNvSpPr>
            <a:spLocks xmlns:a="http://schemas.openxmlformats.org/drawingml/2006/main" noGrp="1"/>
          </p:cNvSpPr>
          <p:nvPr/>
        </p:nvSpPr>
        <p:spPr>
          <a:xfrm xmlns:a="http://schemas.openxmlformats.org/drawingml/2006/main">
            <a:off x="685800" y="487680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A8DF426-15E7-43FA-8DAB-4479081CD37B}"/>
              </a:ext>
            </a:extLst>
          </p:cNvPr>
          <p:cNvSpPr>
            <a:spLocks xmlns:a="http://schemas.openxmlformats.org/drawingml/2006/main" noGrp="1"/>
          </p:cNvSpPr>
          <p:nvPr/>
        </p:nvSpPr>
        <p:spPr>
          <a:xfrm xmlns:a="http://schemas.openxmlformats.org/drawingml/2006/main">
            <a:off x="914400" y="4781550"/>
            <a:ext cx="4248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Manual process: navigate to each source page and check it individually</a:t>
            </a:r>
          </a:p>
        </p:txBody>
      </p:sp>
      <p:sp>
        <p:nvSpPr>
          <p:cNvPr id="15" name="">
            <a:extLst xmlns:a="http://schemas.openxmlformats.org/drawingml/2006/main">
              <a:ext uri="{FF2B5EF4-FFF2-40B4-BE49-F238E27FC236}">
                <a16:creationId xmlns:a16="http://schemas.microsoft.com/office/drawing/2014/main" id="{71E98129-5E07-4C3F-A3C3-B589B867FBB7}"/>
              </a:ext>
            </a:extLst>
          </p:cNvPr>
          <p:cNvSpPr>
            <a:spLocks xmlns:a="http://schemas.openxmlformats.org/drawingml/2006/main" noGrp="1"/>
          </p:cNvSpPr>
          <p:nvPr/>
        </p:nvSpPr>
        <p:spPr>
          <a:xfrm xmlns:a="http://schemas.openxmlformats.org/drawingml/2006/main">
            <a:off x="6667500" y="1866900"/>
            <a:ext cx="190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208"/>
          </a:bodyPr>
          <a:lstStyle xmlns:a="http://schemas.openxmlformats.org/drawingml/2006/main"/>
          <a:p xmlns:a="http://schemas.openxmlformats.org/drawingml/2006/main">
            <a:pPr algn="l">
              <a:buNone/>
              <a:defRPr sz="1200" b="1">
                <a:solidFill>
                  <a:srgbClr val="5F6670"/>
                </a:solidFill>
                <a:latin typeface="Arial"/>
                <a:ea typeface="Arial"/>
                <a:cs typeface="Arial"/>
              </a:defRPr>
            </a:pPr>
            <a:r>
              <a:rPr sz="1200" b="1">
                <a:solidFill>
                  <a:srgbClr val="5F6670"/>
                </a:solidFill>
                <a:latin typeface="Arial"/>
                <a:ea typeface="Arial"/>
                <a:cs typeface="Arial"/>
              </a:rPr>
              <a:t>PROJECT IMPACT</a:t>
            </a:r>
          </a:p>
        </p:txBody>
      </p:sp>
      <p:sp>
        <p:nvSpPr>
          <p:cNvPr id="16" name="">
            <a:extLst xmlns:a="http://schemas.openxmlformats.org/drawingml/2006/main">
              <a:ext uri="{FF2B5EF4-FFF2-40B4-BE49-F238E27FC236}">
                <a16:creationId xmlns:a16="http://schemas.microsoft.com/office/drawing/2014/main" id="{9B337724-C3BC-419C-99D6-2DC53E3BB77C}"/>
              </a:ext>
            </a:extLst>
          </p:cNvPr>
          <p:cNvSpPr>
            <a:spLocks xmlns:a="http://schemas.openxmlformats.org/drawingml/2006/main" noGrp="1"/>
          </p:cNvSpPr>
          <p:nvPr/>
        </p:nvSpPr>
        <p:spPr>
          <a:xfrm xmlns:a="http://schemas.openxmlformats.org/drawingml/2006/main">
            <a:off x="6667500" y="2266950"/>
            <a:ext cx="428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624"/>
          </a:bodyPr>
          <a:lstStyle xmlns:a="http://schemas.openxmlformats.org/drawingml/2006/main"/>
          <a:p xmlns:a="http://schemas.openxmlformats.org/drawingml/2006/main">
            <a:pPr algn="l">
              <a:buNone/>
              <a:defRPr sz="2325" b="1">
                <a:solidFill>
                  <a:srgbClr val="111111"/>
                </a:solidFill>
                <a:latin typeface="Arial"/>
                <a:ea typeface="Arial"/>
                <a:cs typeface="Arial"/>
              </a:defRPr>
            </a:pPr>
            <a:r>
              <a:rPr sz="2325" b="1">
                <a:solidFill>
                  <a:srgbClr val="111111"/>
                </a:solidFill>
                <a:latin typeface="Arial"/>
                <a:ea typeface="Arial"/>
                <a:cs typeface="Arial"/>
              </a:rPr>
              <a:t>A stale date becomes a planning surprise.</a:t>
            </a:r>
          </a:p>
        </p:txBody>
      </p:sp>
      <p:sp>
        <p:nvSpPr>
          <p:cNvPr id="17" name="">
            <a:extLst xmlns:a="http://schemas.openxmlformats.org/drawingml/2006/main">
              <a:ext uri="{FF2B5EF4-FFF2-40B4-BE49-F238E27FC236}">
                <a16:creationId xmlns:a16="http://schemas.microsoft.com/office/drawing/2014/main" id="{EB19E516-BB8F-40EB-8472-631833FCC546}"/>
              </a:ext>
            </a:extLst>
          </p:cNvPr>
          <p:cNvSpPr>
            <a:spLocks xmlns:a="http://schemas.openxmlformats.org/drawingml/2006/main" noGrp="1"/>
          </p:cNvSpPr>
          <p:nvPr/>
        </p:nvSpPr>
        <p:spPr>
          <a:xfrm xmlns:a="http://schemas.openxmlformats.org/drawingml/2006/main">
            <a:off x="6667500" y="3619500"/>
            <a:ext cx="95250" cy="95250"/>
          </a:xfrm>
          <a:prstGeom xmlns:a="http://schemas.openxmlformats.org/drawingml/2006/main" prst="rect">
            <a:avLst/>
          </a:prstGeom>
          <a:solidFill xmlns:a="http://schemas.openxmlformats.org/drawingml/2006/main">
            <a:srgbClr val="F57C0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99003BE-569C-4DA9-9FFE-817DA568D215}"/>
              </a:ext>
            </a:extLst>
          </p:cNvPr>
          <p:cNvSpPr>
            <a:spLocks xmlns:a="http://schemas.openxmlformats.org/drawingml/2006/main" noGrp="1"/>
          </p:cNvSpPr>
          <p:nvPr/>
        </p:nvSpPr>
        <p:spPr>
          <a:xfrm xmlns:a="http://schemas.openxmlformats.org/drawingml/2006/main">
            <a:off x="6896100" y="3524250"/>
            <a:ext cx="4248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Upgrade work can arrive after plans are committed</a:t>
            </a:r>
          </a:p>
        </p:txBody>
      </p:sp>
      <p:sp>
        <p:nvSpPr>
          <p:cNvPr id="19" name="">
            <a:extLst xmlns:a="http://schemas.openxmlformats.org/drawingml/2006/main">
              <a:ext uri="{FF2B5EF4-FFF2-40B4-BE49-F238E27FC236}">
                <a16:creationId xmlns:a16="http://schemas.microsoft.com/office/drawing/2014/main" id="{0D4F90DF-699A-4CA2-B29E-10371DC2D549}"/>
              </a:ext>
            </a:extLst>
          </p:cNvPr>
          <p:cNvSpPr>
            <a:spLocks xmlns:a="http://schemas.openxmlformats.org/drawingml/2006/main" noGrp="1"/>
          </p:cNvSpPr>
          <p:nvPr/>
        </p:nvSpPr>
        <p:spPr>
          <a:xfrm xmlns:a="http://schemas.openxmlformats.org/drawingml/2006/main">
            <a:off x="6667500" y="4248150"/>
            <a:ext cx="95250" cy="95250"/>
          </a:xfrm>
          <a:prstGeom xmlns:a="http://schemas.openxmlformats.org/drawingml/2006/main" prst="rect">
            <a:avLst/>
          </a:prstGeom>
          <a:solidFill xmlns:a="http://schemas.openxmlformats.org/drawingml/2006/main">
            <a:srgbClr val="F57C0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6B9E5AD-64D8-439F-A717-3AC0104167AD}"/>
              </a:ext>
            </a:extLst>
          </p:cNvPr>
          <p:cNvSpPr>
            <a:spLocks xmlns:a="http://schemas.openxmlformats.org/drawingml/2006/main" noGrp="1"/>
          </p:cNvSpPr>
          <p:nvPr/>
        </p:nvSpPr>
        <p:spPr>
          <a:xfrm xmlns:a="http://schemas.openxmlformats.org/drawingml/2006/main">
            <a:off x="6896100" y="4152900"/>
            <a:ext cx="4248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Different projects track different levels of detail</a:t>
            </a:r>
          </a:p>
        </p:txBody>
      </p:sp>
      <p:sp>
        <p:nvSpPr>
          <p:cNvPr id="21" name="">
            <a:extLst xmlns:a="http://schemas.openxmlformats.org/drawingml/2006/main">
              <a:ext uri="{FF2B5EF4-FFF2-40B4-BE49-F238E27FC236}">
                <a16:creationId xmlns:a16="http://schemas.microsoft.com/office/drawing/2014/main" id="{E4385C1D-9C3D-40A9-9175-96FDD6B63FF4}"/>
              </a:ext>
            </a:extLst>
          </p:cNvPr>
          <p:cNvSpPr>
            <a:spLocks xmlns:a="http://schemas.openxmlformats.org/drawingml/2006/main" noGrp="1"/>
          </p:cNvSpPr>
          <p:nvPr/>
        </p:nvSpPr>
        <p:spPr>
          <a:xfrm xmlns:a="http://schemas.openxmlformats.org/drawingml/2006/main">
            <a:off x="6667500" y="4876800"/>
            <a:ext cx="95250" cy="95250"/>
          </a:xfrm>
          <a:prstGeom xmlns:a="http://schemas.openxmlformats.org/drawingml/2006/main" prst="rect">
            <a:avLst/>
          </a:prstGeom>
          <a:solidFill xmlns:a="http://schemas.openxmlformats.org/drawingml/2006/main">
            <a:srgbClr val="F57C0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83C7E2F-3082-4C6D-8B30-29B1A28C7786}"/>
              </a:ext>
            </a:extLst>
          </p:cNvPr>
          <p:cNvSpPr>
            <a:spLocks xmlns:a="http://schemas.openxmlformats.org/drawingml/2006/main" noGrp="1"/>
          </p:cNvSpPr>
          <p:nvPr/>
        </p:nvSpPr>
        <p:spPr>
          <a:xfrm xmlns:a="http://schemas.openxmlformats.org/drawingml/2006/main">
            <a:off x="6896100" y="4781550"/>
            <a:ext cx="4248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There is no consistent monthly evidence trail</a:t>
            </a:r>
          </a:p>
        </p:txBody>
      </p:sp>
    </p:spTree>
    <p:extLst>
      <p:ext uri="{BB962C8B-B14F-4D97-AF65-F5344CB8AC3E}">
        <p14:creationId xmlns:p14="http://schemas.microsoft.com/office/powerpoint/2010/main" val="6817067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677C0DE-3AEB-47B7-AF8C-E2C557DA0692}"/>
              </a:ext>
            </a:extLst>
          </p:cNvPr>
          <p:cNvSpPr>
            <a:spLocks xmlns:a="http://schemas.openxmlformats.org/drawingml/2006/main" noGrp="1"/>
          </p:cNvSpPr>
          <p:nvPr/>
        </p:nvSpPr>
        <p:spPr>
          <a:xfrm xmlns:a="http://schemas.openxmlformats.org/drawingml/2006/main">
            <a:off x="400050" y="285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l">
              <a:buNone/>
              <a:defRPr sz="1125" b="1">
                <a:solidFill>
                  <a:srgbClr val="5F6670"/>
                </a:solidFill>
                <a:latin typeface="Arial"/>
                <a:ea typeface="Arial"/>
                <a:cs typeface="Arial"/>
              </a:defRPr>
            </a:pPr>
            <a:r>
              <a:rPr sz="1125" b="1">
                <a:solidFill>
                  <a:srgbClr val="5F6670"/>
                </a:solidFill>
                <a:latin typeface="Arial"/>
                <a:ea typeface="Arial"/>
                <a:cs typeface="Arial"/>
              </a:rPr>
              <a:t>DEPENDENCY EOL TRACKER</a:t>
            </a:r>
          </a:p>
        </p:txBody>
      </p:sp>
      <p:sp>
        <p:nvSpPr>
          <p:cNvPr id="2" name="slide-3-title">
            <a:extLst xmlns:a="http://schemas.openxmlformats.org/drawingml/2006/main">
              <a:ext uri="{FF2B5EF4-FFF2-40B4-BE49-F238E27FC236}">
                <a16:creationId xmlns:a16="http://schemas.microsoft.com/office/drawing/2014/main" id="{05DE3C56-9269-432F-8CAD-E7308C597BD5}"/>
              </a:ext>
            </a:extLst>
          </p:cNvPr>
          <p:cNvSpPr>
            <a:spLocks xmlns:a="http://schemas.openxmlformats.org/drawingml/2006/main" noGrp="1"/>
          </p:cNvSpPr>
          <p:nvPr/>
        </p:nvSpPr>
        <p:spPr>
          <a:xfrm xmlns:a="http://schemas.openxmlformats.org/drawingml/2006/main">
            <a:off x="400050" y="6286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525" b="1">
                <a:solidFill>
                  <a:srgbClr val="111111"/>
                </a:solidFill>
                <a:latin typeface="Arial"/>
                <a:ea typeface="Arial"/>
                <a:cs typeface="Arial"/>
              </a:defRPr>
            </a:pPr>
            <a:r>
              <a:rPr sz="3525" b="1">
                <a:solidFill>
                  <a:srgbClr val="111111"/>
                </a:solidFill>
                <a:latin typeface="Arial"/>
                <a:ea typeface="Arial"/>
                <a:cs typeface="Arial"/>
              </a:rPr>
              <a:t>Two jobs become one repeatable control</a:t>
            </a:r>
          </a:p>
        </p:txBody>
      </p:sp>
      <p:sp>
        <p:nvSpPr>
          <p:cNvPr id="3" name="">
            <a:extLst xmlns:a="http://schemas.openxmlformats.org/drawingml/2006/main">
              <a:ext uri="{FF2B5EF4-FFF2-40B4-BE49-F238E27FC236}">
                <a16:creationId xmlns:a16="http://schemas.microsoft.com/office/drawing/2014/main" id="{5459F0D2-BCF0-4C7A-B89E-375731D1F975}"/>
              </a:ext>
            </a:extLst>
          </p:cNvPr>
          <p:cNvSpPr>
            <a:spLocks xmlns:a="http://schemas.openxmlformats.org/drawingml/2006/main" noGrp="1"/>
          </p:cNvSpPr>
          <p:nvPr/>
        </p:nvSpPr>
        <p:spPr>
          <a:xfrm xmlns:a="http://schemas.openxmlformats.org/drawingml/2006/main">
            <a:off x="11277600" y="64008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r">
              <a:buNone/>
              <a:defRPr sz="1125" b="0">
                <a:solidFill>
                  <a:srgbClr val="5F6670"/>
                </a:solidFill>
                <a:latin typeface="Arial"/>
                <a:ea typeface="Arial"/>
                <a:cs typeface="Arial"/>
              </a:defRPr>
            </a:pPr>
            <a:r>
              <a:rPr sz="1125" b="0">
                <a:solidFill>
                  <a:srgbClr val="5F6670"/>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ADF45E84-DEC1-42EA-858F-4A69ACC6F906}"/>
              </a:ext>
            </a:extLst>
          </p:cNvPr>
          <p:cNvSpPr>
            <a:spLocks xmlns:a="http://schemas.openxmlformats.org/drawingml/2006/main" noGrp="1"/>
          </p:cNvSpPr>
          <p:nvPr/>
        </p:nvSpPr>
        <p:spPr>
          <a:xfrm xmlns:a="http://schemas.openxmlformats.org/drawingml/2006/main">
            <a:off x="3714750" y="3105150"/>
            <a:ext cx="876300" cy="323850"/>
          </a:xfrm>
          <a:prstGeom xmlns:a="http://schemas.openxmlformats.org/drawingml/2006/main" prst="rightArrow">
            <a:avLst/>
          </a:prstGeom>
          <a:solidFill xmlns:a="http://schemas.openxmlformats.org/drawingml/2006/main">
            <a:srgbClr val="DFF3F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037CB1B-19C0-45D6-84D6-21E9832F4CEE}"/>
              </a:ext>
            </a:extLst>
          </p:cNvPr>
          <p:cNvSpPr>
            <a:spLocks xmlns:a="http://schemas.openxmlformats.org/drawingml/2006/main" noGrp="1"/>
          </p:cNvSpPr>
          <p:nvPr/>
        </p:nvSpPr>
        <p:spPr>
          <a:xfrm xmlns:a="http://schemas.openxmlformats.org/drawingml/2006/main">
            <a:off x="7600950" y="3105150"/>
            <a:ext cx="876300" cy="323850"/>
          </a:xfrm>
          <a:prstGeom xmlns:a="http://schemas.openxmlformats.org/drawingml/2006/main" prst="rightArrow">
            <a:avLst/>
          </a:prstGeom>
          <a:solidFill xmlns:a="http://schemas.openxmlformats.org/drawingml/2006/main">
            <a:srgbClr val="DFF3F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7496D18-2BDB-4AD1-A330-92D577532F62}"/>
              </a:ext>
            </a:extLst>
          </p:cNvPr>
          <p:cNvSpPr>
            <a:spLocks xmlns:a="http://schemas.openxmlformats.org/drawingml/2006/main" noGrp="1"/>
          </p:cNvSpPr>
          <p:nvPr/>
        </p:nvSpPr>
        <p:spPr>
          <a:xfrm xmlns:a="http://schemas.openxmlformats.org/drawingml/2006/main">
            <a:off x="400050" y="1885950"/>
            <a:ext cx="800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889"/>
          </a:bodyPr>
          <a:lstStyle xmlns:a="http://schemas.openxmlformats.org/drawingml/2006/main"/>
          <a:p xmlns:a="http://schemas.openxmlformats.org/drawingml/2006/main">
            <a:pPr algn="l">
              <a:buNone/>
              <a:defRPr sz="4500" b="1">
                <a:solidFill>
                  <a:srgbClr val="3D8DFF"/>
                </a:solidFill>
                <a:latin typeface="Arial"/>
                <a:ea typeface="Arial"/>
                <a:cs typeface="Arial"/>
              </a:defRPr>
            </a:pPr>
            <a:r>
              <a:rPr sz="4500" b="1">
                <a:solidFill>
                  <a:srgbClr val="3D8D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5D669B7A-E3B6-487F-84F5-26354A1E39DF}"/>
              </a:ext>
            </a:extLst>
          </p:cNvPr>
          <p:cNvSpPr>
            <a:spLocks xmlns:a="http://schemas.openxmlformats.org/drawingml/2006/main" noGrp="1"/>
          </p:cNvSpPr>
          <p:nvPr/>
        </p:nvSpPr>
        <p:spPr>
          <a:xfrm xmlns:a="http://schemas.openxmlformats.org/drawingml/2006/main">
            <a:off x="400050" y="2705100"/>
            <a:ext cx="295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187"/>
          </a:bodyPr>
          <a:lstStyle xmlns:a="http://schemas.openxmlformats.org/drawingml/2006/main"/>
          <a:p xmlns:a="http://schemas.openxmlformats.org/drawingml/2006/main">
            <a:pPr algn="l">
              <a:buNone/>
              <a:defRPr sz="2400" b="1">
                <a:solidFill>
                  <a:srgbClr val="111111"/>
                </a:solidFill>
                <a:latin typeface="Arial"/>
                <a:ea typeface="Arial"/>
                <a:cs typeface="Arial"/>
              </a:defRPr>
            </a:pPr>
            <a:r>
              <a:rPr sz="2400" b="1">
                <a:solidFill>
                  <a:srgbClr val="111111"/>
                </a:solidFill>
                <a:latin typeface="Arial"/>
                <a:ea typeface="Arial"/>
                <a:cs typeface="Arial"/>
              </a:rPr>
              <a:t>Inventory</a:t>
            </a:r>
          </a:p>
        </p:txBody>
      </p:sp>
      <p:sp>
        <p:nvSpPr>
          <p:cNvPr id="8" name="">
            <a:extLst xmlns:a="http://schemas.openxmlformats.org/drawingml/2006/main">
              <a:ext uri="{FF2B5EF4-FFF2-40B4-BE49-F238E27FC236}">
                <a16:creationId xmlns:a16="http://schemas.microsoft.com/office/drawing/2014/main" id="{E9989F6A-8EF6-450C-ADDE-F52C1EE13999}"/>
              </a:ext>
            </a:extLst>
          </p:cNvPr>
          <p:cNvSpPr>
            <a:spLocks xmlns:a="http://schemas.openxmlformats.org/drawingml/2006/main" noGrp="1"/>
          </p:cNvSpPr>
          <p:nvPr/>
        </p:nvSpPr>
        <p:spPr>
          <a:xfrm xmlns:a="http://schemas.openxmlformats.org/drawingml/2006/main">
            <a:off x="400050" y="3619500"/>
            <a:ext cx="3143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0">
                <a:solidFill>
                  <a:srgbClr val="5F6670"/>
                </a:solidFill>
                <a:latin typeface="Arial"/>
                <a:ea typeface="Arial"/>
                <a:cs typeface="Arial"/>
              </a:defRPr>
            </a:pPr>
            <a:r>
              <a:rPr sz="1725" b="0">
                <a:solidFill>
                  <a:srgbClr val="5F6670"/>
                </a:solidFill>
                <a:latin typeface="Arial"/>
                <a:ea typeface="Arial"/>
                <a:cs typeface="Arial"/>
              </a:rPr>
              <a:t>Extract what the project actually runs into a curated JSON configuration.</a:t>
            </a:r>
          </a:p>
        </p:txBody>
      </p:sp>
      <p:sp>
        <p:nvSpPr>
          <p:cNvPr id="9" name="">
            <a:extLst xmlns:a="http://schemas.openxmlformats.org/drawingml/2006/main">
              <a:ext uri="{FF2B5EF4-FFF2-40B4-BE49-F238E27FC236}">
                <a16:creationId xmlns:a16="http://schemas.microsoft.com/office/drawing/2014/main" id="{D0A41FB0-EF17-482F-A88C-59D0118EB7E7}"/>
              </a:ext>
            </a:extLst>
          </p:cNvPr>
          <p:cNvSpPr>
            <a:spLocks xmlns:a="http://schemas.openxmlformats.org/drawingml/2006/main" noGrp="1"/>
          </p:cNvSpPr>
          <p:nvPr/>
        </p:nvSpPr>
        <p:spPr>
          <a:xfrm xmlns:a="http://schemas.openxmlformats.org/drawingml/2006/main">
            <a:off x="400050" y="5162550"/>
            <a:ext cx="31432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B053D665-59C1-472A-8444-A9FC9317432F}"/>
              </a:ext>
            </a:extLst>
          </p:cNvPr>
          <p:cNvSpPr>
            <a:spLocks xmlns:a="http://schemas.openxmlformats.org/drawingml/2006/main" noGrp="1"/>
          </p:cNvSpPr>
          <p:nvPr/>
        </p:nvSpPr>
        <p:spPr>
          <a:xfrm xmlns:a="http://schemas.openxmlformats.org/drawingml/2006/main">
            <a:off x="4286250" y="1885950"/>
            <a:ext cx="800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889"/>
          </a:bodyPr>
          <a:lstStyle xmlns:a="http://schemas.openxmlformats.org/drawingml/2006/main"/>
          <a:p xmlns:a="http://schemas.openxmlformats.org/drawingml/2006/main">
            <a:pPr algn="l">
              <a:buNone/>
              <a:defRPr sz="4500" b="1">
                <a:solidFill>
                  <a:srgbClr val="3D8DFF"/>
                </a:solidFill>
                <a:latin typeface="Arial"/>
                <a:ea typeface="Arial"/>
                <a:cs typeface="Arial"/>
              </a:defRPr>
            </a:pPr>
            <a:r>
              <a:rPr sz="4500" b="1">
                <a:solidFill>
                  <a:srgbClr val="3D8DFF"/>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D8D506DA-DE97-4478-91CF-56EA7CBAFEE4}"/>
              </a:ext>
            </a:extLst>
          </p:cNvPr>
          <p:cNvSpPr>
            <a:spLocks xmlns:a="http://schemas.openxmlformats.org/drawingml/2006/main" noGrp="1"/>
          </p:cNvSpPr>
          <p:nvPr/>
        </p:nvSpPr>
        <p:spPr>
          <a:xfrm xmlns:a="http://schemas.openxmlformats.org/drawingml/2006/main">
            <a:off x="4286250" y="2705100"/>
            <a:ext cx="295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187"/>
          </a:bodyPr>
          <a:lstStyle xmlns:a="http://schemas.openxmlformats.org/drawingml/2006/main"/>
          <a:p xmlns:a="http://schemas.openxmlformats.org/drawingml/2006/main">
            <a:pPr algn="l">
              <a:buNone/>
              <a:defRPr sz="2400" b="1">
                <a:solidFill>
                  <a:srgbClr val="111111"/>
                </a:solidFill>
                <a:latin typeface="Arial"/>
                <a:ea typeface="Arial"/>
                <a:cs typeface="Arial"/>
              </a:defRPr>
            </a:pPr>
            <a:r>
              <a:rPr sz="2400" b="1">
                <a:solidFill>
                  <a:srgbClr val="111111"/>
                </a:solidFill>
                <a:latin typeface="Arial"/>
                <a:ea typeface="Arial"/>
                <a:cs typeface="Arial"/>
              </a:rPr>
              <a:t>Check</a:t>
            </a:r>
          </a:p>
        </p:txBody>
      </p:sp>
      <p:sp>
        <p:nvSpPr>
          <p:cNvPr id="12" name="">
            <a:extLst xmlns:a="http://schemas.openxmlformats.org/drawingml/2006/main">
              <a:ext uri="{FF2B5EF4-FFF2-40B4-BE49-F238E27FC236}">
                <a16:creationId xmlns:a16="http://schemas.microsoft.com/office/drawing/2014/main" id="{BDF48913-8B43-460E-9CFB-6B91E3315EE4}"/>
              </a:ext>
            </a:extLst>
          </p:cNvPr>
          <p:cNvSpPr>
            <a:spLocks xmlns:a="http://schemas.openxmlformats.org/drawingml/2006/main" noGrp="1"/>
          </p:cNvSpPr>
          <p:nvPr/>
        </p:nvSpPr>
        <p:spPr>
          <a:xfrm xmlns:a="http://schemas.openxmlformats.org/drawingml/2006/main">
            <a:off x="4286250" y="3619500"/>
            <a:ext cx="3143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0">
                <a:solidFill>
                  <a:srgbClr val="5F6670"/>
                </a:solidFill>
                <a:latin typeface="Arial"/>
                <a:ea typeface="Arial"/>
                <a:cs typeface="Arial"/>
              </a:defRPr>
            </a:pPr>
            <a:r>
              <a:rPr sz="1725" b="0">
                <a:solidFill>
                  <a:srgbClr val="5F6670"/>
                </a:solidFill>
                <a:latin typeface="Arial"/>
                <a:ea typeface="Arial"/>
                <a:cs typeface="Arial"/>
              </a:rPr>
              <a:t>Route every entry to the best available lifecycle or registry source.</a:t>
            </a:r>
          </a:p>
        </p:txBody>
      </p:sp>
      <p:sp>
        <p:nvSpPr>
          <p:cNvPr id="13" name="">
            <a:extLst xmlns:a="http://schemas.openxmlformats.org/drawingml/2006/main">
              <a:ext uri="{FF2B5EF4-FFF2-40B4-BE49-F238E27FC236}">
                <a16:creationId xmlns:a16="http://schemas.microsoft.com/office/drawing/2014/main" id="{121F0FD8-7DBA-4C48-B8F7-C267CC49A68D}"/>
              </a:ext>
            </a:extLst>
          </p:cNvPr>
          <p:cNvSpPr>
            <a:spLocks xmlns:a="http://schemas.openxmlformats.org/drawingml/2006/main" noGrp="1"/>
          </p:cNvSpPr>
          <p:nvPr/>
        </p:nvSpPr>
        <p:spPr>
          <a:xfrm xmlns:a="http://schemas.openxmlformats.org/drawingml/2006/main">
            <a:off x="4286250" y="5162550"/>
            <a:ext cx="31432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CAE06041-6DD3-4E44-9477-FA0680A1CF4E}"/>
              </a:ext>
            </a:extLst>
          </p:cNvPr>
          <p:cNvSpPr>
            <a:spLocks xmlns:a="http://schemas.openxmlformats.org/drawingml/2006/main" noGrp="1"/>
          </p:cNvSpPr>
          <p:nvPr/>
        </p:nvSpPr>
        <p:spPr>
          <a:xfrm xmlns:a="http://schemas.openxmlformats.org/drawingml/2006/main">
            <a:off x="8172450" y="1885950"/>
            <a:ext cx="800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889"/>
          </a:bodyPr>
          <a:lstStyle xmlns:a="http://schemas.openxmlformats.org/drawingml/2006/main"/>
          <a:p xmlns:a="http://schemas.openxmlformats.org/drawingml/2006/main">
            <a:pPr algn="l">
              <a:buNone/>
              <a:defRPr sz="4500" b="1">
                <a:solidFill>
                  <a:srgbClr val="3D8DFF"/>
                </a:solidFill>
                <a:latin typeface="Arial"/>
                <a:ea typeface="Arial"/>
                <a:cs typeface="Arial"/>
              </a:defRPr>
            </a:pPr>
            <a:r>
              <a:rPr sz="4500" b="1">
                <a:solidFill>
                  <a:srgbClr val="3D8DFF"/>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16BCA989-C627-4121-AC84-FC8A530E5A3F}"/>
              </a:ext>
            </a:extLst>
          </p:cNvPr>
          <p:cNvSpPr>
            <a:spLocks xmlns:a="http://schemas.openxmlformats.org/drawingml/2006/main" noGrp="1"/>
          </p:cNvSpPr>
          <p:nvPr/>
        </p:nvSpPr>
        <p:spPr>
          <a:xfrm xmlns:a="http://schemas.openxmlformats.org/drawingml/2006/main">
            <a:off x="8172450" y="2705100"/>
            <a:ext cx="295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187"/>
          </a:bodyPr>
          <a:lstStyle xmlns:a="http://schemas.openxmlformats.org/drawingml/2006/main"/>
          <a:p xmlns:a="http://schemas.openxmlformats.org/drawingml/2006/main">
            <a:pPr algn="l">
              <a:buNone/>
              <a:defRPr sz="2400" b="1">
                <a:solidFill>
                  <a:srgbClr val="111111"/>
                </a:solidFill>
                <a:latin typeface="Arial"/>
                <a:ea typeface="Arial"/>
                <a:cs typeface="Arial"/>
              </a:defRPr>
            </a:pPr>
            <a:r>
              <a:rPr sz="2400" b="1">
                <a:solidFill>
                  <a:srgbClr val="111111"/>
                </a:solidFill>
                <a:latin typeface="Arial"/>
                <a:ea typeface="Arial"/>
                <a:cs typeface="Arial"/>
              </a:rPr>
              <a:t>Report</a:t>
            </a:r>
          </a:p>
        </p:txBody>
      </p:sp>
      <p:sp>
        <p:nvSpPr>
          <p:cNvPr id="16" name="">
            <a:extLst xmlns:a="http://schemas.openxmlformats.org/drawingml/2006/main">
              <a:ext uri="{FF2B5EF4-FFF2-40B4-BE49-F238E27FC236}">
                <a16:creationId xmlns:a16="http://schemas.microsoft.com/office/drawing/2014/main" id="{0B93AA2E-19F4-465B-97B0-C590B382A7A2}"/>
              </a:ext>
            </a:extLst>
          </p:cNvPr>
          <p:cNvSpPr>
            <a:spLocks xmlns:a="http://schemas.openxmlformats.org/drawingml/2006/main" noGrp="1"/>
          </p:cNvSpPr>
          <p:nvPr/>
        </p:nvSpPr>
        <p:spPr>
          <a:xfrm xmlns:a="http://schemas.openxmlformats.org/drawingml/2006/main">
            <a:off x="8172450" y="3619500"/>
            <a:ext cx="3143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0">
                <a:solidFill>
                  <a:srgbClr val="5F6670"/>
                </a:solidFill>
                <a:latin typeface="Arial"/>
                <a:ea typeface="Arial"/>
                <a:cs typeface="Arial"/>
              </a:defRPr>
            </a:pPr>
            <a:r>
              <a:rPr sz="1725" b="0">
                <a:solidFill>
                  <a:srgbClr val="5F6670"/>
                </a:solidFill>
                <a:latin typeface="Arial"/>
                <a:ea typeface="Arial"/>
                <a:cs typeface="Arial"/>
              </a:rPr>
              <a:t>Apply thresholds, group risk, and publish a consistent management view.</a:t>
            </a:r>
          </a:p>
        </p:txBody>
      </p:sp>
      <p:sp>
        <p:nvSpPr>
          <p:cNvPr id="17" name="">
            <a:extLst xmlns:a="http://schemas.openxmlformats.org/drawingml/2006/main">
              <a:ext uri="{FF2B5EF4-FFF2-40B4-BE49-F238E27FC236}">
                <a16:creationId xmlns:a16="http://schemas.microsoft.com/office/drawing/2014/main" id="{1EB1741F-ACDD-46C9-8C87-AC1497F1D486}"/>
              </a:ext>
            </a:extLst>
          </p:cNvPr>
          <p:cNvSpPr>
            <a:spLocks xmlns:a="http://schemas.openxmlformats.org/drawingml/2006/main" noGrp="1"/>
          </p:cNvSpPr>
          <p:nvPr/>
        </p:nvSpPr>
        <p:spPr>
          <a:xfrm xmlns:a="http://schemas.openxmlformats.org/drawingml/2006/main">
            <a:off x="8172450" y="5162550"/>
            <a:ext cx="31432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A7B62F4C-6327-4CE3-B0A4-24FAC907759B}"/>
              </a:ext>
            </a:extLst>
          </p:cNvPr>
          <p:cNvSpPr>
            <a:spLocks xmlns:a="http://schemas.openxmlformats.org/drawingml/2006/main" noGrp="1"/>
          </p:cNvSpPr>
          <p:nvPr/>
        </p:nvSpPr>
        <p:spPr>
          <a:xfrm xmlns:a="http://schemas.openxmlformats.org/drawingml/2006/main">
            <a:off x="400050" y="560070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One configuration becomes the durable hand-off between discovery and monitoring.</a:t>
            </a:r>
          </a:p>
        </p:txBody>
      </p:sp>
    </p:spTree>
    <p:extLst>
      <p:ext uri="{BB962C8B-B14F-4D97-AF65-F5344CB8AC3E}">
        <p14:creationId xmlns:p14="http://schemas.microsoft.com/office/powerpoint/2010/main" val="57526012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11C406C-1F6A-4ADE-81E8-76CA11DB4039}"/>
              </a:ext>
            </a:extLst>
          </p:cNvPr>
          <p:cNvSpPr>
            <a:spLocks xmlns:a="http://schemas.openxmlformats.org/drawingml/2006/main" noGrp="1"/>
          </p:cNvSpPr>
          <p:nvPr/>
        </p:nvSpPr>
        <p:spPr>
          <a:xfrm xmlns:a="http://schemas.openxmlformats.org/drawingml/2006/main">
            <a:off x="400050" y="285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l">
              <a:buNone/>
              <a:defRPr sz="1125" b="1">
                <a:solidFill>
                  <a:srgbClr val="5F6670"/>
                </a:solidFill>
                <a:latin typeface="Arial"/>
                <a:ea typeface="Arial"/>
                <a:cs typeface="Arial"/>
              </a:defRPr>
            </a:pPr>
            <a:r>
              <a:rPr sz="1125" b="1">
                <a:solidFill>
                  <a:srgbClr val="5F6670"/>
                </a:solidFill>
                <a:latin typeface="Arial"/>
                <a:ea typeface="Arial"/>
                <a:cs typeface="Arial"/>
              </a:rPr>
              <a:t>PART 1 — CONFIGURATION</a:t>
            </a:r>
          </a:p>
        </p:txBody>
      </p:sp>
      <p:sp>
        <p:nvSpPr>
          <p:cNvPr id="2" name="slide-4-title">
            <a:extLst xmlns:a="http://schemas.openxmlformats.org/drawingml/2006/main">
              <a:ext uri="{FF2B5EF4-FFF2-40B4-BE49-F238E27FC236}">
                <a16:creationId xmlns:a16="http://schemas.microsoft.com/office/drawing/2014/main" id="{F986345D-FA6F-4318-A822-F3ECE5579EC2}"/>
              </a:ext>
            </a:extLst>
          </p:cNvPr>
          <p:cNvSpPr>
            <a:spLocks xmlns:a="http://schemas.openxmlformats.org/drawingml/2006/main" noGrp="1"/>
          </p:cNvSpPr>
          <p:nvPr/>
        </p:nvSpPr>
        <p:spPr>
          <a:xfrm xmlns:a="http://schemas.openxmlformats.org/drawingml/2006/main">
            <a:off x="400050" y="6286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525" b="1">
                <a:solidFill>
                  <a:srgbClr val="111111"/>
                </a:solidFill>
                <a:latin typeface="Arial"/>
                <a:ea typeface="Arial"/>
                <a:cs typeface="Arial"/>
              </a:defRPr>
            </a:pPr>
            <a:r>
              <a:rPr sz="3525" b="1">
                <a:solidFill>
                  <a:srgbClr val="111111"/>
                </a:solidFill>
                <a:latin typeface="Arial"/>
                <a:ea typeface="Arial"/>
                <a:cs typeface="Arial"/>
              </a:rPr>
              <a:t>Build a curated dependency inventory</a:t>
            </a:r>
          </a:p>
        </p:txBody>
      </p:sp>
      <p:sp>
        <p:nvSpPr>
          <p:cNvPr id="3" name="">
            <a:extLst xmlns:a="http://schemas.openxmlformats.org/drawingml/2006/main">
              <a:ext uri="{FF2B5EF4-FFF2-40B4-BE49-F238E27FC236}">
                <a16:creationId xmlns:a16="http://schemas.microsoft.com/office/drawing/2014/main" id="{DDF9320B-61DA-4A58-854B-934FBA2D10F7}"/>
              </a:ext>
            </a:extLst>
          </p:cNvPr>
          <p:cNvSpPr>
            <a:spLocks xmlns:a="http://schemas.openxmlformats.org/drawingml/2006/main" noGrp="1"/>
          </p:cNvSpPr>
          <p:nvPr/>
        </p:nvSpPr>
        <p:spPr>
          <a:xfrm xmlns:a="http://schemas.openxmlformats.org/drawingml/2006/main">
            <a:off x="11277600" y="64008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r">
              <a:buNone/>
              <a:defRPr sz="1125" b="0">
                <a:solidFill>
                  <a:srgbClr val="5F6670"/>
                </a:solidFill>
                <a:latin typeface="Arial"/>
                <a:ea typeface="Arial"/>
                <a:cs typeface="Arial"/>
              </a:defRPr>
            </a:pPr>
            <a:r>
              <a:rPr sz="1125" b="0">
                <a:solidFill>
                  <a:srgbClr val="5F6670"/>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2E72ECE2-0ABB-43EB-8CA3-3148311E435C}"/>
              </a:ext>
            </a:extLst>
          </p:cNvPr>
          <p:cNvSpPr>
            <a:spLocks xmlns:a="http://schemas.openxmlformats.org/drawingml/2006/main" noGrp="1"/>
          </p:cNvSpPr>
          <p:nvPr/>
        </p:nvSpPr>
        <p:spPr>
          <a:xfrm xmlns:a="http://schemas.openxmlformats.org/drawingml/2006/main">
            <a:off x="400050" y="1676400"/>
            <a:ext cx="762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028"/>
          </a:bodyPr>
          <a:lstStyle xmlns:a="http://schemas.openxmlformats.org/drawingml/2006/main"/>
          <a:p xmlns:a="http://schemas.openxmlformats.org/drawingml/2006/main">
            <a:pPr algn="l">
              <a:buNone/>
              <a:defRPr sz="3600" b="1">
                <a:solidFill>
                  <a:srgbClr val="3D8DFF"/>
                </a:solidFill>
                <a:latin typeface="Arial"/>
                <a:ea typeface="Arial"/>
                <a:cs typeface="Arial"/>
              </a:defRPr>
            </a:pPr>
            <a:r>
              <a:rPr sz="3600" b="1">
                <a:solidFill>
                  <a:srgbClr val="3D8DF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C2030BBA-2AE8-4E68-89D3-73239291105A}"/>
              </a:ext>
            </a:extLst>
          </p:cNvPr>
          <p:cNvSpPr>
            <a:spLocks xmlns:a="http://schemas.openxmlformats.org/drawingml/2006/main" noGrp="1"/>
          </p:cNvSpPr>
          <p:nvPr/>
        </p:nvSpPr>
        <p:spPr>
          <a:xfrm xmlns:a="http://schemas.openxmlformats.org/drawingml/2006/main">
            <a:off x="400050" y="24003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11111"/>
                </a:solidFill>
                <a:latin typeface="Arial"/>
                <a:ea typeface="Arial"/>
                <a:cs typeface="Arial"/>
              </a:defRPr>
            </a:pPr>
            <a:r>
              <a:rPr sz="2100" b="1">
                <a:solidFill>
                  <a:srgbClr val="111111"/>
                </a:solidFill>
                <a:latin typeface="Arial"/>
                <a:ea typeface="Arial"/>
                <a:cs typeface="Arial"/>
              </a:rPr>
              <a:t>Clean manifests</a:t>
            </a:r>
          </a:p>
        </p:txBody>
      </p:sp>
      <p:sp>
        <p:nvSpPr>
          <p:cNvPr id="6" name="">
            <a:extLst xmlns:a="http://schemas.openxmlformats.org/drawingml/2006/main">
              <a:ext uri="{FF2B5EF4-FFF2-40B4-BE49-F238E27FC236}">
                <a16:creationId xmlns:a16="http://schemas.microsoft.com/office/drawing/2014/main" id="{20ED2F3F-00B1-465E-8385-839BDD7AFE38}"/>
              </a:ext>
            </a:extLst>
          </p:cNvPr>
          <p:cNvSpPr>
            <a:spLocks xmlns:a="http://schemas.openxmlformats.org/drawingml/2006/main" noGrp="1"/>
          </p:cNvSpPr>
          <p:nvPr/>
        </p:nvSpPr>
        <p:spPr>
          <a:xfrm xmlns:a="http://schemas.openxmlformats.org/drawingml/2006/main">
            <a:off x="400050" y="3105150"/>
            <a:ext cx="3143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5F6670"/>
                </a:solidFill>
                <a:latin typeface="Arial"/>
                <a:ea typeface="Arial"/>
                <a:cs typeface="Arial"/>
              </a:defRPr>
            </a:pPr>
            <a:r>
              <a:rPr sz="1575" b="0">
                <a:solidFill>
                  <a:srgbClr val="5F6670"/>
                </a:solidFill>
                <a:latin typeface="Arial"/>
                <a:ea typeface="Arial"/>
                <a:cs typeface="Arial"/>
              </a:rPr>
              <a:t>The deterministic scanner reads pom.xml, Gradle files and package.json, then maps known dependencies to provider entries.</a:t>
            </a:r>
          </a:p>
        </p:txBody>
      </p:sp>
      <p:sp>
        <p:nvSpPr>
          <p:cNvPr id="7" name="">
            <a:extLst xmlns:a="http://schemas.openxmlformats.org/drawingml/2006/main">
              <a:ext uri="{FF2B5EF4-FFF2-40B4-BE49-F238E27FC236}">
                <a16:creationId xmlns:a16="http://schemas.microsoft.com/office/drawing/2014/main" id="{F5A32383-0738-4E7B-ACD3-03894B61328E}"/>
              </a:ext>
            </a:extLst>
          </p:cNvPr>
          <p:cNvSpPr>
            <a:spLocks xmlns:a="http://schemas.openxmlformats.org/drawingml/2006/main" noGrp="1"/>
          </p:cNvSpPr>
          <p:nvPr/>
        </p:nvSpPr>
        <p:spPr>
          <a:xfrm xmlns:a="http://schemas.openxmlformats.org/drawingml/2006/main">
            <a:off x="400050" y="5162550"/>
            <a:ext cx="31432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8" name="">
            <a:extLst xmlns:a="http://schemas.openxmlformats.org/drawingml/2006/main">
              <a:ext uri="{FF2B5EF4-FFF2-40B4-BE49-F238E27FC236}">
                <a16:creationId xmlns:a16="http://schemas.microsoft.com/office/drawing/2014/main" id="{4A1AE133-CA4F-4C75-8071-4D40F0648C77}"/>
              </a:ext>
            </a:extLst>
          </p:cNvPr>
          <p:cNvSpPr>
            <a:spLocks xmlns:a="http://schemas.openxmlformats.org/drawingml/2006/main" noGrp="1"/>
          </p:cNvSpPr>
          <p:nvPr/>
        </p:nvSpPr>
        <p:spPr>
          <a:xfrm xmlns:a="http://schemas.openxmlformats.org/drawingml/2006/main">
            <a:off x="400050" y="53530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111111"/>
                </a:solidFill>
                <a:latin typeface="Arial"/>
                <a:ea typeface="Arial"/>
                <a:cs typeface="Arial"/>
              </a:defRPr>
            </a:pPr>
            <a:r>
              <a:rPr sz="1350" b="1">
                <a:solidFill>
                  <a:srgbClr val="111111"/>
                </a:solidFill>
                <a:latin typeface="Arial"/>
                <a:ea typeface="Arial"/>
                <a:cs typeface="Arial"/>
              </a:rPr>
              <a:t>Repeatable extraction</a:t>
            </a:r>
          </a:p>
        </p:txBody>
      </p:sp>
      <p:sp>
        <p:nvSpPr>
          <p:cNvPr id="9" name="">
            <a:extLst xmlns:a="http://schemas.openxmlformats.org/drawingml/2006/main">
              <a:ext uri="{FF2B5EF4-FFF2-40B4-BE49-F238E27FC236}">
                <a16:creationId xmlns:a16="http://schemas.microsoft.com/office/drawing/2014/main" id="{3FE43C91-75CE-4962-AFEA-D319E42A03B8}"/>
              </a:ext>
            </a:extLst>
          </p:cNvPr>
          <p:cNvSpPr>
            <a:spLocks xmlns:a="http://schemas.openxmlformats.org/drawingml/2006/main" noGrp="1"/>
          </p:cNvSpPr>
          <p:nvPr/>
        </p:nvSpPr>
        <p:spPr>
          <a:xfrm xmlns:a="http://schemas.openxmlformats.org/drawingml/2006/main">
            <a:off x="4305300" y="1676400"/>
            <a:ext cx="762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028"/>
          </a:bodyPr>
          <a:lstStyle xmlns:a="http://schemas.openxmlformats.org/drawingml/2006/main"/>
          <a:p xmlns:a="http://schemas.openxmlformats.org/drawingml/2006/main">
            <a:pPr algn="l">
              <a:buNone/>
              <a:defRPr sz="3600" b="1">
                <a:solidFill>
                  <a:srgbClr val="F57C00"/>
                </a:solidFill>
                <a:latin typeface="Arial"/>
                <a:ea typeface="Arial"/>
                <a:cs typeface="Arial"/>
              </a:defRPr>
            </a:pPr>
            <a:r>
              <a:rPr sz="3600" b="1">
                <a:solidFill>
                  <a:srgbClr val="F57C00"/>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0EDD4A56-5694-4666-8944-EDA8EB281868}"/>
              </a:ext>
            </a:extLst>
          </p:cNvPr>
          <p:cNvSpPr>
            <a:spLocks xmlns:a="http://schemas.openxmlformats.org/drawingml/2006/main" noGrp="1"/>
          </p:cNvSpPr>
          <p:nvPr/>
        </p:nvSpPr>
        <p:spPr>
          <a:xfrm xmlns:a="http://schemas.openxmlformats.org/drawingml/2006/main">
            <a:off x="4305300" y="24003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11111"/>
                </a:solidFill>
                <a:latin typeface="Arial"/>
                <a:ea typeface="Arial"/>
                <a:cs typeface="Arial"/>
              </a:defRPr>
            </a:pPr>
            <a:r>
              <a:rPr sz="2100" b="1">
                <a:solidFill>
                  <a:srgbClr val="111111"/>
                </a:solidFill>
                <a:latin typeface="Arial"/>
                <a:ea typeface="Arial"/>
                <a:cs typeface="Arial"/>
              </a:rPr>
              <a:t>Messy inventories</a:t>
            </a:r>
          </a:p>
        </p:txBody>
      </p:sp>
      <p:sp>
        <p:nvSpPr>
          <p:cNvPr id="11" name="">
            <a:extLst xmlns:a="http://schemas.openxmlformats.org/drawingml/2006/main">
              <a:ext uri="{FF2B5EF4-FFF2-40B4-BE49-F238E27FC236}">
                <a16:creationId xmlns:a16="http://schemas.microsoft.com/office/drawing/2014/main" id="{FDB2177F-19D5-450D-B40B-3B2C67C8D189}"/>
              </a:ext>
            </a:extLst>
          </p:cNvPr>
          <p:cNvSpPr>
            <a:spLocks xmlns:a="http://schemas.openxmlformats.org/drawingml/2006/main" noGrp="1"/>
          </p:cNvSpPr>
          <p:nvPr/>
        </p:nvSpPr>
        <p:spPr>
          <a:xfrm xmlns:a="http://schemas.openxmlformats.org/drawingml/2006/main">
            <a:off x="4305300" y="3105150"/>
            <a:ext cx="3143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5F6670"/>
                </a:solidFill>
                <a:latin typeface="Arial"/>
                <a:ea typeface="Arial"/>
                <a:cs typeface="Arial"/>
              </a:defRPr>
            </a:pPr>
            <a:r>
              <a:rPr sz="1575" b="0">
                <a:solidFill>
                  <a:srgbClr val="5F6670"/>
                </a:solidFill>
                <a:latin typeface="Arial"/>
                <a:ea typeface="Arial"/>
                <a:cs typeface="Arial"/>
              </a:rPr>
              <a:t>AI agents and the manage-eol-config skill extract wiki tables, spreadsheets and prose—especially manually tracked products.</a:t>
            </a:r>
          </a:p>
        </p:txBody>
      </p:sp>
      <p:sp>
        <p:nvSpPr>
          <p:cNvPr id="12" name="">
            <a:extLst xmlns:a="http://schemas.openxmlformats.org/drawingml/2006/main">
              <a:ext uri="{FF2B5EF4-FFF2-40B4-BE49-F238E27FC236}">
                <a16:creationId xmlns:a16="http://schemas.microsoft.com/office/drawing/2014/main" id="{FA396C77-B819-4EA9-B0B8-3C646EE328C0}"/>
              </a:ext>
            </a:extLst>
          </p:cNvPr>
          <p:cNvSpPr>
            <a:spLocks xmlns:a="http://schemas.openxmlformats.org/drawingml/2006/main" noGrp="1"/>
          </p:cNvSpPr>
          <p:nvPr/>
        </p:nvSpPr>
        <p:spPr>
          <a:xfrm xmlns:a="http://schemas.openxmlformats.org/drawingml/2006/main">
            <a:off x="4305300" y="5162550"/>
            <a:ext cx="31432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51A9AF2F-D3F8-499E-9BA0-51E9631F963D}"/>
              </a:ext>
            </a:extLst>
          </p:cNvPr>
          <p:cNvSpPr>
            <a:spLocks xmlns:a="http://schemas.openxmlformats.org/drawingml/2006/main" noGrp="1"/>
          </p:cNvSpPr>
          <p:nvPr/>
        </p:nvSpPr>
        <p:spPr>
          <a:xfrm xmlns:a="http://schemas.openxmlformats.org/drawingml/2006/main">
            <a:off x="4305300" y="53530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111111"/>
                </a:solidFill>
                <a:latin typeface="Arial"/>
                <a:ea typeface="Arial"/>
                <a:cs typeface="Arial"/>
              </a:defRPr>
            </a:pPr>
            <a:r>
              <a:rPr sz="1350" b="1">
                <a:solidFill>
                  <a:srgbClr val="111111"/>
                </a:solidFill>
                <a:latin typeface="Arial"/>
                <a:ea typeface="Arial"/>
                <a:cs typeface="Arial"/>
              </a:rPr>
              <a:t>Assisted interpretation</a:t>
            </a:r>
          </a:p>
        </p:txBody>
      </p:sp>
      <p:sp>
        <p:nvSpPr>
          <p:cNvPr id="14" name="">
            <a:extLst xmlns:a="http://schemas.openxmlformats.org/drawingml/2006/main">
              <a:ext uri="{FF2B5EF4-FFF2-40B4-BE49-F238E27FC236}">
                <a16:creationId xmlns:a16="http://schemas.microsoft.com/office/drawing/2014/main" id="{3D80C305-0F7E-4038-8E5D-2F2345F406D4}"/>
              </a:ext>
            </a:extLst>
          </p:cNvPr>
          <p:cNvSpPr>
            <a:spLocks xmlns:a="http://schemas.openxmlformats.org/drawingml/2006/main" noGrp="1"/>
          </p:cNvSpPr>
          <p:nvPr/>
        </p:nvSpPr>
        <p:spPr>
          <a:xfrm xmlns:a="http://schemas.openxmlformats.org/drawingml/2006/main">
            <a:off x="8210550" y="1676400"/>
            <a:ext cx="762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028"/>
          </a:bodyPr>
          <a:lstStyle xmlns:a="http://schemas.openxmlformats.org/drawingml/2006/main"/>
          <a:p xmlns:a="http://schemas.openxmlformats.org/drawingml/2006/main">
            <a:pPr algn="l">
              <a:buNone/>
              <a:defRPr sz="3600" b="1">
                <a:solidFill>
                  <a:srgbClr val="3D8DFF"/>
                </a:solidFill>
                <a:latin typeface="Arial"/>
                <a:ea typeface="Arial"/>
                <a:cs typeface="Arial"/>
              </a:defRPr>
            </a:pPr>
            <a:r>
              <a:rPr sz="3600" b="1">
                <a:solidFill>
                  <a:srgbClr val="3D8DFF"/>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A7554725-AA3B-47B4-AE57-23A7FC3A138D}"/>
              </a:ext>
            </a:extLst>
          </p:cNvPr>
          <p:cNvSpPr>
            <a:spLocks xmlns:a="http://schemas.openxmlformats.org/drawingml/2006/main" noGrp="1"/>
          </p:cNvSpPr>
          <p:nvPr/>
        </p:nvSpPr>
        <p:spPr>
          <a:xfrm xmlns:a="http://schemas.openxmlformats.org/drawingml/2006/main">
            <a:off x="8210550" y="24003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11111"/>
                </a:solidFill>
                <a:latin typeface="Arial"/>
                <a:ea typeface="Arial"/>
                <a:cs typeface="Arial"/>
              </a:defRPr>
            </a:pPr>
            <a:r>
              <a:rPr sz="2100" b="1">
                <a:solidFill>
                  <a:srgbClr val="111111"/>
                </a:solidFill>
                <a:latin typeface="Arial"/>
                <a:ea typeface="Arial"/>
                <a:cs typeface="Arial"/>
              </a:rPr>
              <a:t>Verification guardrail</a:t>
            </a:r>
          </a:p>
        </p:txBody>
      </p:sp>
      <p:sp>
        <p:nvSpPr>
          <p:cNvPr id="16" name="">
            <a:extLst xmlns:a="http://schemas.openxmlformats.org/drawingml/2006/main">
              <a:ext uri="{FF2B5EF4-FFF2-40B4-BE49-F238E27FC236}">
                <a16:creationId xmlns:a16="http://schemas.microsoft.com/office/drawing/2014/main" id="{31C19849-0844-4D3C-9618-56BB890F5C1E}"/>
              </a:ext>
            </a:extLst>
          </p:cNvPr>
          <p:cNvSpPr>
            <a:spLocks xmlns:a="http://schemas.openxmlformats.org/drawingml/2006/main" noGrp="1"/>
          </p:cNvSpPr>
          <p:nvPr/>
        </p:nvSpPr>
        <p:spPr>
          <a:xfrm xmlns:a="http://schemas.openxmlformats.org/drawingml/2006/main">
            <a:off x="8210550" y="3105150"/>
            <a:ext cx="3143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5F6670"/>
                </a:solidFill>
                <a:latin typeface="Arial"/>
                <a:ea typeface="Arial"/>
                <a:cs typeface="Arial"/>
              </a:defRPr>
            </a:pPr>
            <a:r>
              <a:rPr sz="1575" b="0">
                <a:solidFill>
                  <a:srgbClr val="5F6670"/>
                </a:solidFill>
                <a:latin typeface="Arial"/>
                <a:ea typeface="Arial"/>
                <a:cs typeface="Arial"/>
              </a:rPr>
              <a:t>Every proposed slug, cycle or package is verified; JSON is validated and the finished configuration is smoke-run.</a:t>
            </a:r>
          </a:p>
        </p:txBody>
      </p:sp>
      <p:sp>
        <p:nvSpPr>
          <p:cNvPr id="17" name="">
            <a:extLst xmlns:a="http://schemas.openxmlformats.org/drawingml/2006/main">
              <a:ext uri="{FF2B5EF4-FFF2-40B4-BE49-F238E27FC236}">
                <a16:creationId xmlns:a16="http://schemas.microsoft.com/office/drawing/2014/main" id="{04DE0BE4-3827-442D-9CB8-265A67B81A08}"/>
              </a:ext>
            </a:extLst>
          </p:cNvPr>
          <p:cNvSpPr>
            <a:spLocks xmlns:a="http://schemas.openxmlformats.org/drawingml/2006/main" noGrp="1"/>
          </p:cNvSpPr>
          <p:nvPr/>
        </p:nvSpPr>
        <p:spPr>
          <a:xfrm xmlns:a="http://schemas.openxmlformats.org/drawingml/2006/main">
            <a:off x="8210550" y="5162550"/>
            <a:ext cx="31432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B1390F3C-3489-4453-BDD8-A00FBF99E2A9}"/>
              </a:ext>
            </a:extLst>
          </p:cNvPr>
          <p:cNvSpPr>
            <a:spLocks xmlns:a="http://schemas.openxmlformats.org/drawingml/2006/main" noGrp="1"/>
          </p:cNvSpPr>
          <p:nvPr/>
        </p:nvSpPr>
        <p:spPr>
          <a:xfrm xmlns:a="http://schemas.openxmlformats.org/drawingml/2006/main">
            <a:off x="8210550" y="53530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111111"/>
                </a:solidFill>
                <a:latin typeface="Arial"/>
                <a:ea typeface="Arial"/>
                <a:cs typeface="Arial"/>
              </a:defRPr>
            </a:pPr>
            <a:r>
              <a:rPr sz="1350" b="1">
                <a:solidFill>
                  <a:srgbClr val="111111"/>
                </a:solidFill>
                <a:latin typeface="Arial"/>
                <a:ea typeface="Arial"/>
                <a:cs typeface="Arial"/>
              </a:rPr>
              <a:t>No fabricated identifiers</a:t>
            </a:r>
          </a:p>
        </p:txBody>
      </p:sp>
      <p:sp>
        <p:nvSpPr>
          <p:cNvPr id="19" name="">
            <a:extLst xmlns:a="http://schemas.openxmlformats.org/drawingml/2006/main">
              <a:ext uri="{FF2B5EF4-FFF2-40B4-BE49-F238E27FC236}">
                <a16:creationId xmlns:a16="http://schemas.microsoft.com/office/drawing/2014/main" id="{82B4FA45-2882-42C3-B79E-041604E5C5B3}"/>
              </a:ext>
            </a:extLst>
          </p:cNvPr>
          <p:cNvSpPr>
            <a:spLocks xmlns:a="http://schemas.openxmlformats.org/drawingml/2006/main" noGrp="1"/>
          </p:cNvSpPr>
          <p:nvPr/>
        </p:nvSpPr>
        <p:spPr>
          <a:xfrm xmlns:a="http://schemas.openxmlformats.org/drawingml/2006/main">
            <a:off x="400050" y="6019800"/>
            <a:ext cx="933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AI speeds up extraction; live sources remain the authority.</a:t>
            </a:r>
          </a:p>
        </p:txBody>
      </p:sp>
    </p:spTree>
    <p:extLst>
      <p:ext uri="{BB962C8B-B14F-4D97-AF65-F5344CB8AC3E}">
        <p14:creationId xmlns:p14="http://schemas.microsoft.com/office/powerpoint/2010/main" val="7107715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507E731-22DF-42F0-AF26-FE8F9C5DFD1D}"/>
              </a:ext>
            </a:extLst>
          </p:cNvPr>
          <p:cNvSpPr>
            <a:spLocks xmlns:a="http://schemas.openxmlformats.org/drawingml/2006/main" noGrp="1"/>
          </p:cNvSpPr>
          <p:nvPr/>
        </p:nvSpPr>
        <p:spPr>
          <a:xfrm xmlns:a="http://schemas.openxmlformats.org/drawingml/2006/main">
            <a:off x="400050" y="285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l">
              <a:buNone/>
              <a:defRPr sz="1125" b="1">
                <a:solidFill>
                  <a:srgbClr val="5F6670"/>
                </a:solidFill>
                <a:latin typeface="Arial"/>
                <a:ea typeface="Arial"/>
                <a:cs typeface="Arial"/>
              </a:defRPr>
            </a:pPr>
            <a:r>
              <a:rPr sz="1125" b="1">
                <a:solidFill>
                  <a:srgbClr val="5F6670"/>
                </a:solidFill>
                <a:latin typeface="Arial"/>
                <a:ea typeface="Arial"/>
                <a:cs typeface="Arial"/>
              </a:rPr>
              <a:t>PART 2 — LOOKUP ENGINE</a:t>
            </a:r>
          </a:p>
        </p:txBody>
      </p:sp>
      <p:sp>
        <p:nvSpPr>
          <p:cNvPr id="2" name="slide-5-title">
            <a:extLst xmlns:a="http://schemas.openxmlformats.org/drawingml/2006/main">
              <a:ext uri="{FF2B5EF4-FFF2-40B4-BE49-F238E27FC236}">
                <a16:creationId xmlns:a16="http://schemas.microsoft.com/office/drawing/2014/main" id="{CCDC9E1A-EB82-42C9-9AD1-104C44C9E2A4}"/>
              </a:ext>
            </a:extLst>
          </p:cNvPr>
          <p:cNvSpPr>
            <a:spLocks xmlns:a="http://schemas.openxmlformats.org/drawingml/2006/main" noGrp="1"/>
          </p:cNvSpPr>
          <p:nvPr/>
        </p:nvSpPr>
        <p:spPr>
          <a:xfrm xmlns:a="http://schemas.openxmlformats.org/drawingml/2006/main">
            <a:off x="400050" y="6286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525" b="1">
                <a:solidFill>
                  <a:srgbClr val="111111"/>
                </a:solidFill>
                <a:latin typeface="Arial"/>
                <a:ea typeface="Arial"/>
                <a:cs typeface="Arial"/>
              </a:defRPr>
            </a:pPr>
            <a:r>
              <a:rPr sz="3525" b="1">
                <a:solidFill>
                  <a:srgbClr val="111111"/>
                </a:solidFill>
                <a:latin typeface="Arial"/>
                <a:ea typeface="Arial"/>
                <a:cs typeface="Arial"/>
              </a:rPr>
              <a:t>Providers make many sources look the same</a:t>
            </a:r>
          </a:p>
        </p:txBody>
      </p:sp>
      <p:sp>
        <p:nvSpPr>
          <p:cNvPr id="3" name="">
            <a:extLst xmlns:a="http://schemas.openxmlformats.org/drawingml/2006/main">
              <a:ext uri="{FF2B5EF4-FFF2-40B4-BE49-F238E27FC236}">
                <a16:creationId xmlns:a16="http://schemas.microsoft.com/office/drawing/2014/main" id="{C4FEFA83-4402-4B43-9B0C-AF1DF5F9414B}"/>
              </a:ext>
            </a:extLst>
          </p:cNvPr>
          <p:cNvSpPr>
            <a:spLocks xmlns:a="http://schemas.openxmlformats.org/drawingml/2006/main" noGrp="1"/>
          </p:cNvSpPr>
          <p:nvPr/>
        </p:nvSpPr>
        <p:spPr>
          <a:xfrm xmlns:a="http://schemas.openxmlformats.org/drawingml/2006/main">
            <a:off x="11277600" y="64008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r">
              <a:buNone/>
              <a:defRPr sz="1125" b="0">
                <a:solidFill>
                  <a:srgbClr val="5F6670"/>
                </a:solidFill>
                <a:latin typeface="Arial"/>
                <a:ea typeface="Arial"/>
                <a:cs typeface="Arial"/>
              </a:defRPr>
            </a:pPr>
            <a:r>
              <a:rPr sz="1125" b="0">
                <a:solidFill>
                  <a:srgbClr val="5F6670"/>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D8203D87-3EAA-4A19-8D99-3E7E5B9AF502}"/>
              </a:ext>
            </a:extLst>
          </p:cNvPr>
          <p:cNvSpPr>
            <a:spLocks xmlns:a="http://schemas.openxmlformats.org/drawingml/2006/main" noGrp="1"/>
          </p:cNvSpPr>
          <p:nvPr/>
        </p:nvSpPr>
        <p:spPr>
          <a:xfrm xmlns:a="http://schemas.openxmlformats.org/drawingml/2006/main">
            <a:off x="2895600" y="2895600"/>
            <a:ext cx="704850" cy="285750"/>
          </a:xfrm>
          <a:prstGeom xmlns:a="http://schemas.openxmlformats.org/drawingml/2006/main" prst="rightArrow">
            <a:avLst/>
          </a:prstGeom>
          <a:solidFill xmlns:a="http://schemas.openxmlformats.org/drawingml/2006/main">
            <a:srgbClr val="DFF3F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2D4D7D5-6C36-4D12-BC8C-C77A0710153A}"/>
              </a:ext>
            </a:extLst>
          </p:cNvPr>
          <p:cNvSpPr>
            <a:spLocks xmlns:a="http://schemas.openxmlformats.org/drawingml/2006/main" noGrp="1"/>
          </p:cNvSpPr>
          <p:nvPr/>
        </p:nvSpPr>
        <p:spPr>
          <a:xfrm xmlns:a="http://schemas.openxmlformats.org/drawingml/2006/main">
            <a:off x="6800850" y="2895600"/>
            <a:ext cx="704850" cy="285750"/>
          </a:xfrm>
          <a:prstGeom xmlns:a="http://schemas.openxmlformats.org/drawingml/2006/main" prst="rightArrow">
            <a:avLst/>
          </a:prstGeom>
          <a:solidFill xmlns:a="http://schemas.openxmlformats.org/drawingml/2006/main">
            <a:srgbClr val="DFF3F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0F77F95-DE4A-4341-9532-EC252FBC9214}"/>
              </a:ext>
            </a:extLst>
          </p:cNvPr>
          <p:cNvSpPr>
            <a:spLocks xmlns:a="http://schemas.openxmlformats.org/drawingml/2006/main" noGrp="1"/>
          </p:cNvSpPr>
          <p:nvPr/>
        </p:nvSpPr>
        <p:spPr>
          <a:xfrm xmlns:a="http://schemas.openxmlformats.org/drawingml/2006/main">
            <a:off x="400050" y="2133600"/>
            <a:ext cx="2476500" cy="1809750"/>
          </a:xfrm>
          <a:prstGeom xmlns:a="http://schemas.openxmlformats.org/drawingml/2006/main" prst="rect">
            <a:avLst/>
          </a:prstGeom>
          <a:solidFill xmlns:a="http://schemas.openxmlformats.org/drawingml/2006/main">
            <a:srgbClr val="F1F2F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BE5AAAF-E726-4DAA-8300-144073A4ED71}"/>
              </a:ext>
            </a:extLst>
          </p:cNvPr>
          <p:cNvSpPr>
            <a:spLocks xmlns:a="http://schemas.openxmlformats.org/drawingml/2006/main" noGrp="1"/>
          </p:cNvSpPr>
          <p:nvPr/>
        </p:nvSpPr>
        <p:spPr>
          <a:xfrm xmlns:a="http://schemas.openxmlformats.org/drawingml/2006/main">
            <a:off x="647700" y="24003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p xmlns:a="http://schemas.openxmlformats.org/drawingml/2006/main">
            <a:pPr algn="l">
              <a:buNone/>
              <a:defRPr sz="1200" b="1">
                <a:solidFill>
                  <a:srgbClr val="5F6670"/>
                </a:solidFill>
                <a:latin typeface="Arial"/>
                <a:ea typeface="Arial"/>
                <a:cs typeface="Arial"/>
              </a:defRPr>
            </a:pPr>
            <a:r>
              <a:rPr sz="1200" b="1">
                <a:solidFill>
                  <a:srgbClr val="5F6670"/>
                </a:solidFill>
                <a:latin typeface="Arial"/>
                <a:ea typeface="Arial"/>
                <a:cs typeface="Arial"/>
              </a:rPr>
              <a:t>CONFIG ENTRY</a:t>
            </a:r>
          </a:p>
        </p:txBody>
      </p:sp>
      <p:sp>
        <p:nvSpPr>
          <p:cNvPr id="8" name="">
            <a:extLst xmlns:a="http://schemas.openxmlformats.org/drawingml/2006/main">
              <a:ext uri="{FF2B5EF4-FFF2-40B4-BE49-F238E27FC236}">
                <a16:creationId xmlns:a16="http://schemas.microsoft.com/office/drawing/2014/main" id="{DA18AE0D-D0B9-404C-B177-C27EE72A6555}"/>
              </a:ext>
            </a:extLst>
          </p:cNvPr>
          <p:cNvSpPr>
            <a:spLocks xmlns:a="http://schemas.openxmlformats.org/drawingml/2006/main" noGrp="1"/>
          </p:cNvSpPr>
          <p:nvPr/>
        </p:nvSpPr>
        <p:spPr>
          <a:xfrm xmlns:a="http://schemas.openxmlformats.org/drawingml/2006/main">
            <a:off x="647700" y="2800350"/>
            <a:ext cx="1905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762"/>
          </a:bodyPr>
          <a:lstStyle xmlns:a="http://schemas.openxmlformats.org/drawingml/2006/main"/>
          <a:p xmlns:a="http://schemas.openxmlformats.org/drawingml/2006/main">
            <a:pPr algn="l">
              <a:buNone/>
              <a:defRPr sz="2100" b="1">
                <a:solidFill>
                  <a:srgbClr val="111111"/>
                </a:solidFill>
                <a:latin typeface="Arial"/>
                <a:ea typeface="Arial"/>
                <a:cs typeface="Arial"/>
              </a:defRPr>
            </a:pPr>
            <a:r>
              <a:rPr sz="2100" b="1">
                <a:solidFill>
                  <a:srgbClr val="111111"/>
                </a:solidFill>
                <a:latin typeface="Arial"/>
                <a:ea typeface="Arial"/>
                <a:cs typeface="Arial"/>
              </a:rPr>
              <a:t>Product + version</a:t>
            </a:r>
          </a:p>
          <a:p xmlns:a="http://schemas.openxmlformats.org/drawingml/2006/main">
            <a:pPr algn="l">
              <a:buNone/>
              <a:defRPr sz="2100" b="1">
                <a:solidFill>
                  <a:srgbClr val="111111"/>
                </a:solidFill>
                <a:latin typeface="Arial"/>
                <a:ea typeface="Arial"/>
                <a:cs typeface="Arial"/>
              </a:defRPr>
            </a:pPr>
            <a:r>
              <a:rPr sz="2100" b="1">
                <a:solidFill>
                  <a:srgbClr val="111111"/>
                </a:solidFill>
                <a:latin typeface="Arial"/>
                <a:ea typeface="Arial"/>
                <a:cs typeface="Arial"/>
              </a:rPr>
              <a:t>+ source key</a:t>
            </a:r>
          </a:p>
        </p:txBody>
      </p:sp>
      <p:sp>
        <p:nvSpPr>
          <p:cNvPr id="9" name="">
            <a:extLst xmlns:a="http://schemas.openxmlformats.org/drawingml/2006/main">
              <a:ext uri="{FF2B5EF4-FFF2-40B4-BE49-F238E27FC236}">
                <a16:creationId xmlns:a16="http://schemas.microsoft.com/office/drawing/2014/main" id="{22621F8C-4156-4E7A-BA81-8C8F8F106C39}"/>
              </a:ext>
            </a:extLst>
          </p:cNvPr>
          <p:cNvSpPr>
            <a:spLocks xmlns:a="http://schemas.openxmlformats.org/drawingml/2006/main" noGrp="1"/>
          </p:cNvSpPr>
          <p:nvPr/>
        </p:nvSpPr>
        <p:spPr>
          <a:xfrm xmlns:a="http://schemas.openxmlformats.org/drawingml/2006/main">
            <a:off x="3600450" y="1790700"/>
            <a:ext cx="3200400" cy="2495550"/>
          </a:xfrm>
          <a:prstGeom xmlns:a="http://schemas.openxmlformats.org/drawingml/2006/main" prst="rect">
            <a:avLst/>
          </a:prstGeom>
          <a:solidFill xmlns:a="http://schemas.openxmlformats.org/drawingml/2006/main">
            <a:srgbClr val="DFF3F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354ABE7-10A4-48F5-BB15-A5D323DF84D9}"/>
              </a:ext>
            </a:extLst>
          </p:cNvPr>
          <p:cNvSpPr>
            <a:spLocks xmlns:a="http://schemas.openxmlformats.org/drawingml/2006/main" noGrp="1"/>
          </p:cNvSpPr>
          <p:nvPr/>
        </p:nvSpPr>
        <p:spPr>
          <a:xfrm xmlns:a="http://schemas.openxmlformats.org/drawingml/2006/main">
            <a:off x="3886200" y="2076450"/>
            <a:ext cx="2619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buNone/>
              <a:defRPr sz="1200" b="1">
                <a:solidFill>
                  <a:srgbClr val="5F6670"/>
                </a:solidFill>
                <a:latin typeface="Arial"/>
                <a:ea typeface="Arial"/>
                <a:cs typeface="Arial"/>
              </a:defRPr>
            </a:pPr>
            <a:r>
              <a:rPr sz="1200" b="1">
                <a:solidFill>
                  <a:srgbClr val="5F6670"/>
                </a:solidFill>
                <a:latin typeface="Arial"/>
                <a:ea typeface="Arial"/>
                <a:cs typeface="Arial"/>
              </a:rPr>
              <a:t>AUTO-REGISTERED REGISTRY</a:t>
            </a:r>
          </a:p>
        </p:txBody>
      </p:sp>
      <p:sp>
        <p:nvSpPr>
          <p:cNvPr id="11" name="">
            <a:extLst xmlns:a="http://schemas.openxmlformats.org/drawingml/2006/main">
              <a:ext uri="{FF2B5EF4-FFF2-40B4-BE49-F238E27FC236}">
                <a16:creationId xmlns:a16="http://schemas.microsoft.com/office/drawing/2014/main" id="{2F8C3BE1-4DA7-40DE-AC90-8BC5FC5FBC25}"/>
              </a:ext>
            </a:extLst>
          </p:cNvPr>
          <p:cNvSpPr>
            <a:spLocks xmlns:a="http://schemas.openxmlformats.org/drawingml/2006/main" noGrp="1"/>
          </p:cNvSpPr>
          <p:nvPr/>
        </p:nvSpPr>
        <p:spPr>
          <a:xfrm xmlns:a="http://schemas.openxmlformats.org/drawingml/2006/main">
            <a:off x="3886200" y="253365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944"/>
          </a:bodyPr>
          <a:lstStyle xmlns:a="http://schemas.openxmlformats.org/drawingml/2006/main"/>
          <a:p xmlns:a="http://schemas.openxmlformats.org/drawingml/2006/main">
            <a:pPr algn="l">
              <a:buNone/>
              <a:defRPr sz="2700" b="1">
                <a:solidFill>
                  <a:srgbClr val="111111"/>
                </a:solidFill>
                <a:latin typeface="Arial"/>
                <a:ea typeface="Arial"/>
                <a:cs typeface="Arial"/>
              </a:defRPr>
            </a:pPr>
            <a:r>
              <a:rPr sz="2700" b="1">
                <a:solidFill>
                  <a:srgbClr val="111111"/>
                </a:solidFill>
                <a:latin typeface="Arial"/>
                <a:ea typeface="Arial"/>
                <a:cs typeface="Arial"/>
              </a:rPr>
              <a:t>8 providers</a:t>
            </a:r>
          </a:p>
        </p:txBody>
      </p:sp>
      <p:sp>
        <p:nvSpPr>
          <p:cNvPr id="12" name="">
            <a:extLst xmlns:a="http://schemas.openxmlformats.org/drawingml/2006/main">
              <a:ext uri="{FF2B5EF4-FFF2-40B4-BE49-F238E27FC236}">
                <a16:creationId xmlns:a16="http://schemas.microsoft.com/office/drawing/2014/main" id="{54CC6B42-74E9-4498-A8C4-C03BE1C65B8A}"/>
              </a:ext>
            </a:extLst>
          </p:cNvPr>
          <p:cNvSpPr>
            <a:spLocks xmlns:a="http://schemas.openxmlformats.org/drawingml/2006/main" noGrp="1"/>
          </p:cNvSpPr>
          <p:nvPr/>
        </p:nvSpPr>
        <p:spPr>
          <a:xfrm xmlns:a="http://schemas.openxmlformats.org/drawingml/2006/main">
            <a:off x="3886200" y="3143250"/>
            <a:ext cx="2381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Lifecycle catalog</a:t>
            </a:r>
          </a:p>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Package registries</a:t>
            </a:r>
          </a:p>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Vendor documentation</a:t>
            </a:r>
          </a:p>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Manual fallback</a:t>
            </a:r>
          </a:p>
        </p:txBody>
      </p:sp>
      <p:sp>
        <p:nvSpPr>
          <p:cNvPr id="13" name="">
            <a:extLst xmlns:a="http://schemas.openxmlformats.org/drawingml/2006/main">
              <a:ext uri="{FF2B5EF4-FFF2-40B4-BE49-F238E27FC236}">
                <a16:creationId xmlns:a16="http://schemas.microsoft.com/office/drawing/2014/main" id="{856A09B4-D8AA-4276-8CEA-69F1C6BBECF4}"/>
              </a:ext>
            </a:extLst>
          </p:cNvPr>
          <p:cNvSpPr>
            <a:spLocks xmlns:a="http://schemas.openxmlformats.org/drawingml/2006/main" noGrp="1"/>
          </p:cNvSpPr>
          <p:nvPr/>
        </p:nvSpPr>
        <p:spPr>
          <a:xfrm xmlns:a="http://schemas.openxmlformats.org/drawingml/2006/main">
            <a:off x="7505700" y="2133600"/>
            <a:ext cx="4286250" cy="1809750"/>
          </a:xfrm>
          <a:prstGeom xmlns:a="http://schemas.openxmlformats.org/drawingml/2006/main" prst="rect">
            <a:avLst/>
          </a:prstGeom>
          <a:solidFill xmlns:a="http://schemas.openxmlformats.org/drawingml/2006/main">
            <a:srgbClr val="F1F2F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96747A8-C643-4B59-8AE8-FF402E6B7FAB}"/>
              </a:ext>
            </a:extLst>
          </p:cNvPr>
          <p:cNvSpPr>
            <a:spLocks xmlns:a="http://schemas.openxmlformats.org/drawingml/2006/main" noGrp="1"/>
          </p:cNvSpPr>
          <p:nvPr/>
        </p:nvSpPr>
        <p:spPr>
          <a:xfrm xmlns:a="http://schemas.openxmlformats.org/drawingml/2006/main">
            <a:off x="7791450" y="24003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p xmlns:a="http://schemas.openxmlformats.org/drawingml/2006/main">
            <a:pPr algn="l">
              <a:buNone/>
              <a:defRPr sz="1200" b="1">
                <a:solidFill>
                  <a:srgbClr val="5F6670"/>
                </a:solidFill>
                <a:latin typeface="Arial"/>
                <a:ea typeface="Arial"/>
                <a:cs typeface="Arial"/>
              </a:defRPr>
            </a:pPr>
            <a:r>
              <a:rPr sz="1200" b="1">
                <a:solidFill>
                  <a:srgbClr val="5F6670"/>
                </a:solidFill>
                <a:latin typeface="Arial"/>
                <a:ea typeface="Arial"/>
                <a:cs typeface="Arial"/>
              </a:rPr>
              <a:t>NORMALIZED RESULT</a:t>
            </a:r>
          </a:p>
        </p:txBody>
      </p:sp>
      <p:sp>
        <p:nvSpPr>
          <p:cNvPr id="15" name="">
            <a:extLst xmlns:a="http://schemas.openxmlformats.org/drawingml/2006/main">
              <a:ext uri="{FF2B5EF4-FFF2-40B4-BE49-F238E27FC236}">
                <a16:creationId xmlns:a16="http://schemas.microsoft.com/office/drawing/2014/main" id="{CC421CE7-EDBC-469D-934F-29523C176274}"/>
              </a:ext>
            </a:extLst>
          </p:cNvPr>
          <p:cNvSpPr>
            <a:spLocks xmlns:a="http://schemas.openxmlformats.org/drawingml/2006/main" noGrp="1"/>
          </p:cNvSpPr>
          <p:nvPr/>
        </p:nvSpPr>
        <p:spPr>
          <a:xfrm xmlns:a="http://schemas.openxmlformats.org/drawingml/2006/main">
            <a:off x="7791450" y="2800350"/>
            <a:ext cx="3429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620"/>
          </a:bodyPr>
          <a:lstStyle xmlns:a="http://schemas.openxmlformats.org/drawingml/2006/main"/>
          <a:p xmlns:a="http://schemas.openxmlformats.org/drawingml/2006/main">
            <a:pPr algn="l">
              <a:buNone/>
              <a:defRPr sz="2025" b="1">
                <a:solidFill>
                  <a:srgbClr val="111111"/>
                </a:solidFill>
                <a:latin typeface="Arial"/>
                <a:ea typeface="Arial"/>
                <a:cs typeface="Arial"/>
              </a:defRPr>
            </a:pPr>
            <a:r>
              <a:rPr sz="2025" b="1">
                <a:solidFill>
                  <a:srgbClr val="111111"/>
                </a:solidFill>
                <a:latin typeface="Arial"/>
                <a:ea typeface="Arial"/>
                <a:cs typeface="Arial"/>
              </a:rPr>
              <a:t>Status, dates, latest version, message and source link</a:t>
            </a:r>
          </a:p>
        </p:txBody>
      </p:sp>
      <p:sp>
        <p:nvSpPr>
          <p:cNvPr id="16" name="">
            <a:extLst xmlns:a="http://schemas.openxmlformats.org/drawingml/2006/main">
              <a:ext uri="{FF2B5EF4-FFF2-40B4-BE49-F238E27FC236}">
                <a16:creationId xmlns:a16="http://schemas.microsoft.com/office/drawing/2014/main" id="{300D69AE-88C1-4D02-A1B6-2EB8D4407ECC}"/>
              </a:ext>
            </a:extLst>
          </p:cNvPr>
          <p:cNvSpPr>
            <a:spLocks xmlns:a="http://schemas.openxmlformats.org/drawingml/2006/main" noGrp="1"/>
          </p:cNvSpPr>
          <p:nvPr/>
        </p:nvSpPr>
        <p:spPr>
          <a:xfrm xmlns:a="http://schemas.openxmlformats.org/drawingml/2006/main">
            <a:off x="400050" y="47625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667"/>
          </a:bodyPr>
          <a:lstStyle xmlns:a="http://schemas.openxmlformats.org/drawingml/2006/main"/>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Sources available today</a:t>
            </a:r>
          </a:p>
        </p:txBody>
      </p:sp>
      <p:sp>
        <p:nvSpPr>
          <p:cNvPr id="17" name="">
            <a:extLst xmlns:a="http://schemas.openxmlformats.org/drawingml/2006/main">
              <a:ext uri="{FF2B5EF4-FFF2-40B4-BE49-F238E27FC236}">
                <a16:creationId xmlns:a16="http://schemas.microsoft.com/office/drawing/2014/main" id="{C4F671E1-CDFE-4158-9B57-3D5A1B44A31A}"/>
              </a:ext>
            </a:extLst>
          </p:cNvPr>
          <p:cNvSpPr>
            <a:spLocks xmlns:a="http://schemas.openxmlformats.org/drawingml/2006/main" noGrp="1"/>
          </p:cNvSpPr>
          <p:nvPr/>
        </p:nvSpPr>
        <p:spPr>
          <a:xfrm xmlns:a="http://schemas.openxmlformats.org/drawingml/2006/main">
            <a:off x="400050" y="5276850"/>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5F6670"/>
                </a:solidFill>
                <a:latin typeface="Arial"/>
                <a:ea typeface="Arial"/>
                <a:cs typeface="Arial"/>
              </a:defRPr>
            </a:pPr>
            <a:r>
              <a:rPr sz="1575" b="0">
                <a:solidFill>
                  <a:srgbClr val="5F6670"/>
                </a:solidFill>
                <a:latin typeface="Arial"/>
                <a:ea typeface="Arial"/>
                <a:cs typeface="Arial"/>
              </a:rPr>
              <a:t>endoflife.date  •  AWS RDS  •  AWS SDK  •  Jackson  •  Maven Central  •  npm  •  Tyk  •  manual</a:t>
            </a:r>
          </a:p>
        </p:txBody>
      </p:sp>
      <p:sp>
        <p:nvSpPr>
          <p:cNvPr id="18" name="">
            <a:extLst xmlns:a="http://schemas.openxmlformats.org/drawingml/2006/main">
              <a:ext uri="{FF2B5EF4-FFF2-40B4-BE49-F238E27FC236}">
                <a16:creationId xmlns:a16="http://schemas.microsoft.com/office/drawing/2014/main" id="{BFEA4777-A815-490C-AB26-1EB1DC71CB98}"/>
              </a:ext>
            </a:extLst>
          </p:cNvPr>
          <p:cNvSpPr>
            <a:spLocks xmlns:a="http://schemas.openxmlformats.org/drawingml/2006/main" noGrp="1"/>
          </p:cNvSpPr>
          <p:nvPr/>
        </p:nvSpPr>
        <p:spPr>
          <a:xfrm xmlns:a="http://schemas.openxmlformats.org/drawingml/2006/main">
            <a:off x="400050" y="60198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buNone/>
              <a:defRPr sz="1800" b="1">
                <a:solidFill>
                  <a:srgbClr val="111111"/>
                </a:solidFill>
                <a:latin typeface="Arial"/>
                <a:ea typeface="Arial"/>
                <a:cs typeface="Arial"/>
              </a:defRPr>
            </a:pPr>
            <a:r>
              <a:rPr sz="1800" b="1">
                <a:solidFill>
                  <a:srgbClr val="111111"/>
                </a:solidFill>
                <a:latin typeface="Arial"/>
                <a:ea typeface="Arial"/>
                <a:cs typeface="Arial"/>
              </a:rPr>
              <a:t>Adding a provider is localized; reporting does not need to change.</a:t>
            </a:r>
          </a:p>
        </p:txBody>
      </p:sp>
    </p:spTree>
    <p:extLst>
      <p:ext uri="{BB962C8B-B14F-4D97-AF65-F5344CB8AC3E}">
        <p14:creationId xmlns:p14="http://schemas.microsoft.com/office/powerpoint/2010/main" val="15526734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5C717C9B-0E5B-4996-88B8-58132CB36962}"/>
              </a:ext>
            </a:extLst>
          </p:cNvPr>
          <p:cNvSpPr>
            <a:spLocks xmlns:a="http://schemas.openxmlformats.org/drawingml/2006/main" noGrp="1"/>
          </p:cNvSpPr>
          <p:nvPr/>
        </p:nvSpPr>
        <p:spPr>
          <a:xfrm xmlns:a="http://schemas.openxmlformats.org/drawingml/2006/main">
            <a:off x="400050" y="285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l">
              <a:buNone/>
              <a:defRPr sz="1125" b="1">
                <a:solidFill>
                  <a:srgbClr val="5F6670"/>
                </a:solidFill>
                <a:latin typeface="Arial"/>
                <a:ea typeface="Arial"/>
                <a:cs typeface="Arial"/>
              </a:defRPr>
            </a:pPr>
            <a:r>
              <a:rPr sz="1125" b="1">
                <a:solidFill>
                  <a:srgbClr val="5F6670"/>
                </a:solidFill>
                <a:latin typeface="Arial"/>
                <a:ea typeface="Arial"/>
                <a:cs typeface="Arial"/>
              </a:rPr>
              <a:t>REPORTING</a:t>
            </a:r>
          </a:p>
        </p:txBody>
      </p:sp>
      <p:sp>
        <p:nvSpPr>
          <p:cNvPr id="2" name="slide-6-title">
            <a:extLst xmlns:a="http://schemas.openxmlformats.org/drawingml/2006/main">
              <a:ext uri="{FF2B5EF4-FFF2-40B4-BE49-F238E27FC236}">
                <a16:creationId xmlns:a16="http://schemas.microsoft.com/office/drawing/2014/main" id="{08C9B1E2-6A9C-4AE2-80EE-15F6E4B92170}"/>
              </a:ext>
            </a:extLst>
          </p:cNvPr>
          <p:cNvSpPr>
            <a:spLocks xmlns:a="http://schemas.openxmlformats.org/drawingml/2006/main" noGrp="1"/>
          </p:cNvSpPr>
          <p:nvPr/>
        </p:nvSpPr>
        <p:spPr>
          <a:xfrm xmlns:a="http://schemas.openxmlformats.org/drawingml/2006/main">
            <a:off x="400050" y="6286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525" b="1">
                <a:solidFill>
                  <a:srgbClr val="111111"/>
                </a:solidFill>
                <a:latin typeface="Arial"/>
                <a:ea typeface="Arial"/>
                <a:cs typeface="Arial"/>
              </a:defRPr>
            </a:pPr>
            <a:r>
              <a:rPr sz="3525" b="1">
                <a:solidFill>
                  <a:srgbClr val="111111"/>
                </a:solidFill>
                <a:latin typeface="Arial"/>
                <a:ea typeface="Arial"/>
                <a:cs typeface="Arial"/>
              </a:rPr>
              <a:t>The report focuses attention on action</a:t>
            </a:r>
          </a:p>
        </p:txBody>
      </p:sp>
      <p:sp>
        <p:nvSpPr>
          <p:cNvPr id="3" name="">
            <a:extLst xmlns:a="http://schemas.openxmlformats.org/drawingml/2006/main">
              <a:ext uri="{FF2B5EF4-FFF2-40B4-BE49-F238E27FC236}">
                <a16:creationId xmlns:a16="http://schemas.microsoft.com/office/drawing/2014/main" id="{66153068-40DC-4342-B5DC-C448A0FA94CC}"/>
              </a:ext>
            </a:extLst>
          </p:cNvPr>
          <p:cNvSpPr>
            <a:spLocks xmlns:a="http://schemas.openxmlformats.org/drawingml/2006/main" noGrp="1"/>
          </p:cNvSpPr>
          <p:nvPr/>
        </p:nvSpPr>
        <p:spPr>
          <a:xfrm xmlns:a="http://schemas.openxmlformats.org/drawingml/2006/main">
            <a:off x="11277600" y="64008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r">
              <a:buNone/>
              <a:defRPr sz="1125" b="0">
                <a:solidFill>
                  <a:srgbClr val="5F6670"/>
                </a:solidFill>
                <a:latin typeface="Arial"/>
                <a:ea typeface="Arial"/>
                <a:cs typeface="Arial"/>
              </a:defRPr>
            </a:pPr>
            <a:r>
              <a:rPr sz="1125" b="0">
                <a:solidFill>
                  <a:srgbClr val="5F6670"/>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2B7481F5-C917-4AA7-8AA0-E5DF586D6555}"/>
              </a:ext>
            </a:extLst>
          </p:cNvPr>
          <p:cNvSpPr>
            <a:spLocks xmlns:a="http://schemas.openxmlformats.org/drawingml/2006/main" noGrp="1"/>
          </p:cNvSpPr>
          <p:nvPr/>
        </p:nvSpPr>
        <p:spPr>
          <a:xfrm xmlns:a="http://schemas.openxmlformats.org/drawingml/2006/main">
            <a:off x="400050" y="1676400"/>
            <a:ext cx="11391900" cy="457200"/>
          </a:xfrm>
          <a:prstGeom xmlns:a="http://schemas.openxmlformats.org/drawingml/2006/main" prst="rect">
            <a:avLst/>
          </a:prstGeom>
          <a:solidFill xmlns:a="http://schemas.openxmlformats.org/drawingml/2006/main">
            <a:srgbClr val="26323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3980B6F-BE5A-41DF-B095-3DE7C193C69C}"/>
              </a:ext>
            </a:extLst>
          </p:cNvPr>
          <p:cNvSpPr>
            <a:spLocks xmlns:a="http://schemas.openxmlformats.org/drawingml/2006/main" noGrp="1"/>
          </p:cNvSpPr>
          <p:nvPr/>
        </p:nvSpPr>
        <p:spPr>
          <a:xfrm xmlns:a="http://schemas.openxmlformats.org/drawingml/2006/main">
            <a:off x="590550" y="17907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l">
              <a:buNone/>
              <a:defRPr sz="1275" b="1">
                <a:solidFill>
                  <a:srgbClr val="FFFFFF"/>
                </a:solidFill>
                <a:latin typeface="Arial"/>
                <a:ea typeface="Arial"/>
                <a:cs typeface="Arial"/>
              </a:defRPr>
            </a:pPr>
            <a:r>
              <a:rPr sz="1275" b="1">
                <a:solidFill>
                  <a:srgbClr val="FFFFFF"/>
                </a:solidFill>
                <a:latin typeface="Arial"/>
                <a:ea typeface="Arial"/>
                <a:cs typeface="Arial"/>
              </a:rPr>
              <a:t>STATUS</a:t>
            </a:r>
          </a:p>
        </p:txBody>
      </p:sp>
      <p:sp>
        <p:nvSpPr>
          <p:cNvPr id="6" name="">
            <a:extLst xmlns:a="http://schemas.openxmlformats.org/drawingml/2006/main">
              <a:ext uri="{FF2B5EF4-FFF2-40B4-BE49-F238E27FC236}">
                <a16:creationId xmlns:a16="http://schemas.microsoft.com/office/drawing/2014/main" id="{9AA6E765-FF77-4FAB-B840-5464C148419B}"/>
              </a:ext>
            </a:extLst>
          </p:cNvPr>
          <p:cNvSpPr>
            <a:spLocks xmlns:a="http://schemas.openxmlformats.org/drawingml/2006/main" noGrp="1"/>
          </p:cNvSpPr>
          <p:nvPr/>
        </p:nvSpPr>
        <p:spPr>
          <a:xfrm xmlns:a="http://schemas.openxmlformats.org/drawingml/2006/main">
            <a:off x="3257550" y="17907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l">
              <a:buNone/>
              <a:defRPr sz="1275" b="1">
                <a:solidFill>
                  <a:srgbClr val="FFFFFF"/>
                </a:solidFill>
                <a:latin typeface="Arial"/>
                <a:ea typeface="Arial"/>
                <a:cs typeface="Arial"/>
              </a:defRPr>
            </a:pPr>
            <a:r>
              <a:rPr sz="1275" b="1">
                <a:solidFill>
                  <a:srgbClr val="FFFFFF"/>
                </a:solidFill>
                <a:latin typeface="Arial"/>
                <a:ea typeface="Arial"/>
                <a:cs typeface="Arial"/>
              </a:rPr>
              <a:t>WHAT IT MEANS</a:t>
            </a:r>
          </a:p>
        </p:txBody>
      </p:sp>
      <p:sp>
        <p:nvSpPr>
          <p:cNvPr id="7" name="">
            <a:extLst xmlns:a="http://schemas.openxmlformats.org/drawingml/2006/main">
              <a:ext uri="{FF2B5EF4-FFF2-40B4-BE49-F238E27FC236}">
                <a16:creationId xmlns:a16="http://schemas.microsoft.com/office/drawing/2014/main" id="{878F6FBA-5797-4EF2-9708-77E93ED124E6}"/>
              </a:ext>
            </a:extLst>
          </p:cNvPr>
          <p:cNvSpPr>
            <a:spLocks xmlns:a="http://schemas.openxmlformats.org/drawingml/2006/main" noGrp="1"/>
          </p:cNvSpPr>
          <p:nvPr/>
        </p:nvSpPr>
        <p:spPr>
          <a:xfrm xmlns:a="http://schemas.openxmlformats.org/drawingml/2006/main">
            <a:off x="7924800" y="1790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l">
              <a:buNone/>
              <a:defRPr sz="1275" b="1">
                <a:solidFill>
                  <a:srgbClr val="FFFFFF"/>
                </a:solidFill>
                <a:latin typeface="Arial"/>
                <a:ea typeface="Arial"/>
                <a:cs typeface="Arial"/>
              </a:defRPr>
            </a:pPr>
            <a:r>
              <a:rPr sz="1275" b="1">
                <a:solidFill>
                  <a:srgbClr val="FFFFFF"/>
                </a:solidFill>
                <a:latin typeface="Arial"/>
                <a:ea typeface="Arial"/>
                <a:cs typeface="Arial"/>
              </a:rPr>
              <a:t>PROJECT RESPONSE</a:t>
            </a:r>
          </a:p>
        </p:txBody>
      </p:sp>
      <p:sp>
        <p:nvSpPr>
          <p:cNvPr id="8" name="">
            <a:extLst xmlns:a="http://schemas.openxmlformats.org/drawingml/2006/main">
              <a:ext uri="{FF2B5EF4-FFF2-40B4-BE49-F238E27FC236}">
                <a16:creationId xmlns:a16="http://schemas.microsoft.com/office/drawing/2014/main" id="{5378D481-0661-4558-9DA2-DA53D8C46C75}"/>
              </a:ext>
            </a:extLst>
          </p:cNvPr>
          <p:cNvSpPr>
            <a:spLocks xmlns:a="http://schemas.openxmlformats.org/drawingml/2006/main" noGrp="1"/>
          </p:cNvSpPr>
          <p:nvPr/>
        </p:nvSpPr>
        <p:spPr>
          <a:xfrm xmlns:a="http://schemas.openxmlformats.org/drawingml/2006/main">
            <a:off x="400050" y="2133600"/>
            <a:ext cx="11391900" cy="685800"/>
          </a:xfrm>
          <a:prstGeom xmlns:a="http://schemas.openxmlformats.org/drawingml/2006/main" prst="rect">
            <a:avLst/>
          </a:prstGeom>
          <a:solidFill xmlns:a="http://schemas.openxmlformats.org/drawingml/2006/main">
            <a:srgbClr val="FCE4E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E9852EC-D791-4124-8204-6679EA1E895C}"/>
              </a:ext>
            </a:extLst>
          </p:cNvPr>
          <p:cNvSpPr>
            <a:spLocks xmlns:a="http://schemas.openxmlformats.org/drawingml/2006/main" noGrp="1"/>
          </p:cNvSpPr>
          <p:nvPr/>
        </p:nvSpPr>
        <p:spPr>
          <a:xfrm xmlns:a="http://schemas.openxmlformats.org/drawingml/2006/main">
            <a:off x="590550" y="2324100"/>
            <a:ext cx="2038350" cy="304800"/>
          </a:xfrm>
          <a:prstGeom xmlns:a="http://schemas.openxmlformats.org/drawingml/2006/main" prst="roundRect">
            <a:avLst>
              <a:gd name="adj" fmla="val 9375"/>
            </a:avLst>
          </a:prstGeom>
          <a:solidFill xmlns:a="http://schemas.openxmlformats.org/drawingml/2006/main">
            <a:srgbClr val="D32F2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515ADF5-5480-4405-9482-34F38B785937}"/>
              </a:ext>
            </a:extLst>
          </p:cNvPr>
          <p:cNvSpPr>
            <a:spLocks xmlns:a="http://schemas.openxmlformats.org/drawingml/2006/main" noGrp="1"/>
          </p:cNvSpPr>
          <p:nvPr/>
        </p:nvSpPr>
        <p:spPr>
          <a:xfrm xmlns:a="http://schemas.openxmlformats.org/drawingml/2006/main">
            <a:off x="666750" y="2371725"/>
            <a:ext cx="1885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END OF LIFE</a:t>
            </a:r>
          </a:p>
        </p:txBody>
      </p:sp>
      <p:sp>
        <p:nvSpPr>
          <p:cNvPr id="11" name="">
            <a:extLst xmlns:a="http://schemas.openxmlformats.org/drawingml/2006/main">
              <a:ext uri="{FF2B5EF4-FFF2-40B4-BE49-F238E27FC236}">
                <a16:creationId xmlns:a16="http://schemas.microsoft.com/office/drawing/2014/main" id="{52885FDB-8F4F-47D0-9C97-C34DC505E00C}"/>
              </a:ext>
            </a:extLst>
          </p:cNvPr>
          <p:cNvSpPr>
            <a:spLocks xmlns:a="http://schemas.openxmlformats.org/drawingml/2006/main" noGrp="1"/>
          </p:cNvSpPr>
          <p:nvPr/>
        </p:nvSpPr>
        <p:spPr>
          <a:xfrm xmlns:a="http://schemas.openxmlformats.org/drawingml/2006/main">
            <a:off x="3257550" y="231457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11111"/>
                </a:solidFill>
                <a:latin typeface="Arial"/>
                <a:ea typeface="Arial"/>
                <a:cs typeface="Arial"/>
              </a:defRPr>
            </a:pPr>
            <a:r>
              <a:rPr sz="1500" b="0">
                <a:solidFill>
                  <a:srgbClr val="111111"/>
                </a:solidFill>
                <a:latin typeface="Arial"/>
                <a:ea typeface="Arial"/>
                <a:cs typeface="Arial"/>
              </a:rPr>
              <a:t>Support date has passed</a:t>
            </a:r>
          </a:p>
        </p:txBody>
      </p:sp>
      <p:sp>
        <p:nvSpPr>
          <p:cNvPr id="12" name="">
            <a:extLst xmlns:a="http://schemas.openxmlformats.org/drawingml/2006/main">
              <a:ext uri="{FF2B5EF4-FFF2-40B4-BE49-F238E27FC236}">
                <a16:creationId xmlns:a16="http://schemas.microsoft.com/office/drawing/2014/main" id="{C1E39228-7B81-412D-B26A-4D06A05D3A29}"/>
              </a:ext>
            </a:extLst>
          </p:cNvPr>
          <p:cNvSpPr>
            <a:spLocks xmlns:a="http://schemas.openxmlformats.org/drawingml/2006/main" noGrp="1"/>
          </p:cNvSpPr>
          <p:nvPr/>
        </p:nvSpPr>
        <p:spPr>
          <a:xfrm xmlns:a="http://schemas.openxmlformats.org/drawingml/2006/main">
            <a:off x="7924800" y="231457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1">
                <a:solidFill>
                  <a:srgbClr val="111111"/>
                </a:solidFill>
                <a:latin typeface="Arial"/>
                <a:ea typeface="Arial"/>
                <a:cs typeface="Arial"/>
              </a:defRPr>
            </a:pPr>
            <a:r>
              <a:rPr sz="1500" b="1">
                <a:solidFill>
                  <a:srgbClr val="111111"/>
                </a:solidFill>
                <a:latin typeface="Arial"/>
                <a:ea typeface="Arial"/>
                <a:cs typeface="Arial"/>
              </a:rPr>
              <a:t>Plan remediation now</a:t>
            </a:r>
          </a:p>
        </p:txBody>
      </p:sp>
      <p:sp>
        <p:nvSpPr>
          <p:cNvPr id="13" name="">
            <a:extLst xmlns:a="http://schemas.openxmlformats.org/drawingml/2006/main">
              <a:ext uri="{FF2B5EF4-FFF2-40B4-BE49-F238E27FC236}">
                <a16:creationId xmlns:a16="http://schemas.microsoft.com/office/drawing/2014/main" id="{8A5EAE52-39A6-4747-B65A-78FE9365498D}"/>
              </a:ext>
            </a:extLst>
          </p:cNvPr>
          <p:cNvSpPr>
            <a:spLocks xmlns:a="http://schemas.openxmlformats.org/drawingml/2006/main" noGrp="1"/>
          </p:cNvSpPr>
          <p:nvPr/>
        </p:nvSpPr>
        <p:spPr>
          <a:xfrm xmlns:a="http://schemas.openxmlformats.org/drawingml/2006/main">
            <a:off x="400050" y="2819400"/>
            <a:ext cx="11391900" cy="685800"/>
          </a:xfrm>
          <a:prstGeom xmlns:a="http://schemas.openxmlformats.org/drawingml/2006/main" prst="rect">
            <a:avLst/>
          </a:prstGeom>
          <a:solidFill xmlns:a="http://schemas.openxmlformats.org/drawingml/2006/main">
            <a:srgbClr val="FFF3D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2DCBCD4-8E05-43AD-B222-47B289BC27CE}"/>
              </a:ext>
            </a:extLst>
          </p:cNvPr>
          <p:cNvSpPr>
            <a:spLocks xmlns:a="http://schemas.openxmlformats.org/drawingml/2006/main" noGrp="1"/>
          </p:cNvSpPr>
          <p:nvPr/>
        </p:nvSpPr>
        <p:spPr>
          <a:xfrm xmlns:a="http://schemas.openxmlformats.org/drawingml/2006/main">
            <a:off x="590550" y="3009900"/>
            <a:ext cx="2038350" cy="304800"/>
          </a:xfrm>
          <a:prstGeom xmlns:a="http://schemas.openxmlformats.org/drawingml/2006/main" prst="roundRect">
            <a:avLst>
              <a:gd name="adj" fmla="val 9375"/>
            </a:avLst>
          </a:prstGeom>
          <a:solidFill xmlns:a="http://schemas.openxmlformats.org/drawingml/2006/main">
            <a:srgbClr val="F57C0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8B14C74-7043-466A-859D-E6C31180AD55}"/>
              </a:ext>
            </a:extLst>
          </p:cNvPr>
          <p:cNvSpPr>
            <a:spLocks xmlns:a="http://schemas.openxmlformats.org/drawingml/2006/main" noGrp="1"/>
          </p:cNvSpPr>
          <p:nvPr/>
        </p:nvSpPr>
        <p:spPr>
          <a:xfrm xmlns:a="http://schemas.openxmlformats.org/drawingml/2006/main">
            <a:off x="666750" y="3057525"/>
            <a:ext cx="1885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APPROACHING</a:t>
            </a:r>
          </a:p>
        </p:txBody>
      </p:sp>
      <p:sp>
        <p:nvSpPr>
          <p:cNvPr id="16" name="">
            <a:extLst xmlns:a="http://schemas.openxmlformats.org/drawingml/2006/main">
              <a:ext uri="{FF2B5EF4-FFF2-40B4-BE49-F238E27FC236}">
                <a16:creationId xmlns:a16="http://schemas.microsoft.com/office/drawing/2014/main" id="{4BC5CFD8-C039-4113-9731-57A89E790112}"/>
              </a:ext>
            </a:extLst>
          </p:cNvPr>
          <p:cNvSpPr>
            <a:spLocks xmlns:a="http://schemas.openxmlformats.org/drawingml/2006/main" noGrp="1"/>
          </p:cNvSpPr>
          <p:nvPr/>
        </p:nvSpPr>
        <p:spPr>
          <a:xfrm xmlns:a="http://schemas.openxmlformats.org/drawingml/2006/main">
            <a:off x="3257550" y="300037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11111"/>
                </a:solidFill>
                <a:latin typeface="Arial"/>
                <a:ea typeface="Arial"/>
                <a:cs typeface="Arial"/>
              </a:defRPr>
            </a:pPr>
            <a:r>
              <a:rPr sz="1500" b="0">
                <a:solidFill>
                  <a:srgbClr val="111111"/>
                </a:solidFill>
                <a:latin typeface="Arial"/>
                <a:ea typeface="Arial"/>
                <a:cs typeface="Arial"/>
              </a:rPr>
              <a:t>Within the configured alert window</a:t>
            </a:r>
          </a:p>
        </p:txBody>
      </p:sp>
      <p:sp>
        <p:nvSpPr>
          <p:cNvPr id="17" name="">
            <a:extLst xmlns:a="http://schemas.openxmlformats.org/drawingml/2006/main">
              <a:ext uri="{FF2B5EF4-FFF2-40B4-BE49-F238E27FC236}">
                <a16:creationId xmlns:a16="http://schemas.microsoft.com/office/drawing/2014/main" id="{E104AE97-6061-450C-9C39-5E0A4CBF961A}"/>
              </a:ext>
            </a:extLst>
          </p:cNvPr>
          <p:cNvSpPr>
            <a:spLocks xmlns:a="http://schemas.openxmlformats.org/drawingml/2006/main" noGrp="1"/>
          </p:cNvSpPr>
          <p:nvPr/>
        </p:nvSpPr>
        <p:spPr>
          <a:xfrm xmlns:a="http://schemas.openxmlformats.org/drawingml/2006/main">
            <a:off x="7924800" y="300037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1">
                <a:solidFill>
                  <a:srgbClr val="111111"/>
                </a:solidFill>
                <a:latin typeface="Arial"/>
                <a:ea typeface="Arial"/>
                <a:cs typeface="Arial"/>
              </a:defRPr>
            </a:pPr>
            <a:r>
              <a:rPr sz="1500" b="1">
                <a:solidFill>
                  <a:srgbClr val="111111"/>
                </a:solidFill>
                <a:latin typeface="Arial"/>
                <a:ea typeface="Arial"/>
                <a:cs typeface="Arial"/>
              </a:rPr>
              <a:t>Place upgrade in the plan</a:t>
            </a:r>
          </a:p>
        </p:txBody>
      </p:sp>
      <p:sp>
        <p:nvSpPr>
          <p:cNvPr id="18" name="">
            <a:extLst xmlns:a="http://schemas.openxmlformats.org/drawingml/2006/main">
              <a:ext uri="{FF2B5EF4-FFF2-40B4-BE49-F238E27FC236}">
                <a16:creationId xmlns:a16="http://schemas.microsoft.com/office/drawing/2014/main" id="{7763B657-EF28-4719-8983-A37365C17461}"/>
              </a:ext>
            </a:extLst>
          </p:cNvPr>
          <p:cNvSpPr>
            <a:spLocks xmlns:a="http://schemas.openxmlformats.org/drawingml/2006/main" noGrp="1"/>
          </p:cNvSpPr>
          <p:nvPr/>
        </p:nvSpPr>
        <p:spPr>
          <a:xfrm xmlns:a="http://schemas.openxmlformats.org/drawingml/2006/main">
            <a:off x="400050" y="3505200"/>
            <a:ext cx="11391900" cy="685800"/>
          </a:xfrm>
          <a:prstGeom xmlns:a="http://schemas.openxmlformats.org/drawingml/2006/main" prst="rect">
            <a:avLst/>
          </a:prstGeom>
          <a:solidFill xmlns:a="http://schemas.openxmlformats.org/drawingml/2006/main">
            <a:srgbClr val="E8F5E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4FB161F-D674-4151-9866-2277BBB1DF8B}"/>
              </a:ext>
            </a:extLst>
          </p:cNvPr>
          <p:cNvSpPr>
            <a:spLocks xmlns:a="http://schemas.openxmlformats.org/drawingml/2006/main" noGrp="1"/>
          </p:cNvSpPr>
          <p:nvPr/>
        </p:nvSpPr>
        <p:spPr>
          <a:xfrm xmlns:a="http://schemas.openxmlformats.org/drawingml/2006/main">
            <a:off x="590550" y="3695700"/>
            <a:ext cx="2038350" cy="304800"/>
          </a:xfrm>
          <a:prstGeom xmlns:a="http://schemas.openxmlformats.org/drawingml/2006/main" prst="roundRect">
            <a:avLst>
              <a:gd name="adj" fmla="val 9375"/>
            </a:avLst>
          </a:prstGeom>
          <a:solidFill xmlns:a="http://schemas.openxmlformats.org/drawingml/2006/main">
            <a:srgbClr val="2E7D3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C984B23-6BF5-46B2-A633-784BD02CFFFE}"/>
              </a:ext>
            </a:extLst>
          </p:cNvPr>
          <p:cNvSpPr>
            <a:spLocks xmlns:a="http://schemas.openxmlformats.org/drawingml/2006/main" noGrp="1"/>
          </p:cNvSpPr>
          <p:nvPr/>
        </p:nvSpPr>
        <p:spPr>
          <a:xfrm xmlns:a="http://schemas.openxmlformats.org/drawingml/2006/main">
            <a:off x="666750" y="3743325"/>
            <a:ext cx="1885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OK</a:t>
            </a:r>
          </a:p>
        </p:txBody>
      </p:sp>
      <p:sp>
        <p:nvSpPr>
          <p:cNvPr id="21" name="">
            <a:extLst xmlns:a="http://schemas.openxmlformats.org/drawingml/2006/main">
              <a:ext uri="{FF2B5EF4-FFF2-40B4-BE49-F238E27FC236}">
                <a16:creationId xmlns:a16="http://schemas.microsoft.com/office/drawing/2014/main" id="{EDF0F45F-E3D2-4E29-99A3-C258CA500F50}"/>
              </a:ext>
            </a:extLst>
          </p:cNvPr>
          <p:cNvSpPr>
            <a:spLocks xmlns:a="http://schemas.openxmlformats.org/drawingml/2006/main" noGrp="1"/>
          </p:cNvSpPr>
          <p:nvPr/>
        </p:nvSpPr>
        <p:spPr>
          <a:xfrm xmlns:a="http://schemas.openxmlformats.org/drawingml/2006/main">
            <a:off x="3257550" y="368617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11111"/>
                </a:solidFill>
                <a:latin typeface="Arial"/>
                <a:ea typeface="Arial"/>
                <a:cs typeface="Arial"/>
              </a:defRPr>
            </a:pPr>
            <a:r>
              <a:rPr sz="1500" b="0">
                <a:solidFill>
                  <a:srgbClr val="111111"/>
                </a:solidFill>
                <a:latin typeface="Arial"/>
                <a:ea typeface="Arial"/>
                <a:cs typeface="Arial"/>
              </a:rPr>
              <a:t>No immediate EOL concern</a:t>
            </a:r>
          </a:p>
        </p:txBody>
      </p:sp>
      <p:sp>
        <p:nvSpPr>
          <p:cNvPr id="22" name="">
            <a:extLst xmlns:a="http://schemas.openxmlformats.org/drawingml/2006/main">
              <a:ext uri="{FF2B5EF4-FFF2-40B4-BE49-F238E27FC236}">
                <a16:creationId xmlns:a16="http://schemas.microsoft.com/office/drawing/2014/main" id="{6714CE66-12F5-4BD0-8008-4801F194D1E2}"/>
              </a:ext>
            </a:extLst>
          </p:cNvPr>
          <p:cNvSpPr>
            <a:spLocks xmlns:a="http://schemas.openxmlformats.org/drawingml/2006/main" noGrp="1"/>
          </p:cNvSpPr>
          <p:nvPr/>
        </p:nvSpPr>
        <p:spPr>
          <a:xfrm xmlns:a="http://schemas.openxmlformats.org/drawingml/2006/main">
            <a:off x="7924800" y="368617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1">
                <a:solidFill>
                  <a:srgbClr val="111111"/>
                </a:solidFill>
                <a:latin typeface="Arial"/>
                <a:ea typeface="Arial"/>
                <a:cs typeface="Arial"/>
              </a:defRPr>
            </a:pPr>
            <a:r>
              <a:rPr sz="1500" b="1">
                <a:solidFill>
                  <a:srgbClr val="111111"/>
                </a:solidFill>
                <a:latin typeface="Arial"/>
                <a:ea typeface="Arial"/>
                <a:cs typeface="Arial"/>
              </a:rPr>
              <a:t>Continue monitoring</a:t>
            </a:r>
          </a:p>
        </p:txBody>
      </p:sp>
      <p:sp>
        <p:nvSpPr>
          <p:cNvPr id="23" name="">
            <a:extLst xmlns:a="http://schemas.openxmlformats.org/drawingml/2006/main">
              <a:ext uri="{FF2B5EF4-FFF2-40B4-BE49-F238E27FC236}">
                <a16:creationId xmlns:a16="http://schemas.microsoft.com/office/drawing/2014/main" id="{1A47EA7F-7853-4D07-BF39-BC5B48259DC6}"/>
              </a:ext>
            </a:extLst>
          </p:cNvPr>
          <p:cNvSpPr>
            <a:spLocks xmlns:a="http://schemas.openxmlformats.org/drawingml/2006/main" noGrp="1"/>
          </p:cNvSpPr>
          <p:nvPr/>
        </p:nvSpPr>
        <p:spPr>
          <a:xfrm xmlns:a="http://schemas.openxmlformats.org/drawingml/2006/main">
            <a:off x="400050" y="4191000"/>
            <a:ext cx="11391900" cy="685800"/>
          </a:xfrm>
          <a:prstGeom xmlns:a="http://schemas.openxmlformats.org/drawingml/2006/main" prst="rect">
            <a:avLst/>
          </a:prstGeom>
          <a:solidFill xmlns:a="http://schemas.openxmlformats.org/drawingml/2006/main">
            <a:srgbClr val="F1F2F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5A13322-B4FA-4BFB-8CA9-7E9BE07BB908}"/>
              </a:ext>
            </a:extLst>
          </p:cNvPr>
          <p:cNvSpPr>
            <a:spLocks xmlns:a="http://schemas.openxmlformats.org/drawingml/2006/main" noGrp="1"/>
          </p:cNvSpPr>
          <p:nvPr/>
        </p:nvSpPr>
        <p:spPr>
          <a:xfrm xmlns:a="http://schemas.openxmlformats.org/drawingml/2006/main">
            <a:off x="590550" y="4381500"/>
            <a:ext cx="2038350" cy="304800"/>
          </a:xfrm>
          <a:prstGeom xmlns:a="http://schemas.openxmlformats.org/drawingml/2006/main" prst="roundRect">
            <a:avLst>
              <a:gd name="adj" fmla="val 9375"/>
            </a:avLst>
          </a:prstGeom>
          <a:solidFill xmlns:a="http://schemas.openxmlformats.org/drawingml/2006/main">
            <a:srgbClr val="6B728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A605054-C835-4EC7-A8E3-30F8A9A50511}"/>
              </a:ext>
            </a:extLst>
          </p:cNvPr>
          <p:cNvSpPr>
            <a:spLocks xmlns:a="http://schemas.openxmlformats.org/drawingml/2006/main" noGrp="1"/>
          </p:cNvSpPr>
          <p:nvPr/>
        </p:nvSpPr>
        <p:spPr>
          <a:xfrm xmlns:a="http://schemas.openxmlformats.org/drawingml/2006/main">
            <a:off x="666750" y="4429125"/>
            <a:ext cx="1885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ERROR</a:t>
            </a:r>
          </a:p>
        </p:txBody>
      </p:sp>
      <p:sp>
        <p:nvSpPr>
          <p:cNvPr id="26" name="">
            <a:extLst xmlns:a="http://schemas.openxmlformats.org/drawingml/2006/main">
              <a:ext uri="{FF2B5EF4-FFF2-40B4-BE49-F238E27FC236}">
                <a16:creationId xmlns:a16="http://schemas.microsoft.com/office/drawing/2014/main" id="{21C10C9D-0850-4AD1-8AA4-3B51B0C009C9}"/>
              </a:ext>
            </a:extLst>
          </p:cNvPr>
          <p:cNvSpPr>
            <a:spLocks xmlns:a="http://schemas.openxmlformats.org/drawingml/2006/main" noGrp="1"/>
          </p:cNvSpPr>
          <p:nvPr/>
        </p:nvSpPr>
        <p:spPr>
          <a:xfrm xmlns:a="http://schemas.openxmlformats.org/drawingml/2006/main">
            <a:off x="3257550" y="437197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11111"/>
                </a:solidFill>
                <a:latin typeface="Arial"/>
                <a:ea typeface="Arial"/>
                <a:cs typeface="Arial"/>
              </a:defRPr>
            </a:pPr>
            <a:r>
              <a:rPr sz="1500" b="0">
                <a:solidFill>
                  <a:srgbClr val="111111"/>
                </a:solidFill>
                <a:latin typeface="Arial"/>
                <a:ea typeface="Arial"/>
                <a:cs typeface="Arial"/>
              </a:rPr>
              <a:t>Source or lookup failed</a:t>
            </a:r>
          </a:p>
        </p:txBody>
      </p:sp>
      <p:sp>
        <p:nvSpPr>
          <p:cNvPr id="27" name="">
            <a:extLst xmlns:a="http://schemas.openxmlformats.org/drawingml/2006/main">
              <a:ext uri="{FF2B5EF4-FFF2-40B4-BE49-F238E27FC236}">
                <a16:creationId xmlns:a16="http://schemas.microsoft.com/office/drawing/2014/main" id="{86917967-2B85-4C76-A436-CF63A87EE3B2}"/>
              </a:ext>
            </a:extLst>
          </p:cNvPr>
          <p:cNvSpPr>
            <a:spLocks xmlns:a="http://schemas.openxmlformats.org/drawingml/2006/main" noGrp="1"/>
          </p:cNvSpPr>
          <p:nvPr/>
        </p:nvSpPr>
        <p:spPr>
          <a:xfrm xmlns:a="http://schemas.openxmlformats.org/drawingml/2006/main">
            <a:off x="7924800" y="437197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1">
                <a:solidFill>
                  <a:srgbClr val="111111"/>
                </a:solidFill>
                <a:latin typeface="Arial"/>
                <a:ea typeface="Arial"/>
                <a:cs typeface="Arial"/>
              </a:defRPr>
            </a:pPr>
            <a:r>
              <a:rPr sz="1500" b="1">
                <a:solidFill>
                  <a:srgbClr val="111111"/>
                </a:solidFill>
                <a:latin typeface="Arial"/>
                <a:ea typeface="Arial"/>
                <a:cs typeface="Arial"/>
              </a:rPr>
              <a:t>Investigate data quality</a:t>
            </a:r>
          </a:p>
        </p:txBody>
      </p:sp>
      <p:sp>
        <p:nvSpPr>
          <p:cNvPr id="28" name="">
            <a:extLst xmlns:a="http://schemas.openxmlformats.org/drawingml/2006/main">
              <a:ext uri="{FF2B5EF4-FFF2-40B4-BE49-F238E27FC236}">
                <a16:creationId xmlns:a16="http://schemas.microsoft.com/office/drawing/2014/main" id="{E7712D3E-0519-43F5-93CD-4B8182872679}"/>
              </a:ext>
            </a:extLst>
          </p:cNvPr>
          <p:cNvSpPr>
            <a:spLocks xmlns:a="http://schemas.openxmlformats.org/drawingml/2006/main" noGrp="1"/>
          </p:cNvSpPr>
          <p:nvPr/>
        </p:nvSpPr>
        <p:spPr>
          <a:xfrm xmlns:a="http://schemas.openxmlformats.org/drawingml/2006/main">
            <a:off x="400050" y="4876800"/>
            <a:ext cx="11391900" cy="685800"/>
          </a:xfrm>
          <a:prstGeom xmlns:a="http://schemas.openxmlformats.org/drawingml/2006/main" prst="rect">
            <a:avLst/>
          </a:prstGeom>
          <a:solidFill xmlns:a="http://schemas.openxmlformats.org/drawingml/2006/main">
            <a:srgbClr val="ECEFF1"/>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A7FD41DE-F9F0-4674-923B-8E6EFE207686}"/>
              </a:ext>
            </a:extLst>
          </p:cNvPr>
          <p:cNvSpPr>
            <a:spLocks xmlns:a="http://schemas.openxmlformats.org/drawingml/2006/main" noGrp="1"/>
          </p:cNvSpPr>
          <p:nvPr/>
        </p:nvSpPr>
        <p:spPr>
          <a:xfrm xmlns:a="http://schemas.openxmlformats.org/drawingml/2006/main">
            <a:off x="590550" y="5067300"/>
            <a:ext cx="2038350" cy="304800"/>
          </a:xfrm>
          <a:prstGeom xmlns:a="http://schemas.openxmlformats.org/drawingml/2006/main" prst="roundRect">
            <a:avLst>
              <a:gd name="adj" fmla="val 9375"/>
            </a:avLst>
          </a:prstGeom>
          <a:solidFill xmlns:a="http://schemas.openxmlformats.org/drawingml/2006/main">
            <a:srgbClr val="607D8B"/>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C08C858-507A-4F17-B11A-B3FDD179B70C}"/>
              </a:ext>
            </a:extLst>
          </p:cNvPr>
          <p:cNvSpPr>
            <a:spLocks xmlns:a="http://schemas.openxmlformats.org/drawingml/2006/main" noGrp="1"/>
          </p:cNvSpPr>
          <p:nvPr/>
        </p:nvSpPr>
        <p:spPr>
          <a:xfrm xmlns:a="http://schemas.openxmlformats.org/drawingml/2006/main">
            <a:off x="666750" y="5114925"/>
            <a:ext cx="1885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UNTRACKED</a:t>
            </a:r>
          </a:p>
        </p:txBody>
      </p:sp>
      <p:sp>
        <p:nvSpPr>
          <p:cNvPr id="31" name="">
            <a:extLst xmlns:a="http://schemas.openxmlformats.org/drawingml/2006/main">
              <a:ext uri="{FF2B5EF4-FFF2-40B4-BE49-F238E27FC236}">
                <a16:creationId xmlns:a16="http://schemas.microsoft.com/office/drawing/2014/main" id="{DA685E53-8B2A-4EA0-8409-B27A0837E478}"/>
              </a:ext>
            </a:extLst>
          </p:cNvPr>
          <p:cNvSpPr>
            <a:spLocks xmlns:a="http://schemas.openxmlformats.org/drawingml/2006/main" noGrp="1"/>
          </p:cNvSpPr>
          <p:nvPr/>
        </p:nvSpPr>
        <p:spPr>
          <a:xfrm xmlns:a="http://schemas.openxmlformats.org/drawingml/2006/main">
            <a:off x="3257550" y="505777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11111"/>
                </a:solidFill>
                <a:latin typeface="Arial"/>
                <a:ea typeface="Arial"/>
                <a:cs typeface="Arial"/>
              </a:defRPr>
            </a:pPr>
            <a:r>
              <a:rPr sz="1500" b="0">
                <a:solidFill>
                  <a:srgbClr val="111111"/>
                </a:solidFill>
                <a:latin typeface="Arial"/>
                <a:ea typeface="Arial"/>
                <a:cs typeface="Arial"/>
              </a:rPr>
              <a:t>No automated EOL source</a:t>
            </a:r>
          </a:p>
        </p:txBody>
      </p:sp>
      <p:sp>
        <p:nvSpPr>
          <p:cNvPr id="32" name="">
            <a:extLst xmlns:a="http://schemas.openxmlformats.org/drawingml/2006/main">
              <a:ext uri="{FF2B5EF4-FFF2-40B4-BE49-F238E27FC236}">
                <a16:creationId xmlns:a16="http://schemas.microsoft.com/office/drawing/2014/main" id="{CF1D60AA-EA1F-41BD-8405-C92536C5620D}"/>
              </a:ext>
            </a:extLst>
          </p:cNvPr>
          <p:cNvSpPr>
            <a:spLocks xmlns:a="http://schemas.openxmlformats.org/drawingml/2006/main" noGrp="1"/>
          </p:cNvSpPr>
          <p:nvPr/>
        </p:nvSpPr>
        <p:spPr>
          <a:xfrm xmlns:a="http://schemas.openxmlformats.org/drawingml/2006/main">
            <a:off x="7924800" y="505777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1">
                <a:solidFill>
                  <a:srgbClr val="111111"/>
                </a:solidFill>
                <a:latin typeface="Arial"/>
                <a:ea typeface="Arial"/>
                <a:cs typeface="Arial"/>
              </a:defRPr>
            </a:pPr>
            <a:r>
              <a:rPr sz="1500" b="1">
                <a:solidFill>
                  <a:srgbClr val="111111"/>
                </a:solidFill>
                <a:latin typeface="Arial"/>
                <a:ea typeface="Arial"/>
                <a:cs typeface="Arial"/>
              </a:rPr>
              <a:t>Assign a manual owner</a:t>
            </a:r>
          </a:p>
        </p:txBody>
      </p:sp>
      <p:sp>
        <p:nvSpPr>
          <p:cNvPr id="33" name="">
            <a:extLst xmlns:a="http://schemas.openxmlformats.org/drawingml/2006/main">
              <a:ext uri="{FF2B5EF4-FFF2-40B4-BE49-F238E27FC236}">
                <a16:creationId xmlns:a16="http://schemas.microsoft.com/office/drawing/2014/main" id="{BC5956E0-460F-4FA8-AB05-8E526AC9E9F8}"/>
              </a:ext>
            </a:extLst>
          </p:cNvPr>
          <p:cNvSpPr>
            <a:spLocks xmlns:a="http://schemas.openxmlformats.org/drawingml/2006/main" noGrp="1"/>
          </p:cNvSpPr>
          <p:nvPr/>
        </p:nvSpPr>
        <p:spPr>
          <a:xfrm xmlns:a="http://schemas.openxmlformats.org/drawingml/2006/main">
            <a:off x="400050" y="5810250"/>
            <a:ext cx="609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11111"/>
                </a:solidFill>
                <a:latin typeface="Arial"/>
                <a:ea typeface="Arial"/>
                <a:cs typeface="Arial"/>
              </a:defRPr>
            </a:pPr>
            <a:r>
              <a:rPr sz="1575" b="1">
                <a:solidFill>
                  <a:srgbClr val="111111"/>
                </a:solidFill>
                <a:latin typeface="Arial"/>
                <a:ea typeface="Arial"/>
                <a:cs typeface="Arial"/>
              </a:rPr>
              <a:t>Sample configuration uses 30 / 60 / 90-day thresholds.</a:t>
            </a:r>
          </a:p>
        </p:txBody>
      </p:sp>
      <p:sp>
        <p:nvSpPr>
          <p:cNvPr id="34" name="">
            <a:extLst xmlns:a="http://schemas.openxmlformats.org/drawingml/2006/main">
              <a:ext uri="{FF2B5EF4-FFF2-40B4-BE49-F238E27FC236}">
                <a16:creationId xmlns:a16="http://schemas.microsoft.com/office/drawing/2014/main" id="{FB913FDF-1896-4CFF-A670-2C51C5670404}"/>
              </a:ext>
            </a:extLst>
          </p:cNvPr>
          <p:cNvSpPr>
            <a:spLocks xmlns:a="http://schemas.openxmlformats.org/drawingml/2006/main" noGrp="1"/>
          </p:cNvSpPr>
          <p:nvPr/>
        </p:nvSpPr>
        <p:spPr>
          <a:xfrm xmlns:a="http://schemas.openxmlformats.org/drawingml/2006/main">
            <a:off x="7239000" y="5810250"/>
            <a:ext cx="4552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r">
              <a:buNone/>
              <a:defRPr sz="1425" b="0">
                <a:solidFill>
                  <a:srgbClr val="5F6670"/>
                </a:solidFill>
                <a:latin typeface="Arial"/>
                <a:ea typeface="Arial"/>
                <a:cs typeface="Arial"/>
              </a:defRPr>
            </a:pPr>
            <a:r>
              <a:rPr sz="1425" b="0">
                <a:solidFill>
                  <a:srgbClr val="5F6670"/>
                </a:solidFill>
                <a:latin typeface="Arial"/>
                <a:ea typeface="Arial"/>
                <a:cs typeface="Arial"/>
              </a:rPr>
              <a:t>Current alert decision: EOL + approaching items</a:t>
            </a:r>
          </a:p>
        </p:txBody>
      </p:sp>
    </p:spTree>
    <p:extLst>
      <p:ext uri="{BB962C8B-B14F-4D97-AF65-F5344CB8AC3E}">
        <p14:creationId xmlns:p14="http://schemas.microsoft.com/office/powerpoint/2010/main" val="1948892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4C690F1-F184-4586-BA56-DD59B6A7E379}"/>
              </a:ext>
            </a:extLst>
          </p:cNvPr>
          <p:cNvSpPr>
            <a:spLocks xmlns:a="http://schemas.openxmlformats.org/drawingml/2006/main" noGrp="1"/>
          </p:cNvSpPr>
          <p:nvPr/>
        </p:nvSpPr>
        <p:spPr>
          <a:xfrm xmlns:a="http://schemas.openxmlformats.org/drawingml/2006/main">
            <a:off x="400050" y="285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l">
              <a:buNone/>
              <a:defRPr sz="1125" b="1">
                <a:solidFill>
                  <a:srgbClr val="5F6670"/>
                </a:solidFill>
                <a:latin typeface="Arial"/>
                <a:ea typeface="Arial"/>
                <a:cs typeface="Arial"/>
              </a:defRPr>
            </a:pPr>
            <a:r>
              <a:rPr sz="1125" b="1">
                <a:solidFill>
                  <a:srgbClr val="5F6670"/>
                </a:solidFill>
                <a:latin typeface="Arial"/>
                <a:ea typeface="Arial"/>
                <a:cs typeface="Arial"/>
              </a:rPr>
              <a:t>USAGE &amp; READINESS</a:t>
            </a:r>
          </a:p>
        </p:txBody>
      </p:sp>
      <p:sp>
        <p:nvSpPr>
          <p:cNvPr id="2" name="slide-7-title">
            <a:extLst xmlns:a="http://schemas.openxmlformats.org/drawingml/2006/main">
              <a:ext uri="{FF2B5EF4-FFF2-40B4-BE49-F238E27FC236}">
                <a16:creationId xmlns:a16="http://schemas.microsoft.com/office/drawing/2014/main" id="{C0C5C135-EF51-405F-B96E-A77ED315B66A}"/>
              </a:ext>
            </a:extLst>
          </p:cNvPr>
          <p:cNvSpPr>
            <a:spLocks xmlns:a="http://schemas.openxmlformats.org/drawingml/2006/main" noGrp="1"/>
          </p:cNvSpPr>
          <p:nvPr/>
        </p:nvSpPr>
        <p:spPr>
          <a:xfrm xmlns:a="http://schemas.openxmlformats.org/drawingml/2006/main">
            <a:off x="400050" y="6286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141"/>
          </a:bodyPr>
          <a:lstStyle xmlns:a="http://schemas.openxmlformats.org/drawingml/2006/main"/>
          <a:p xmlns:a="http://schemas.openxmlformats.org/drawingml/2006/main">
            <a:pPr algn="l">
              <a:buNone/>
              <a:defRPr sz="3525" b="1">
                <a:solidFill>
                  <a:srgbClr val="111111"/>
                </a:solidFill>
                <a:latin typeface="Arial"/>
                <a:ea typeface="Arial"/>
                <a:cs typeface="Arial"/>
              </a:defRPr>
            </a:pPr>
            <a:r>
              <a:rPr sz="3525" b="1">
                <a:solidFill>
                  <a:srgbClr val="111111"/>
                </a:solidFill>
                <a:latin typeface="Arial"/>
                <a:ea typeface="Arial"/>
                <a:cs typeface="Arial"/>
              </a:rPr>
              <a:t>Manual use works; scheduled delivery needs validation</a:t>
            </a:r>
          </a:p>
        </p:txBody>
      </p:sp>
      <p:sp>
        <p:nvSpPr>
          <p:cNvPr id="3" name="">
            <a:extLst xmlns:a="http://schemas.openxmlformats.org/drawingml/2006/main">
              <a:ext uri="{FF2B5EF4-FFF2-40B4-BE49-F238E27FC236}">
                <a16:creationId xmlns:a16="http://schemas.microsoft.com/office/drawing/2014/main" id="{AE26A406-40DB-4DCA-A6A9-BBEAC49600A6}"/>
              </a:ext>
            </a:extLst>
          </p:cNvPr>
          <p:cNvSpPr>
            <a:spLocks xmlns:a="http://schemas.openxmlformats.org/drawingml/2006/main" noGrp="1"/>
          </p:cNvSpPr>
          <p:nvPr/>
        </p:nvSpPr>
        <p:spPr>
          <a:xfrm xmlns:a="http://schemas.openxmlformats.org/drawingml/2006/main">
            <a:off x="11277600" y="64008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r">
              <a:buNone/>
              <a:defRPr sz="1125" b="0">
                <a:solidFill>
                  <a:srgbClr val="5F6670"/>
                </a:solidFill>
                <a:latin typeface="Arial"/>
                <a:ea typeface="Arial"/>
                <a:cs typeface="Arial"/>
              </a:defRPr>
            </a:pPr>
            <a:r>
              <a:rPr sz="1125" b="0">
                <a:solidFill>
                  <a:srgbClr val="5F6670"/>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F5C4DDDA-64EE-4249-812E-4B9793B1B421}"/>
              </a:ext>
            </a:extLst>
          </p:cNvPr>
          <p:cNvSpPr>
            <a:spLocks xmlns:a="http://schemas.openxmlformats.org/drawingml/2006/main" noGrp="1"/>
          </p:cNvSpPr>
          <p:nvPr/>
        </p:nvSpPr>
        <p:spPr>
          <a:xfrm xmlns:a="http://schemas.openxmlformats.org/drawingml/2006/main">
            <a:off x="400050" y="1676400"/>
            <a:ext cx="5295900" cy="3886200"/>
          </a:xfrm>
          <a:prstGeom xmlns:a="http://schemas.openxmlformats.org/drawingml/2006/main" prst="rect">
            <a:avLst/>
          </a:prstGeom>
          <a:solidFill xmlns:a="http://schemas.openxmlformats.org/drawingml/2006/main">
            <a:srgbClr val="E8F5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FC45358-5411-497E-8D38-F8C1F96F449F}"/>
              </a:ext>
            </a:extLst>
          </p:cNvPr>
          <p:cNvSpPr>
            <a:spLocks xmlns:a="http://schemas.openxmlformats.org/drawingml/2006/main" noGrp="1"/>
          </p:cNvSpPr>
          <p:nvPr/>
        </p:nvSpPr>
        <p:spPr>
          <a:xfrm xmlns:a="http://schemas.openxmlformats.org/drawingml/2006/main">
            <a:off x="704850" y="19812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p xmlns:a="http://schemas.openxmlformats.org/drawingml/2006/main">
            <a:pPr algn="l">
              <a:buNone/>
              <a:defRPr sz="1200" b="1">
                <a:solidFill>
                  <a:srgbClr val="2E7D32"/>
                </a:solidFill>
                <a:latin typeface="Arial"/>
                <a:ea typeface="Arial"/>
                <a:cs typeface="Arial"/>
              </a:defRPr>
            </a:pPr>
            <a:r>
              <a:rPr sz="1200" b="1">
                <a:solidFill>
                  <a:srgbClr val="2E7D32"/>
                </a:solidFill>
                <a:latin typeface="Arial"/>
                <a:ea typeface="Arial"/>
                <a:cs typeface="Arial"/>
              </a:rPr>
              <a:t>TESTED TODAY</a:t>
            </a:r>
          </a:p>
        </p:txBody>
      </p:sp>
      <p:sp>
        <p:nvSpPr>
          <p:cNvPr id="6" name="">
            <a:extLst xmlns:a="http://schemas.openxmlformats.org/drawingml/2006/main">
              <a:ext uri="{FF2B5EF4-FFF2-40B4-BE49-F238E27FC236}">
                <a16:creationId xmlns:a16="http://schemas.microsoft.com/office/drawing/2014/main" id="{8FB4B744-6D49-4E14-B459-A99A1879627F}"/>
              </a:ext>
            </a:extLst>
          </p:cNvPr>
          <p:cNvSpPr>
            <a:spLocks xmlns:a="http://schemas.openxmlformats.org/drawingml/2006/main" noGrp="1"/>
          </p:cNvSpPr>
          <p:nvPr/>
        </p:nvSpPr>
        <p:spPr>
          <a:xfrm xmlns:a="http://schemas.openxmlformats.org/drawingml/2006/main">
            <a:off x="704850" y="24003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p xmlns:a="http://schemas.openxmlformats.org/drawingml/2006/main">
            <a:pPr algn="l">
              <a:buNone/>
              <a:defRPr sz="2550" b="1">
                <a:solidFill>
                  <a:srgbClr val="111111"/>
                </a:solidFill>
                <a:latin typeface="Arial"/>
                <a:ea typeface="Arial"/>
                <a:cs typeface="Arial"/>
              </a:defRPr>
            </a:pPr>
            <a:r>
              <a:rPr sz="2550" b="1">
                <a:solidFill>
                  <a:srgbClr val="111111"/>
                </a:solidFill>
                <a:latin typeface="Arial"/>
                <a:ea typeface="Arial"/>
                <a:cs typeface="Arial"/>
              </a:rPr>
              <a:t>Manual local run</a:t>
            </a:r>
          </a:p>
        </p:txBody>
      </p:sp>
      <p:sp>
        <p:nvSpPr>
          <p:cNvPr id="7" name="">
            <a:extLst xmlns:a="http://schemas.openxmlformats.org/drawingml/2006/main">
              <a:ext uri="{FF2B5EF4-FFF2-40B4-BE49-F238E27FC236}">
                <a16:creationId xmlns:a16="http://schemas.microsoft.com/office/drawing/2014/main" id="{A0B8E6C4-B0AF-44F8-BAC0-F8B74D7A1D5E}"/>
              </a:ext>
            </a:extLst>
          </p:cNvPr>
          <p:cNvSpPr>
            <a:spLocks xmlns:a="http://schemas.openxmlformats.org/drawingml/2006/main" noGrp="1"/>
          </p:cNvSpPr>
          <p:nvPr/>
        </p:nvSpPr>
        <p:spPr>
          <a:xfrm xmlns:a="http://schemas.openxmlformats.org/drawingml/2006/main">
            <a:off x="704850" y="3295650"/>
            <a:ext cx="95250" cy="95250"/>
          </a:xfrm>
          <a:prstGeom xmlns:a="http://schemas.openxmlformats.org/drawingml/2006/main" prst="rect">
            <a:avLst/>
          </a:prstGeom>
          <a:solidFill xmlns:a="http://schemas.openxmlformats.org/drawingml/2006/main">
            <a:srgbClr val="2E7D3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78CC3C8-315C-49FD-9019-2607DFB54BE9}"/>
              </a:ext>
            </a:extLst>
          </p:cNvPr>
          <p:cNvSpPr>
            <a:spLocks xmlns:a="http://schemas.openxmlformats.org/drawingml/2006/main" noGrp="1"/>
          </p:cNvSpPr>
          <p:nvPr/>
        </p:nvSpPr>
        <p:spPr>
          <a:xfrm xmlns:a="http://schemas.openxmlformats.org/drawingml/2006/main">
            <a:off x="933450" y="3200400"/>
            <a:ext cx="3962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Read a local JSON configuration</a:t>
            </a:r>
          </a:p>
        </p:txBody>
      </p:sp>
      <p:sp>
        <p:nvSpPr>
          <p:cNvPr id="9" name="">
            <a:extLst xmlns:a="http://schemas.openxmlformats.org/drawingml/2006/main">
              <a:ext uri="{FF2B5EF4-FFF2-40B4-BE49-F238E27FC236}">
                <a16:creationId xmlns:a16="http://schemas.microsoft.com/office/drawing/2014/main" id="{49449412-D5F4-44FA-85BE-F583A3D5F9A2}"/>
              </a:ext>
            </a:extLst>
          </p:cNvPr>
          <p:cNvSpPr>
            <a:spLocks xmlns:a="http://schemas.openxmlformats.org/drawingml/2006/main" noGrp="1"/>
          </p:cNvSpPr>
          <p:nvPr/>
        </p:nvSpPr>
        <p:spPr>
          <a:xfrm xmlns:a="http://schemas.openxmlformats.org/drawingml/2006/main">
            <a:off x="704850" y="3790950"/>
            <a:ext cx="95250" cy="95250"/>
          </a:xfrm>
          <a:prstGeom xmlns:a="http://schemas.openxmlformats.org/drawingml/2006/main" prst="rect">
            <a:avLst/>
          </a:prstGeom>
          <a:solidFill xmlns:a="http://schemas.openxmlformats.org/drawingml/2006/main">
            <a:srgbClr val="2E7D3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F7114C5-9CA5-43A3-9186-BCB82E55F1F7}"/>
              </a:ext>
            </a:extLst>
          </p:cNvPr>
          <p:cNvSpPr>
            <a:spLocks xmlns:a="http://schemas.openxmlformats.org/drawingml/2006/main" noGrp="1"/>
          </p:cNvSpPr>
          <p:nvPr/>
        </p:nvSpPr>
        <p:spPr>
          <a:xfrm xmlns:a="http://schemas.openxmlformats.org/drawingml/2006/main">
            <a:off x="933450" y="3695700"/>
            <a:ext cx="3962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Run the provider checks</a:t>
            </a:r>
          </a:p>
        </p:txBody>
      </p:sp>
      <p:sp>
        <p:nvSpPr>
          <p:cNvPr id="11" name="">
            <a:extLst xmlns:a="http://schemas.openxmlformats.org/drawingml/2006/main">
              <a:ext uri="{FF2B5EF4-FFF2-40B4-BE49-F238E27FC236}">
                <a16:creationId xmlns:a16="http://schemas.microsoft.com/office/drawing/2014/main" id="{D62F951F-44D4-418D-B779-CCD874CAA032}"/>
              </a:ext>
            </a:extLst>
          </p:cNvPr>
          <p:cNvSpPr>
            <a:spLocks xmlns:a="http://schemas.openxmlformats.org/drawingml/2006/main" noGrp="1"/>
          </p:cNvSpPr>
          <p:nvPr/>
        </p:nvSpPr>
        <p:spPr>
          <a:xfrm xmlns:a="http://schemas.openxmlformats.org/drawingml/2006/main">
            <a:off x="704850" y="4286250"/>
            <a:ext cx="95250" cy="95250"/>
          </a:xfrm>
          <a:prstGeom xmlns:a="http://schemas.openxmlformats.org/drawingml/2006/main" prst="rect">
            <a:avLst/>
          </a:prstGeom>
          <a:solidFill xmlns:a="http://schemas.openxmlformats.org/drawingml/2006/main">
            <a:srgbClr val="2E7D3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0EF9E30-4B08-42E9-9F89-E7F2E24B457D}"/>
              </a:ext>
            </a:extLst>
          </p:cNvPr>
          <p:cNvSpPr>
            <a:spLocks xmlns:a="http://schemas.openxmlformats.org/drawingml/2006/main" noGrp="1"/>
          </p:cNvSpPr>
          <p:nvPr/>
        </p:nvSpPr>
        <p:spPr>
          <a:xfrm xmlns:a="http://schemas.openxmlformats.org/drawingml/2006/main">
            <a:off x="933450" y="4191000"/>
            <a:ext cx="3962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Write console and HTML output</a:t>
            </a:r>
          </a:p>
        </p:txBody>
      </p:sp>
      <p:sp>
        <p:nvSpPr>
          <p:cNvPr id="13" name="">
            <a:extLst xmlns:a="http://schemas.openxmlformats.org/drawingml/2006/main">
              <a:ext uri="{FF2B5EF4-FFF2-40B4-BE49-F238E27FC236}">
                <a16:creationId xmlns:a16="http://schemas.microsoft.com/office/drawing/2014/main" id="{998BE8B6-FAE7-4A94-8685-88CF28FACDEC}"/>
              </a:ext>
            </a:extLst>
          </p:cNvPr>
          <p:cNvSpPr>
            <a:spLocks xmlns:a="http://schemas.openxmlformats.org/drawingml/2006/main" noGrp="1"/>
          </p:cNvSpPr>
          <p:nvPr/>
        </p:nvSpPr>
        <p:spPr>
          <a:xfrm xmlns:a="http://schemas.openxmlformats.org/drawingml/2006/main">
            <a:off x="704850" y="4781550"/>
            <a:ext cx="95250" cy="95250"/>
          </a:xfrm>
          <a:prstGeom xmlns:a="http://schemas.openxmlformats.org/drawingml/2006/main" prst="rect">
            <a:avLst/>
          </a:prstGeom>
          <a:solidFill xmlns:a="http://schemas.openxmlformats.org/drawingml/2006/main">
            <a:srgbClr val="2E7D3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C9C608F-0338-4FC2-B439-912251CB735B}"/>
              </a:ext>
            </a:extLst>
          </p:cNvPr>
          <p:cNvSpPr>
            <a:spLocks xmlns:a="http://schemas.openxmlformats.org/drawingml/2006/main" noGrp="1"/>
          </p:cNvSpPr>
          <p:nvPr/>
        </p:nvSpPr>
        <p:spPr>
          <a:xfrm xmlns:a="http://schemas.openxmlformats.org/drawingml/2006/main">
            <a:off x="933450" y="4686300"/>
            <a:ext cx="3962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Review source links and status</a:t>
            </a:r>
          </a:p>
        </p:txBody>
      </p:sp>
      <p:sp>
        <p:nvSpPr>
          <p:cNvPr id="15" name="">
            <a:extLst xmlns:a="http://schemas.openxmlformats.org/drawingml/2006/main">
              <a:ext uri="{FF2B5EF4-FFF2-40B4-BE49-F238E27FC236}">
                <a16:creationId xmlns:a16="http://schemas.microsoft.com/office/drawing/2014/main" id="{E3413C02-A39F-468E-B721-C3620361C971}"/>
              </a:ext>
            </a:extLst>
          </p:cNvPr>
          <p:cNvSpPr>
            <a:spLocks xmlns:a="http://schemas.openxmlformats.org/drawingml/2006/main" noGrp="1"/>
          </p:cNvSpPr>
          <p:nvPr/>
        </p:nvSpPr>
        <p:spPr>
          <a:xfrm xmlns:a="http://schemas.openxmlformats.org/drawingml/2006/main">
            <a:off x="704850" y="512445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350" b="1">
                <a:solidFill>
                  <a:srgbClr val="111111"/>
                </a:solidFill>
                <a:latin typeface="Consolas"/>
                <a:ea typeface="Consolas"/>
                <a:cs typeface="Consolas"/>
              </a:defRPr>
            </a:pPr>
            <a:r>
              <a:rPr sz="1350" b="1">
                <a:solidFill>
                  <a:srgbClr val="111111"/>
                </a:solidFill>
                <a:latin typeface="Consolas"/>
                <a:ea typeface="Consolas"/>
                <a:cs typeface="Consolas"/>
              </a:rPr>
              <a:t>python lambda_function.py &lt;config.json&gt;</a:t>
            </a:r>
          </a:p>
        </p:txBody>
      </p:sp>
      <p:sp>
        <p:nvSpPr>
          <p:cNvPr id="16" name="">
            <a:extLst xmlns:a="http://schemas.openxmlformats.org/drawingml/2006/main">
              <a:ext uri="{FF2B5EF4-FFF2-40B4-BE49-F238E27FC236}">
                <a16:creationId xmlns:a16="http://schemas.microsoft.com/office/drawing/2014/main" id="{6986C8ED-EA68-451F-8B6F-443EDA54B8C0}"/>
              </a:ext>
            </a:extLst>
          </p:cNvPr>
          <p:cNvSpPr>
            <a:spLocks xmlns:a="http://schemas.openxmlformats.org/drawingml/2006/main" noGrp="1"/>
          </p:cNvSpPr>
          <p:nvPr/>
        </p:nvSpPr>
        <p:spPr>
          <a:xfrm xmlns:a="http://schemas.openxmlformats.org/drawingml/2006/main">
            <a:off x="6096000" y="1676400"/>
            <a:ext cx="5695950" cy="3886200"/>
          </a:xfrm>
          <a:prstGeom xmlns:a="http://schemas.openxmlformats.org/drawingml/2006/main" prst="rect">
            <a:avLst/>
          </a:prstGeom>
          <a:solidFill xmlns:a="http://schemas.openxmlformats.org/drawingml/2006/main">
            <a:srgbClr val="DFF3F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C2C4F2E-EEFC-4723-8A2E-3DFE3FB49153}"/>
              </a:ext>
            </a:extLst>
          </p:cNvPr>
          <p:cNvSpPr>
            <a:spLocks xmlns:a="http://schemas.openxmlformats.org/drawingml/2006/main" noGrp="1"/>
          </p:cNvSpPr>
          <p:nvPr/>
        </p:nvSpPr>
        <p:spPr>
          <a:xfrm xmlns:a="http://schemas.openxmlformats.org/drawingml/2006/main">
            <a:off x="6400800" y="1981200"/>
            <a:ext cx="3714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IMPLEMENTED — NOT YET E2E TESTED</a:t>
            </a:r>
          </a:p>
        </p:txBody>
      </p:sp>
      <p:sp>
        <p:nvSpPr>
          <p:cNvPr id="18" name="">
            <a:extLst xmlns:a="http://schemas.openxmlformats.org/drawingml/2006/main">
              <a:ext uri="{FF2B5EF4-FFF2-40B4-BE49-F238E27FC236}">
                <a16:creationId xmlns:a16="http://schemas.microsoft.com/office/drawing/2014/main" id="{4C1FFEF9-3635-4DF3-BC6F-AC303CECEC7C}"/>
              </a:ext>
            </a:extLst>
          </p:cNvPr>
          <p:cNvSpPr>
            <a:spLocks xmlns:a="http://schemas.openxmlformats.org/drawingml/2006/main" noGrp="1"/>
          </p:cNvSpPr>
          <p:nvPr/>
        </p:nvSpPr>
        <p:spPr>
          <a:xfrm xmlns:a="http://schemas.openxmlformats.org/drawingml/2006/main">
            <a:off x="6400800" y="2400300"/>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p xmlns:a="http://schemas.openxmlformats.org/drawingml/2006/main">
            <a:pPr algn="l">
              <a:buNone/>
              <a:defRPr sz="2550" b="1">
                <a:solidFill>
                  <a:srgbClr val="111111"/>
                </a:solidFill>
                <a:latin typeface="Arial"/>
                <a:ea typeface="Arial"/>
                <a:cs typeface="Arial"/>
              </a:defRPr>
            </a:pPr>
            <a:r>
              <a:rPr sz="2550" b="1">
                <a:solidFill>
                  <a:srgbClr val="111111"/>
                </a:solidFill>
                <a:latin typeface="Arial"/>
                <a:ea typeface="Arial"/>
                <a:cs typeface="Arial"/>
              </a:rPr>
              <a:t>Scheduled AWS path</a:t>
            </a:r>
          </a:p>
        </p:txBody>
      </p:sp>
      <p:sp>
        <p:nvSpPr>
          <p:cNvPr id="19" name="">
            <a:extLst xmlns:a="http://schemas.openxmlformats.org/drawingml/2006/main">
              <a:ext uri="{FF2B5EF4-FFF2-40B4-BE49-F238E27FC236}">
                <a16:creationId xmlns:a16="http://schemas.microsoft.com/office/drawing/2014/main" id="{BD84B781-14B6-4930-B8D8-8B13C035FF04}"/>
              </a:ext>
            </a:extLst>
          </p:cNvPr>
          <p:cNvSpPr>
            <a:spLocks xmlns:a="http://schemas.openxmlformats.org/drawingml/2006/main" noGrp="1"/>
          </p:cNvSpPr>
          <p:nvPr/>
        </p:nvSpPr>
        <p:spPr>
          <a:xfrm xmlns:a="http://schemas.openxmlformats.org/drawingml/2006/main">
            <a:off x="6400800" y="329565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C283346-B674-43CE-BDB3-CAE5A62EA5B9}"/>
              </a:ext>
            </a:extLst>
          </p:cNvPr>
          <p:cNvSpPr>
            <a:spLocks xmlns:a="http://schemas.openxmlformats.org/drawingml/2006/main" noGrp="1"/>
          </p:cNvSpPr>
          <p:nvPr/>
        </p:nvSpPr>
        <p:spPr>
          <a:xfrm xmlns:a="http://schemas.openxmlformats.org/drawingml/2006/main">
            <a:off x="6629400" y="3200400"/>
            <a:ext cx="4343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Per-project config stored in S3</a:t>
            </a:r>
          </a:p>
        </p:txBody>
      </p:sp>
      <p:sp>
        <p:nvSpPr>
          <p:cNvPr id="21" name="">
            <a:extLst xmlns:a="http://schemas.openxmlformats.org/drawingml/2006/main">
              <a:ext uri="{FF2B5EF4-FFF2-40B4-BE49-F238E27FC236}">
                <a16:creationId xmlns:a16="http://schemas.microsoft.com/office/drawing/2014/main" id="{48FFBF28-D7DA-45E7-94BA-61958476C5DD}"/>
              </a:ext>
            </a:extLst>
          </p:cNvPr>
          <p:cNvSpPr>
            <a:spLocks xmlns:a="http://schemas.openxmlformats.org/drawingml/2006/main" noGrp="1"/>
          </p:cNvSpPr>
          <p:nvPr/>
        </p:nvSpPr>
        <p:spPr>
          <a:xfrm xmlns:a="http://schemas.openxmlformats.org/drawingml/2006/main">
            <a:off x="6400800" y="379095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F13E373-E464-407D-A5CF-0E8D10F62AAE}"/>
              </a:ext>
            </a:extLst>
          </p:cNvPr>
          <p:cNvSpPr>
            <a:spLocks xmlns:a="http://schemas.openxmlformats.org/drawingml/2006/main" noGrp="1"/>
          </p:cNvSpPr>
          <p:nvPr/>
        </p:nvSpPr>
        <p:spPr>
          <a:xfrm xmlns:a="http://schemas.openxmlformats.org/drawingml/2006/main">
            <a:off x="6629400" y="3695700"/>
            <a:ext cx="4343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EventBridge invokes one shared Lambda</a:t>
            </a:r>
          </a:p>
        </p:txBody>
      </p:sp>
      <p:sp>
        <p:nvSpPr>
          <p:cNvPr id="23" name="">
            <a:extLst xmlns:a="http://schemas.openxmlformats.org/drawingml/2006/main">
              <a:ext uri="{FF2B5EF4-FFF2-40B4-BE49-F238E27FC236}">
                <a16:creationId xmlns:a16="http://schemas.microsoft.com/office/drawing/2014/main" id="{5465266E-3A0A-490D-8CA6-76901A754090}"/>
              </a:ext>
            </a:extLst>
          </p:cNvPr>
          <p:cNvSpPr>
            <a:spLocks xmlns:a="http://schemas.openxmlformats.org/drawingml/2006/main" noGrp="1"/>
          </p:cNvSpPr>
          <p:nvPr/>
        </p:nvSpPr>
        <p:spPr>
          <a:xfrm xmlns:a="http://schemas.openxmlformats.org/drawingml/2006/main">
            <a:off x="6400800" y="428625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37D42F1-0DD7-4ED7-9756-2A653555B1D9}"/>
              </a:ext>
            </a:extLst>
          </p:cNvPr>
          <p:cNvSpPr>
            <a:spLocks xmlns:a="http://schemas.openxmlformats.org/drawingml/2006/main" noGrp="1"/>
          </p:cNvSpPr>
          <p:nvPr/>
        </p:nvSpPr>
        <p:spPr>
          <a:xfrm xmlns:a="http://schemas.openxmlformats.org/drawingml/2006/main">
            <a:off x="6629400" y="4191000"/>
            <a:ext cx="4343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SNS / SES route reports to each project</a:t>
            </a:r>
          </a:p>
        </p:txBody>
      </p:sp>
      <p:sp>
        <p:nvSpPr>
          <p:cNvPr id="25" name="">
            <a:extLst xmlns:a="http://schemas.openxmlformats.org/drawingml/2006/main">
              <a:ext uri="{FF2B5EF4-FFF2-40B4-BE49-F238E27FC236}">
                <a16:creationId xmlns:a16="http://schemas.microsoft.com/office/drawing/2014/main" id="{0DEB322A-FA3A-4E35-A087-5939B65B5EB3}"/>
              </a:ext>
            </a:extLst>
          </p:cNvPr>
          <p:cNvSpPr>
            <a:spLocks xmlns:a="http://schemas.openxmlformats.org/drawingml/2006/main" noGrp="1"/>
          </p:cNvSpPr>
          <p:nvPr/>
        </p:nvSpPr>
        <p:spPr>
          <a:xfrm xmlns:a="http://schemas.openxmlformats.org/drawingml/2006/main">
            <a:off x="6400800" y="478155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303D312-7460-42FD-A344-67AA948D8C14}"/>
              </a:ext>
            </a:extLst>
          </p:cNvPr>
          <p:cNvSpPr>
            <a:spLocks xmlns:a="http://schemas.openxmlformats.org/drawingml/2006/main" noGrp="1"/>
          </p:cNvSpPr>
          <p:nvPr/>
        </p:nvSpPr>
        <p:spPr>
          <a:xfrm xmlns:a="http://schemas.openxmlformats.org/drawingml/2006/main">
            <a:off x="6629400" y="4686300"/>
            <a:ext cx="4343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No cross-run change detection yet</a:t>
            </a:r>
          </a:p>
        </p:txBody>
      </p:sp>
      <p:sp>
        <p:nvSpPr>
          <p:cNvPr id="27" name="">
            <a:extLst xmlns:a="http://schemas.openxmlformats.org/drawingml/2006/main">
              <a:ext uri="{FF2B5EF4-FFF2-40B4-BE49-F238E27FC236}">
                <a16:creationId xmlns:a16="http://schemas.microsoft.com/office/drawing/2014/main" id="{6B6CD497-2929-435B-9A7A-6BE219EF1AD0}"/>
              </a:ext>
            </a:extLst>
          </p:cNvPr>
          <p:cNvSpPr>
            <a:spLocks xmlns:a="http://schemas.openxmlformats.org/drawingml/2006/main" noGrp="1"/>
          </p:cNvSpPr>
          <p:nvPr/>
        </p:nvSpPr>
        <p:spPr>
          <a:xfrm xmlns:a="http://schemas.openxmlformats.org/drawingml/2006/main">
            <a:off x="6400800" y="512445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350" b="1">
                <a:solidFill>
                  <a:srgbClr val="111111"/>
                </a:solidFill>
                <a:latin typeface="Arial"/>
                <a:ea typeface="Arial"/>
                <a:cs typeface="Arial"/>
              </a:defRPr>
            </a:pPr>
            <a:r>
              <a:rPr sz="1350" b="1">
                <a:solidFill>
                  <a:srgbClr val="111111"/>
                </a:solidFill>
                <a:latin typeface="Arial"/>
                <a:ea typeface="Arial"/>
                <a:cs typeface="Arial"/>
              </a:rPr>
              <a:t>Default: daily at 08:00 UTC</a:t>
            </a:r>
          </a:p>
        </p:txBody>
      </p:sp>
      <p:sp>
        <p:nvSpPr>
          <p:cNvPr id="28" name="">
            <a:extLst xmlns:a="http://schemas.openxmlformats.org/drawingml/2006/main">
              <a:ext uri="{FF2B5EF4-FFF2-40B4-BE49-F238E27FC236}">
                <a16:creationId xmlns:a16="http://schemas.microsoft.com/office/drawing/2014/main" id="{3C0ABF67-9F20-47AB-BCC3-26FFDDA3C4B2}"/>
              </a:ext>
            </a:extLst>
          </p:cNvPr>
          <p:cNvSpPr>
            <a:spLocks xmlns:a="http://schemas.openxmlformats.org/drawingml/2006/main" noGrp="1"/>
          </p:cNvSpPr>
          <p:nvPr/>
        </p:nvSpPr>
        <p:spPr>
          <a:xfrm xmlns:a="http://schemas.openxmlformats.org/drawingml/2006/main">
            <a:off x="400050" y="592455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For a monthly report, configure a monthly EventBridge expression and validate delivery end to end.</a:t>
            </a:r>
          </a:p>
        </p:txBody>
      </p:sp>
    </p:spTree>
    <p:extLst>
      <p:ext uri="{BB962C8B-B14F-4D97-AF65-F5344CB8AC3E}">
        <p14:creationId xmlns:p14="http://schemas.microsoft.com/office/powerpoint/2010/main" val="1684010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18344D2-30B0-440E-A13E-582BA346EB31}"/>
              </a:ext>
            </a:extLst>
          </p:cNvPr>
          <p:cNvSpPr>
            <a:spLocks xmlns:a="http://schemas.openxmlformats.org/drawingml/2006/main" noGrp="1"/>
          </p:cNvSpPr>
          <p:nvPr/>
        </p:nvSpPr>
        <p:spPr>
          <a:xfrm xmlns:a="http://schemas.openxmlformats.org/drawingml/2006/main">
            <a:off x="400050" y="285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l">
              <a:buNone/>
              <a:defRPr sz="1125" b="1">
                <a:solidFill>
                  <a:srgbClr val="5F6670"/>
                </a:solidFill>
                <a:latin typeface="Arial"/>
                <a:ea typeface="Arial"/>
                <a:cs typeface="Arial"/>
              </a:defRPr>
            </a:pPr>
            <a:r>
              <a:rPr sz="1125" b="1">
                <a:solidFill>
                  <a:srgbClr val="5F6670"/>
                </a:solidFill>
                <a:latin typeface="Arial"/>
                <a:ea typeface="Arial"/>
                <a:cs typeface="Arial"/>
              </a:rPr>
              <a:t>LIVE DEMO</a:t>
            </a:r>
          </a:p>
        </p:txBody>
      </p:sp>
      <p:sp>
        <p:nvSpPr>
          <p:cNvPr id="2" name="slide-8-title">
            <a:extLst xmlns:a="http://schemas.openxmlformats.org/drawingml/2006/main">
              <a:ext uri="{FF2B5EF4-FFF2-40B4-BE49-F238E27FC236}">
                <a16:creationId xmlns:a16="http://schemas.microsoft.com/office/drawing/2014/main" id="{824B8E3A-FF20-484C-81F6-580D249A25F7}"/>
              </a:ext>
            </a:extLst>
          </p:cNvPr>
          <p:cNvSpPr>
            <a:spLocks xmlns:a="http://schemas.openxmlformats.org/drawingml/2006/main" noGrp="1"/>
          </p:cNvSpPr>
          <p:nvPr/>
        </p:nvSpPr>
        <p:spPr>
          <a:xfrm xmlns:a="http://schemas.openxmlformats.org/drawingml/2006/main">
            <a:off x="400050" y="6286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525" b="1">
                <a:solidFill>
                  <a:srgbClr val="111111"/>
                </a:solidFill>
                <a:latin typeface="Arial"/>
                <a:ea typeface="Arial"/>
                <a:cs typeface="Arial"/>
              </a:defRPr>
            </a:pPr>
            <a:r>
              <a:rPr sz="3525" b="1">
                <a:solidFill>
                  <a:srgbClr val="111111"/>
                </a:solidFill>
                <a:latin typeface="Arial"/>
                <a:ea typeface="Arial"/>
                <a:cs typeface="Arial"/>
              </a:rPr>
              <a:t>Demo: prove the manual workflow in six minutes</a:t>
            </a:r>
          </a:p>
        </p:txBody>
      </p:sp>
      <p:sp>
        <p:nvSpPr>
          <p:cNvPr id="3" name="">
            <a:extLst xmlns:a="http://schemas.openxmlformats.org/drawingml/2006/main">
              <a:ext uri="{FF2B5EF4-FFF2-40B4-BE49-F238E27FC236}">
                <a16:creationId xmlns:a16="http://schemas.microsoft.com/office/drawing/2014/main" id="{64D799D1-401A-4600-BC13-91A361F1412E}"/>
              </a:ext>
            </a:extLst>
          </p:cNvPr>
          <p:cNvSpPr>
            <a:spLocks xmlns:a="http://schemas.openxmlformats.org/drawingml/2006/main" noGrp="1"/>
          </p:cNvSpPr>
          <p:nvPr/>
        </p:nvSpPr>
        <p:spPr>
          <a:xfrm xmlns:a="http://schemas.openxmlformats.org/drawingml/2006/main">
            <a:off x="11277600" y="64008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r">
              <a:buNone/>
              <a:defRPr sz="1125" b="0">
                <a:solidFill>
                  <a:srgbClr val="5F6670"/>
                </a:solidFill>
                <a:latin typeface="Arial"/>
                <a:ea typeface="Arial"/>
                <a:cs typeface="Arial"/>
              </a:defRPr>
            </a:pPr>
            <a:r>
              <a:rPr sz="1125" b="0">
                <a:solidFill>
                  <a:srgbClr val="5F6670"/>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8DDD63B7-8767-4D3B-9BBE-95BB82DEC8A8}"/>
              </a:ext>
            </a:extLst>
          </p:cNvPr>
          <p:cNvSpPr>
            <a:spLocks xmlns:a="http://schemas.openxmlformats.org/drawingml/2006/main" noGrp="1"/>
          </p:cNvSpPr>
          <p:nvPr/>
        </p:nvSpPr>
        <p:spPr>
          <a:xfrm xmlns:a="http://schemas.openxmlformats.org/drawingml/2006/main">
            <a:off x="723900" y="1924050"/>
            <a:ext cx="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46A55183-7ABC-4029-8BDE-0046137E0FBF}"/>
              </a:ext>
            </a:extLst>
          </p:cNvPr>
          <p:cNvSpPr>
            <a:spLocks xmlns:a="http://schemas.openxmlformats.org/drawingml/2006/main" noGrp="1"/>
          </p:cNvSpPr>
          <p:nvPr/>
        </p:nvSpPr>
        <p:spPr>
          <a:xfrm xmlns:a="http://schemas.openxmlformats.org/drawingml/2006/main">
            <a:off x="552450" y="1809750"/>
            <a:ext cx="476250" cy="476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69A56EC-CA24-4EA6-98E3-42C9403796A4}"/>
              </a:ext>
            </a:extLst>
          </p:cNvPr>
          <p:cNvSpPr>
            <a:spLocks xmlns:a="http://schemas.openxmlformats.org/drawingml/2006/main" noGrp="1"/>
          </p:cNvSpPr>
          <p:nvPr/>
        </p:nvSpPr>
        <p:spPr>
          <a:xfrm xmlns:a="http://schemas.openxmlformats.org/drawingml/2006/main">
            <a:off x="552450" y="18669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309"/>
          </a:bodyPr>
          <a:lstStyle xmlns:a="http://schemas.openxmlformats.org/drawingml/2006/main"/>
          <a:p xmlns:a="http://schemas.openxmlformats.org/drawingml/2006/main">
            <a:pPr algn="ctr">
              <a:buNone/>
              <a:defRPr sz="2025" b="1">
                <a:solidFill>
                  <a:srgbClr val="FFFFFF"/>
                </a:solidFill>
                <a:latin typeface="Arial"/>
                <a:ea typeface="Arial"/>
                <a:cs typeface="Arial"/>
              </a:defRPr>
            </a:pPr>
            <a:r>
              <a:rPr sz="2025"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77951F26-B536-4C7D-BD5C-6888D75744E1}"/>
              </a:ext>
            </a:extLst>
          </p:cNvPr>
          <p:cNvSpPr>
            <a:spLocks xmlns:a="http://schemas.openxmlformats.org/drawingml/2006/main" noGrp="1"/>
          </p:cNvSpPr>
          <p:nvPr/>
        </p:nvSpPr>
        <p:spPr>
          <a:xfrm xmlns:a="http://schemas.openxmlformats.org/drawingml/2006/main">
            <a:off x="1257300" y="179070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Show the inventory source</a:t>
            </a:r>
          </a:p>
        </p:txBody>
      </p:sp>
      <p:sp>
        <p:nvSpPr>
          <p:cNvPr id="8" name="">
            <a:extLst xmlns:a="http://schemas.openxmlformats.org/drawingml/2006/main">
              <a:ext uri="{FF2B5EF4-FFF2-40B4-BE49-F238E27FC236}">
                <a16:creationId xmlns:a16="http://schemas.microsoft.com/office/drawing/2014/main" id="{F5B35DEC-787C-4355-B529-868A2433DD40}"/>
              </a:ext>
            </a:extLst>
          </p:cNvPr>
          <p:cNvSpPr>
            <a:spLocks xmlns:a="http://schemas.openxmlformats.org/drawingml/2006/main" noGrp="1"/>
          </p:cNvSpPr>
          <p:nvPr/>
        </p:nvSpPr>
        <p:spPr>
          <a:xfrm xmlns:a="http://schemas.openxmlformats.org/drawingml/2006/main">
            <a:off x="1257300" y="21526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211"/>
          </a:bodyPr>
          <a:lstStyle xmlns:a="http://schemas.openxmlformats.org/drawingml/2006/main"/>
          <a:p xmlns:a="http://schemas.openxmlformats.org/drawingml/2006/main">
            <a:pPr algn="l">
              <a:buNone/>
              <a:defRPr sz="1425" b="0">
                <a:solidFill>
                  <a:srgbClr val="5F6670"/>
                </a:solidFill>
                <a:latin typeface="Arial"/>
                <a:ea typeface="Arial"/>
                <a:cs typeface="Arial"/>
              </a:defRPr>
            </a:pPr>
            <a:r>
              <a:rPr sz="1425" b="0">
                <a:solidFill>
                  <a:srgbClr val="5F6670"/>
                </a:solidFill>
                <a:latin typeface="Arial"/>
                <a:ea typeface="Arial"/>
                <a:cs typeface="Arial"/>
              </a:rPr>
              <a:t>Open a pom.xml, Gradle file, package.json, or existing curated config.</a:t>
            </a:r>
          </a:p>
        </p:txBody>
      </p:sp>
      <p:sp>
        <p:nvSpPr>
          <p:cNvPr id="9" name="">
            <a:extLst xmlns:a="http://schemas.openxmlformats.org/drawingml/2006/main">
              <a:ext uri="{FF2B5EF4-FFF2-40B4-BE49-F238E27FC236}">
                <a16:creationId xmlns:a16="http://schemas.microsoft.com/office/drawing/2014/main" id="{B6717D2C-FB5F-455F-A880-AEE1262C80E8}"/>
              </a:ext>
            </a:extLst>
          </p:cNvPr>
          <p:cNvSpPr>
            <a:spLocks xmlns:a="http://schemas.openxmlformats.org/drawingml/2006/main" noGrp="1"/>
          </p:cNvSpPr>
          <p:nvPr/>
        </p:nvSpPr>
        <p:spPr>
          <a:xfrm xmlns:a="http://schemas.openxmlformats.org/drawingml/2006/main">
            <a:off x="790575" y="2286000"/>
            <a:ext cx="0" cy="0"/>
          </a:xfrm>
          <a:prstGeom xmlns:a="http://schemas.openxmlformats.org/drawingml/2006/main" prst="line">
            <a:avLst/>
          </a:prstGeom>
          <a:noFill xmlns:a="http://schemas.openxmlformats.org/drawingml/2006/main"/>
          <a:ln xmlns:a="http://schemas.openxmlformats.org/drawingml/2006/main" w="19050">
            <a:solidFill>
              <a:srgbClr val="B8BCC4"/>
            </a:solidFill>
            <a:prstDash val="solid"/>
          </a:ln>
        </p:spPr>
      </p:sp>
      <p:sp>
        <p:nvSpPr>
          <p:cNvPr id="10" name="">
            <a:extLst xmlns:a="http://schemas.openxmlformats.org/drawingml/2006/main">
              <a:ext uri="{FF2B5EF4-FFF2-40B4-BE49-F238E27FC236}">
                <a16:creationId xmlns:a16="http://schemas.microsoft.com/office/drawing/2014/main" id="{31674E8C-8CDF-4F01-A3F4-5860C2F1E6F1}"/>
              </a:ext>
            </a:extLst>
          </p:cNvPr>
          <p:cNvSpPr>
            <a:spLocks xmlns:a="http://schemas.openxmlformats.org/drawingml/2006/main" noGrp="1"/>
          </p:cNvSpPr>
          <p:nvPr/>
        </p:nvSpPr>
        <p:spPr>
          <a:xfrm xmlns:a="http://schemas.openxmlformats.org/drawingml/2006/main">
            <a:off x="552450" y="2781300"/>
            <a:ext cx="476250" cy="476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8C8D46C-5E6A-4CA3-8C64-CB2A091EC113}"/>
              </a:ext>
            </a:extLst>
          </p:cNvPr>
          <p:cNvSpPr>
            <a:spLocks xmlns:a="http://schemas.openxmlformats.org/drawingml/2006/main" noGrp="1"/>
          </p:cNvSpPr>
          <p:nvPr/>
        </p:nvSpPr>
        <p:spPr>
          <a:xfrm xmlns:a="http://schemas.openxmlformats.org/drawingml/2006/main">
            <a:off x="552450" y="28384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309"/>
          </a:bodyPr>
          <a:lstStyle xmlns:a="http://schemas.openxmlformats.org/drawingml/2006/main"/>
          <a:p xmlns:a="http://schemas.openxmlformats.org/drawingml/2006/main">
            <a:pPr algn="ctr">
              <a:buNone/>
              <a:defRPr sz="2025" b="1">
                <a:solidFill>
                  <a:srgbClr val="FFFFFF"/>
                </a:solidFill>
                <a:latin typeface="Arial"/>
                <a:ea typeface="Arial"/>
                <a:cs typeface="Arial"/>
              </a:defRPr>
            </a:pPr>
            <a:r>
              <a:rPr sz="2025" b="1">
                <a:solidFill>
                  <a:srgbClr val="FFFFFF"/>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2BC45146-C26B-41FB-9C6F-2B16526711AE}"/>
              </a:ext>
            </a:extLst>
          </p:cNvPr>
          <p:cNvSpPr>
            <a:spLocks xmlns:a="http://schemas.openxmlformats.org/drawingml/2006/main" noGrp="1"/>
          </p:cNvSpPr>
          <p:nvPr/>
        </p:nvSpPr>
        <p:spPr>
          <a:xfrm xmlns:a="http://schemas.openxmlformats.org/drawingml/2006/main">
            <a:off x="1257300" y="276225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Generate or update the config</a:t>
            </a:r>
          </a:p>
        </p:txBody>
      </p:sp>
      <p:sp>
        <p:nvSpPr>
          <p:cNvPr id="13" name="">
            <a:extLst xmlns:a="http://schemas.openxmlformats.org/drawingml/2006/main">
              <a:ext uri="{FF2B5EF4-FFF2-40B4-BE49-F238E27FC236}">
                <a16:creationId xmlns:a16="http://schemas.microsoft.com/office/drawing/2014/main" id="{1395A4DD-E9CC-443E-A5B3-1D0FB21724EF}"/>
              </a:ext>
            </a:extLst>
          </p:cNvPr>
          <p:cNvSpPr>
            <a:spLocks xmlns:a="http://schemas.openxmlformats.org/drawingml/2006/main" noGrp="1"/>
          </p:cNvSpPr>
          <p:nvPr/>
        </p:nvSpPr>
        <p:spPr>
          <a:xfrm xmlns:a="http://schemas.openxmlformats.org/drawingml/2006/main">
            <a:off x="1257300" y="31242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5F6670"/>
                </a:solidFill>
                <a:latin typeface="Arial"/>
                <a:ea typeface="Arial"/>
                <a:cs typeface="Arial"/>
              </a:defRPr>
            </a:pPr>
            <a:r>
              <a:rPr sz="1425" b="0">
                <a:solidFill>
                  <a:srgbClr val="5F6670"/>
                </a:solidFill>
                <a:latin typeface="Arial"/>
                <a:ea typeface="Arial"/>
                <a:cs typeface="Arial"/>
              </a:rPr>
              <a:t>Show provider selection and the readable product labels.</a:t>
            </a:r>
          </a:p>
        </p:txBody>
      </p:sp>
      <p:sp>
        <p:nvSpPr>
          <p:cNvPr id="14" name="">
            <a:extLst xmlns:a="http://schemas.openxmlformats.org/drawingml/2006/main">
              <a:ext uri="{FF2B5EF4-FFF2-40B4-BE49-F238E27FC236}">
                <a16:creationId xmlns:a16="http://schemas.microsoft.com/office/drawing/2014/main" id="{B555A74E-1D7E-42CD-827B-AC6258E0FFDE}"/>
              </a:ext>
            </a:extLst>
          </p:cNvPr>
          <p:cNvSpPr>
            <a:spLocks xmlns:a="http://schemas.openxmlformats.org/drawingml/2006/main" noGrp="1"/>
          </p:cNvSpPr>
          <p:nvPr/>
        </p:nvSpPr>
        <p:spPr>
          <a:xfrm xmlns:a="http://schemas.openxmlformats.org/drawingml/2006/main">
            <a:off x="790575" y="3257550"/>
            <a:ext cx="0" cy="0"/>
          </a:xfrm>
          <a:prstGeom xmlns:a="http://schemas.openxmlformats.org/drawingml/2006/main" prst="line">
            <a:avLst/>
          </a:prstGeom>
          <a:noFill xmlns:a="http://schemas.openxmlformats.org/drawingml/2006/main"/>
          <a:ln xmlns:a="http://schemas.openxmlformats.org/drawingml/2006/main" w="19050">
            <a:solidFill>
              <a:srgbClr val="B8BCC4"/>
            </a:solidFill>
            <a:prstDash val="solid"/>
          </a:ln>
        </p:spPr>
      </p:sp>
      <p:sp>
        <p:nvSpPr>
          <p:cNvPr id="15" name="">
            <a:extLst xmlns:a="http://schemas.openxmlformats.org/drawingml/2006/main">
              <a:ext uri="{FF2B5EF4-FFF2-40B4-BE49-F238E27FC236}">
                <a16:creationId xmlns:a16="http://schemas.microsoft.com/office/drawing/2014/main" id="{8A9B1B5A-064E-4C1A-BE84-2C71CE7E2322}"/>
              </a:ext>
            </a:extLst>
          </p:cNvPr>
          <p:cNvSpPr>
            <a:spLocks xmlns:a="http://schemas.openxmlformats.org/drawingml/2006/main" noGrp="1"/>
          </p:cNvSpPr>
          <p:nvPr/>
        </p:nvSpPr>
        <p:spPr>
          <a:xfrm xmlns:a="http://schemas.openxmlformats.org/drawingml/2006/main">
            <a:off x="552450" y="3752850"/>
            <a:ext cx="476250" cy="476250"/>
          </a:xfrm>
          <a:prstGeom xmlns:a="http://schemas.openxmlformats.org/drawingml/2006/main" prst="ellipse">
            <a:avLst/>
          </a:prstGeom>
          <a:solidFill xmlns:a="http://schemas.openxmlformats.org/drawingml/2006/main">
            <a:srgbClr val="F57C0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659D1CA-59CF-40BC-B720-D97B437EA417}"/>
              </a:ext>
            </a:extLst>
          </p:cNvPr>
          <p:cNvSpPr>
            <a:spLocks xmlns:a="http://schemas.openxmlformats.org/drawingml/2006/main" noGrp="1"/>
          </p:cNvSpPr>
          <p:nvPr/>
        </p:nvSpPr>
        <p:spPr>
          <a:xfrm xmlns:a="http://schemas.openxmlformats.org/drawingml/2006/main">
            <a:off x="552450" y="38100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309"/>
          </a:bodyPr>
          <a:lstStyle xmlns:a="http://schemas.openxmlformats.org/drawingml/2006/main"/>
          <a:p xmlns:a="http://schemas.openxmlformats.org/drawingml/2006/main">
            <a:pPr algn="ctr">
              <a:buNone/>
              <a:defRPr sz="2025" b="1">
                <a:solidFill>
                  <a:srgbClr val="FFFFFF"/>
                </a:solidFill>
                <a:latin typeface="Arial"/>
                <a:ea typeface="Arial"/>
                <a:cs typeface="Arial"/>
              </a:defRPr>
            </a:pPr>
            <a:r>
              <a:rPr sz="2025" b="1">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AAACCCB5-C5EE-4794-9728-D2AD09F7AF9E}"/>
              </a:ext>
            </a:extLst>
          </p:cNvPr>
          <p:cNvSpPr>
            <a:spLocks xmlns:a="http://schemas.openxmlformats.org/drawingml/2006/main" noGrp="1"/>
          </p:cNvSpPr>
          <p:nvPr/>
        </p:nvSpPr>
        <p:spPr>
          <a:xfrm xmlns:a="http://schemas.openxmlformats.org/drawingml/2006/main">
            <a:off x="1257300" y="373380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Validate and run</a:t>
            </a:r>
          </a:p>
        </p:txBody>
      </p:sp>
      <p:sp>
        <p:nvSpPr>
          <p:cNvPr id="18" name="">
            <a:extLst xmlns:a="http://schemas.openxmlformats.org/drawingml/2006/main">
              <a:ext uri="{FF2B5EF4-FFF2-40B4-BE49-F238E27FC236}">
                <a16:creationId xmlns:a16="http://schemas.microsoft.com/office/drawing/2014/main" id="{BD376AAD-B886-4218-AAC2-0B2816C57E3B}"/>
              </a:ext>
            </a:extLst>
          </p:cNvPr>
          <p:cNvSpPr>
            <a:spLocks xmlns:a="http://schemas.openxmlformats.org/drawingml/2006/main" noGrp="1"/>
          </p:cNvSpPr>
          <p:nvPr/>
        </p:nvSpPr>
        <p:spPr>
          <a:xfrm xmlns:a="http://schemas.openxmlformats.org/drawingml/2006/main">
            <a:off x="1257300" y="40957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371"/>
          </a:bodyPr>
          <a:lstStyle xmlns:a="http://schemas.openxmlformats.org/drawingml/2006/main"/>
          <a:p xmlns:a="http://schemas.openxmlformats.org/drawingml/2006/main">
            <a:pPr algn="l">
              <a:buNone/>
              <a:defRPr sz="1425" b="0">
                <a:solidFill>
                  <a:srgbClr val="5F6670"/>
                </a:solidFill>
                <a:latin typeface="Arial"/>
                <a:ea typeface="Arial"/>
                <a:cs typeface="Arial"/>
              </a:defRPr>
            </a:pPr>
            <a:r>
              <a:rPr sz="1425" b="0">
                <a:solidFill>
                  <a:srgbClr val="5F6670"/>
                </a:solidFill>
                <a:latin typeface="Arial"/>
                <a:ea typeface="Arial"/>
                <a:cs typeface="Arial"/>
              </a:rPr>
              <a:t>Parse JSON, then execute the local checker against the config.</a:t>
            </a:r>
          </a:p>
        </p:txBody>
      </p:sp>
      <p:sp>
        <p:nvSpPr>
          <p:cNvPr id="19" name="">
            <a:extLst xmlns:a="http://schemas.openxmlformats.org/drawingml/2006/main">
              <a:ext uri="{FF2B5EF4-FFF2-40B4-BE49-F238E27FC236}">
                <a16:creationId xmlns:a16="http://schemas.microsoft.com/office/drawing/2014/main" id="{C1C04692-50A8-49E0-B440-A52C5B66FBDE}"/>
              </a:ext>
            </a:extLst>
          </p:cNvPr>
          <p:cNvSpPr>
            <a:spLocks xmlns:a="http://schemas.openxmlformats.org/drawingml/2006/main" noGrp="1"/>
          </p:cNvSpPr>
          <p:nvPr/>
        </p:nvSpPr>
        <p:spPr>
          <a:xfrm xmlns:a="http://schemas.openxmlformats.org/drawingml/2006/main">
            <a:off x="790575" y="4229100"/>
            <a:ext cx="0" cy="0"/>
          </a:xfrm>
          <a:prstGeom xmlns:a="http://schemas.openxmlformats.org/drawingml/2006/main" prst="line">
            <a:avLst/>
          </a:prstGeom>
          <a:noFill xmlns:a="http://schemas.openxmlformats.org/drawingml/2006/main"/>
          <a:ln xmlns:a="http://schemas.openxmlformats.org/drawingml/2006/main" w="19050">
            <a:solidFill>
              <a:srgbClr val="B8BCC4"/>
            </a:solidFill>
            <a:prstDash val="solid"/>
          </a:ln>
        </p:spPr>
      </p:sp>
      <p:sp>
        <p:nvSpPr>
          <p:cNvPr id="20" name="">
            <a:extLst xmlns:a="http://schemas.openxmlformats.org/drawingml/2006/main">
              <a:ext uri="{FF2B5EF4-FFF2-40B4-BE49-F238E27FC236}">
                <a16:creationId xmlns:a16="http://schemas.microsoft.com/office/drawing/2014/main" id="{639A3D8C-359D-4D93-97C3-2F9FABE57566}"/>
              </a:ext>
            </a:extLst>
          </p:cNvPr>
          <p:cNvSpPr>
            <a:spLocks xmlns:a="http://schemas.openxmlformats.org/drawingml/2006/main" noGrp="1"/>
          </p:cNvSpPr>
          <p:nvPr/>
        </p:nvSpPr>
        <p:spPr>
          <a:xfrm xmlns:a="http://schemas.openxmlformats.org/drawingml/2006/main">
            <a:off x="552450" y="4724400"/>
            <a:ext cx="476250" cy="476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3AB95C0-E59F-45F1-8A00-723B7D810005}"/>
              </a:ext>
            </a:extLst>
          </p:cNvPr>
          <p:cNvSpPr>
            <a:spLocks xmlns:a="http://schemas.openxmlformats.org/drawingml/2006/main" noGrp="1"/>
          </p:cNvSpPr>
          <p:nvPr/>
        </p:nvSpPr>
        <p:spPr>
          <a:xfrm xmlns:a="http://schemas.openxmlformats.org/drawingml/2006/main">
            <a:off x="552450" y="47815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309"/>
          </a:bodyPr>
          <a:lstStyle xmlns:a="http://schemas.openxmlformats.org/drawingml/2006/main"/>
          <a:p xmlns:a="http://schemas.openxmlformats.org/drawingml/2006/main">
            <a:pPr algn="ctr">
              <a:buNone/>
              <a:defRPr sz="2025" b="1">
                <a:solidFill>
                  <a:srgbClr val="FFFFFF"/>
                </a:solidFill>
                <a:latin typeface="Arial"/>
                <a:ea typeface="Arial"/>
                <a:cs typeface="Arial"/>
              </a:defRPr>
            </a:pPr>
            <a:r>
              <a:rPr sz="2025" b="1">
                <a:solidFill>
                  <a:srgbClr val="FFFFFF"/>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CE8A4038-1467-49A1-B76D-7318921A159A}"/>
              </a:ext>
            </a:extLst>
          </p:cNvPr>
          <p:cNvSpPr>
            <a:spLocks xmlns:a="http://schemas.openxmlformats.org/drawingml/2006/main" noGrp="1"/>
          </p:cNvSpPr>
          <p:nvPr/>
        </p:nvSpPr>
        <p:spPr>
          <a:xfrm xmlns:a="http://schemas.openxmlformats.org/drawingml/2006/main">
            <a:off x="1257300" y="470535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Open the report</a:t>
            </a:r>
          </a:p>
        </p:txBody>
      </p:sp>
      <p:sp>
        <p:nvSpPr>
          <p:cNvPr id="23" name="">
            <a:extLst xmlns:a="http://schemas.openxmlformats.org/drawingml/2006/main">
              <a:ext uri="{FF2B5EF4-FFF2-40B4-BE49-F238E27FC236}">
                <a16:creationId xmlns:a16="http://schemas.microsoft.com/office/drawing/2014/main" id="{1A47D02D-D9C6-42DC-BDE1-05639ACF6B85}"/>
              </a:ext>
            </a:extLst>
          </p:cNvPr>
          <p:cNvSpPr>
            <a:spLocks xmlns:a="http://schemas.openxmlformats.org/drawingml/2006/main" noGrp="1"/>
          </p:cNvSpPr>
          <p:nvPr/>
        </p:nvSpPr>
        <p:spPr>
          <a:xfrm xmlns:a="http://schemas.openxmlformats.org/drawingml/2006/main">
            <a:off x="1257300" y="50673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5F6670"/>
                </a:solidFill>
                <a:latin typeface="Arial"/>
                <a:ea typeface="Arial"/>
                <a:cs typeface="Arial"/>
              </a:defRPr>
            </a:pPr>
            <a:r>
              <a:rPr sz="1425" b="0">
                <a:solidFill>
                  <a:srgbClr val="5F6670"/>
                </a:solidFill>
                <a:latin typeface="Arial"/>
                <a:ea typeface="Arial"/>
                <a:cs typeface="Arial"/>
              </a:rPr>
              <a:t>Trace one item from status to its upstream source link.</a:t>
            </a:r>
          </a:p>
        </p:txBody>
      </p:sp>
      <p:sp>
        <p:nvSpPr>
          <p:cNvPr id="24" name="">
            <a:extLst xmlns:a="http://schemas.openxmlformats.org/drawingml/2006/main">
              <a:ext uri="{FF2B5EF4-FFF2-40B4-BE49-F238E27FC236}">
                <a16:creationId xmlns:a16="http://schemas.microsoft.com/office/drawing/2014/main" id="{9E1FB0F5-AFE9-4886-BF2E-1C01F85065CB}"/>
              </a:ext>
            </a:extLst>
          </p:cNvPr>
          <p:cNvSpPr>
            <a:spLocks xmlns:a="http://schemas.openxmlformats.org/drawingml/2006/main" noGrp="1"/>
          </p:cNvSpPr>
          <p:nvPr/>
        </p:nvSpPr>
        <p:spPr>
          <a:xfrm xmlns:a="http://schemas.openxmlformats.org/drawingml/2006/main">
            <a:off x="6724650" y="1790700"/>
            <a:ext cx="5067300" cy="3638550"/>
          </a:xfrm>
          <a:prstGeom xmlns:a="http://schemas.openxmlformats.org/drawingml/2006/main" prst="rect">
            <a:avLst/>
          </a:prstGeom>
          <a:solidFill xmlns:a="http://schemas.openxmlformats.org/drawingml/2006/main">
            <a:srgbClr val="F1F2F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062D93E-7317-43B1-B034-E3F477D0A18F}"/>
              </a:ext>
            </a:extLst>
          </p:cNvPr>
          <p:cNvSpPr>
            <a:spLocks xmlns:a="http://schemas.openxmlformats.org/drawingml/2006/main" noGrp="1"/>
          </p:cNvSpPr>
          <p:nvPr/>
        </p:nvSpPr>
        <p:spPr>
          <a:xfrm xmlns:a="http://schemas.openxmlformats.org/drawingml/2006/main">
            <a:off x="7048500" y="21145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buNone/>
              <a:defRPr sz="1200" b="1">
                <a:solidFill>
                  <a:srgbClr val="5F6670"/>
                </a:solidFill>
                <a:latin typeface="Arial"/>
                <a:ea typeface="Arial"/>
                <a:cs typeface="Arial"/>
              </a:defRPr>
            </a:pPr>
            <a:r>
              <a:rPr sz="1200" b="1">
                <a:solidFill>
                  <a:srgbClr val="5F6670"/>
                </a:solidFill>
                <a:latin typeface="Arial"/>
                <a:ea typeface="Arial"/>
                <a:cs typeface="Arial"/>
              </a:rPr>
              <a:t>SUCCESS LOOKS LIKE</a:t>
            </a:r>
          </a:p>
        </p:txBody>
      </p:sp>
      <p:sp>
        <p:nvSpPr>
          <p:cNvPr id="26" name="">
            <a:extLst xmlns:a="http://schemas.openxmlformats.org/drawingml/2006/main">
              <a:ext uri="{FF2B5EF4-FFF2-40B4-BE49-F238E27FC236}">
                <a16:creationId xmlns:a16="http://schemas.microsoft.com/office/drawing/2014/main" id="{C9DE0F02-E48D-4D86-A662-E5317F312126}"/>
              </a:ext>
            </a:extLst>
          </p:cNvPr>
          <p:cNvSpPr>
            <a:spLocks xmlns:a="http://schemas.openxmlformats.org/drawingml/2006/main" noGrp="1"/>
          </p:cNvSpPr>
          <p:nvPr/>
        </p:nvSpPr>
        <p:spPr>
          <a:xfrm xmlns:a="http://schemas.openxmlformats.org/drawingml/2006/main">
            <a:off x="7048500" y="2743200"/>
            <a:ext cx="95250" cy="95250"/>
          </a:xfrm>
          <a:prstGeom xmlns:a="http://schemas.openxmlformats.org/drawingml/2006/main" prst="rect">
            <a:avLst/>
          </a:prstGeom>
          <a:solidFill xmlns:a="http://schemas.openxmlformats.org/drawingml/2006/main">
            <a:srgbClr val="2E7D3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3C38E56-1B59-4B68-99D4-FCB6AE8B4506}"/>
              </a:ext>
            </a:extLst>
          </p:cNvPr>
          <p:cNvSpPr>
            <a:spLocks xmlns:a="http://schemas.openxmlformats.org/drawingml/2006/main" noGrp="1"/>
          </p:cNvSpPr>
          <p:nvPr/>
        </p:nvSpPr>
        <p:spPr>
          <a:xfrm xmlns:a="http://schemas.openxmlformats.org/drawingml/2006/main">
            <a:off x="7277100" y="2647950"/>
            <a:ext cx="3867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Every real entry is traceable to a source</a:t>
            </a:r>
          </a:p>
        </p:txBody>
      </p:sp>
      <p:sp>
        <p:nvSpPr>
          <p:cNvPr id="28" name="">
            <a:extLst xmlns:a="http://schemas.openxmlformats.org/drawingml/2006/main">
              <a:ext uri="{FF2B5EF4-FFF2-40B4-BE49-F238E27FC236}">
                <a16:creationId xmlns:a16="http://schemas.microsoft.com/office/drawing/2014/main" id="{B729EBF1-A160-40C6-BF91-9ECFEED0D1A3}"/>
              </a:ext>
            </a:extLst>
          </p:cNvPr>
          <p:cNvSpPr>
            <a:spLocks xmlns:a="http://schemas.openxmlformats.org/drawingml/2006/main" noGrp="1"/>
          </p:cNvSpPr>
          <p:nvPr/>
        </p:nvSpPr>
        <p:spPr>
          <a:xfrm xmlns:a="http://schemas.openxmlformats.org/drawingml/2006/main">
            <a:off x="7048500" y="3333750"/>
            <a:ext cx="95250" cy="95250"/>
          </a:xfrm>
          <a:prstGeom xmlns:a="http://schemas.openxmlformats.org/drawingml/2006/main" prst="rect">
            <a:avLst/>
          </a:prstGeom>
          <a:solidFill xmlns:a="http://schemas.openxmlformats.org/drawingml/2006/main">
            <a:srgbClr val="2E7D3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86A6726-28D7-4A99-86D1-3435FCCD3649}"/>
              </a:ext>
            </a:extLst>
          </p:cNvPr>
          <p:cNvSpPr>
            <a:spLocks xmlns:a="http://schemas.openxmlformats.org/drawingml/2006/main" noGrp="1"/>
          </p:cNvSpPr>
          <p:nvPr/>
        </p:nvSpPr>
        <p:spPr>
          <a:xfrm xmlns:a="http://schemas.openxmlformats.org/drawingml/2006/main">
            <a:off x="7277100" y="3238500"/>
            <a:ext cx="3867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Statuses and dates are plausible</a:t>
            </a:r>
          </a:p>
        </p:txBody>
      </p:sp>
      <p:sp>
        <p:nvSpPr>
          <p:cNvPr id="30" name="">
            <a:extLst xmlns:a="http://schemas.openxmlformats.org/drawingml/2006/main">
              <a:ext uri="{FF2B5EF4-FFF2-40B4-BE49-F238E27FC236}">
                <a16:creationId xmlns:a16="http://schemas.microsoft.com/office/drawing/2014/main" id="{DE66C308-DF04-4A86-BAD0-D23FBBA5EB04}"/>
              </a:ext>
            </a:extLst>
          </p:cNvPr>
          <p:cNvSpPr>
            <a:spLocks xmlns:a="http://schemas.openxmlformats.org/drawingml/2006/main" noGrp="1"/>
          </p:cNvSpPr>
          <p:nvPr/>
        </p:nvSpPr>
        <p:spPr>
          <a:xfrm xmlns:a="http://schemas.openxmlformats.org/drawingml/2006/main">
            <a:off x="7048500" y="3924300"/>
            <a:ext cx="95250" cy="95250"/>
          </a:xfrm>
          <a:prstGeom xmlns:a="http://schemas.openxmlformats.org/drawingml/2006/main" prst="rect">
            <a:avLst/>
          </a:prstGeom>
          <a:solidFill xmlns:a="http://schemas.openxmlformats.org/drawingml/2006/main">
            <a:srgbClr val="2E7D32"/>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1EC2ED3-8D6C-4B82-89D5-BC54121083C8}"/>
              </a:ext>
            </a:extLst>
          </p:cNvPr>
          <p:cNvSpPr>
            <a:spLocks xmlns:a="http://schemas.openxmlformats.org/drawingml/2006/main" noGrp="1"/>
          </p:cNvSpPr>
          <p:nvPr/>
        </p:nvSpPr>
        <p:spPr>
          <a:xfrm xmlns:a="http://schemas.openxmlformats.org/drawingml/2006/main">
            <a:off x="7277100" y="3829050"/>
            <a:ext cx="3867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The alert banner matches the rows</a:t>
            </a:r>
          </a:p>
        </p:txBody>
      </p:sp>
      <p:sp>
        <p:nvSpPr>
          <p:cNvPr id="32" name="">
            <a:extLst xmlns:a="http://schemas.openxmlformats.org/drawingml/2006/main">
              <a:ext uri="{FF2B5EF4-FFF2-40B4-BE49-F238E27FC236}">
                <a16:creationId xmlns:a16="http://schemas.microsoft.com/office/drawing/2014/main" id="{890FB031-95E8-400C-B42D-F79E8F5E3953}"/>
              </a:ext>
            </a:extLst>
          </p:cNvPr>
          <p:cNvSpPr>
            <a:spLocks xmlns:a="http://schemas.openxmlformats.org/drawingml/2006/main" noGrp="1"/>
          </p:cNvSpPr>
          <p:nvPr/>
        </p:nvSpPr>
        <p:spPr>
          <a:xfrm xmlns:a="http://schemas.openxmlformats.org/drawingml/2006/main">
            <a:off x="7048500" y="4514850"/>
            <a:ext cx="95250" cy="95250"/>
          </a:xfrm>
          <a:prstGeom xmlns:a="http://schemas.openxmlformats.org/drawingml/2006/main" prst="rect">
            <a:avLst/>
          </a:prstGeom>
          <a:solidFill xmlns:a="http://schemas.openxmlformats.org/drawingml/2006/main">
            <a:srgbClr val="2E7D3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BB2291F4-D505-4A06-8B0C-D558DBF52F51}"/>
              </a:ext>
            </a:extLst>
          </p:cNvPr>
          <p:cNvSpPr>
            <a:spLocks xmlns:a="http://schemas.openxmlformats.org/drawingml/2006/main" noGrp="1"/>
          </p:cNvSpPr>
          <p:nvPr/>
        </p:nvSpPr>
        <p:spPr>
          <a:xfrm xmlns:a="http://schemas.openxmlformats.org/drawingml/2006/main">
            <a:off x="7277100" y="4419600"/>
            <a:ext cx="3867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The HTML report is readable and shareable</a:t>
            </a:r>
          </a:p>
        </p:txBody>
      </p:sp>
      <p:sp>
        <p:nvSpPr>
          <p:cNvPr id="34" name="">
            <a:extLst xmlns:a="http://schemas.openxmlformats.org/drawingml/2006/main">
              <a:ext uri="{FF2B5EF4-FFF2-40B4-BE49-F238E27FC236}">
                <a16:creationId xmlns:a16="http://schemas.microsoft.com/office/drawing/2014/main" id="{0B5C7EC7-4C6B-4386-BD7F-774DEADE18B5}"/>
              </a:ext>
            </a:extLst>
          </p:cNvPr>
          <p:cNvSpPr>
            <a:spLocks xmlns:a="http://schemas.openxmlformats.org/drawingml/2006/main" noGrp="1"/>
          </p:cNvSpPr>
          <p:nvPr/>
        </p:nvSpPr>
        <p:spPr>
          <a:xfrm xmlns:a="http://schemas.openxmlformats.org/drawingml/2006/main">
            <a:off x="6724650" y="5753100"/>
            <a:ext cx="5067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596"/>
          </a:bodyPr>
          <a:lstStyle xmlns:a="http://schemas.openxmlformats.org/drawingml/2006/main"/>
          <a:p xmlns:a="http://schemas.openxmlformats.org/drawingml/2006/main">
            <a:pPr algn="l">
              <a:buNone/>
              <a:defRPr sz="1425" b="0">
                <a:solidFill>
                  <a:srgbClr val="5F6670"/>
                </a:solidFill>
                <a:latin typeface="Arial"/>
                <a:ea typeface="Arial"/>
                <a:cs typeface="Arial"/>
              </a:defRPr>
            </a:pPr>
            <a:r>
              <a:rPr sz="1425" b="0">
                <a:solidFill>
                  <a:srgbClr val="5F6670"/>
                </a:solidFill>
                <a:latin typeface="Arial"/>
                <a:ea typeface="Arial"/>
                <a:cs typeface="Arial"/>
              </a:rPr>
              <a:t>Fallback: if a live source is unavailable, open the latest saved HTML report and continue the walkthrough.</a:t>
            </a:r>
          </a:p>
        </p:txBody>
      </p:sp>
    </p:spTree>
    <p:extLst>
      <p:ext uri="{BB962C8B-B14F-4D97-AF65-F5344CB8AC3E}">
        <p14:creationId xmlns:p14="http://schemas.microsoft.com/office/powerpoint/2010/main" val="154714410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9FE946DF-F7DE-485E-BBFE-B753212E8DB7}"/>
              </a:ext>
            </a:extLst>
          </p:cNvPr>
          <p:cNvSpPr>
            <a:spLocks xmlns:a="http://schemas.openxmlformats.org/drawingml/2006/main" noGrp="1"/>
          </p:cNvSpPr>
          <p:nvPr/>
        </p:nvSpPr>
        <p:spPr>
          <a:xfrm xmlns:a="http://schemas.openxmlformats.org/drawingml/2006/main">
            <a:off x="400050" y="285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l">
              <a:buNone/>
              <a:defRPr sz="1125" b="1">
                <a:solidFill>
                  <a:srgbClr val="5F6670"/>
                </a:solidFill>
                <a:latin typeface="Arial"/>
                <a:ea typeface="Arial"/>
                <a:cs typeface="Arial"/>
              </a:defRPr>
            </a:pPr>
            <a:r>
              <a:rPr sz="1125" b="1">
                <a:solidFill>
                  <a:srgbClr val="5F6670"/>
                </a:solidFill>
                <a:latin typeface="Arial"/>
                <a:ea typeface="Arial"/>
                <a:cs typeface="Arial"/>
              </a:rPr>
              <a:t>DEVELOPMENT APPROACH</a:t>
            </a:r>
          </a:p>
        </p:txBody>
      </p:sp>
      <p:sp>
        <p:nvSpPr>
          <p:cNvPr id="2" name="slide-9-title">
            <a:extLst xmlns:a="http://schemas.openxmlformats.org/drawingml/2006/main">
              <a:ext uri="{FF2B5EF4-FFF2-40B4-BE49-F238E27FC236}">
                <a16:creationId xmlns:a16="http://schemas.microsoft.com/office/drawing/2014/main" id="{32BB4D46-C733-45C2-BDB7-ED8CC737397A}"/>
              </a:ext>
            </a:extLst>
          </p:cNvPr>
          <p:cNvSpPr>
            <a:spLocks xmlns:a="http://schemas.openxmlformats.org/drawingml/2006/main" noGrp="1"/>
          </p:cNvSpPr>
          <p:nvPr/>
        </p:nvSpPr>
        <p:spPr>
          <a:xfrm xmlns:a="http://schemas.openxmlformats.org/drawingml/2006/main">
            <a:off x="400050" y="6286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92"/>
          </a:bodyPr>
          <a:lstStyle xmlns:a="http://schemas.openxmlformats.org/drawingml/2006/main"/>
          <a:p xmlns:a="http://schemas.openxmlformats.org/drawingml/2006/main">
            <a:pPr algn="l">
              <a:buNone/>
              <a:defRPr sz="3525" b="1">
                <a:solidFill>
                  <a:srgbClr val="111111"/>
                </a:solidFill>
                <a:latin typeface="Arial"/>
                <a:ea typeface="Arial"/>
                <a:cs typeface="Arial"/>
              </a:defRPr>
            </a:pPr>
            <a:r>
              <a:rPr sz="3525" b="1">
                <a:solidFill>
                  <a:srgbClr val="111111"/>
                </a:solidFill>
                <a:latin typeface="Arial"/>
                <a:ea typeface="Arial"/>
                <a:cs typeface="Arial"/>
              </a:rPr>
              <a:t>AI speeds development; guardrails protect the runtime</a:t>
            </a:r>
          </a:p>
        </p:txBody>
      </p:sp>
      <p:sp>
        <p:nvSpPr>
          <p:cNvPr id="3" name="">
            <a:extLst xmlns:a="http://schemas.openxmlformats.org/drawingml/2006/main">
              <a:ext uri="{FF2B5EF4-FFF2-40B4-BE49-F238E27FC236}">
                <a16:creationId xmlns:a16="http://schemas.microsoft.com/office/drawing/2014/main" id="{E1C9134C-6629-4046-A572-312411D393C2}"/>
              </a:ext>
            </a:extLst>
          </p:cNvPr>
          <p:cNvSpPr>
            <a:spLocks xmlns:a="http://schemas.openxmlformats.org/drawingml/2006/main" noGrp="1"/>
          </p:cNvSpPr>
          <p:nvPr/>
        </p:nvSpPr>
        <p:spPr>
          <a:xfrm xmlns:a="http://schemas.openxmlformats.org/drawingml/2006/main">
            <a:off x="11277600" y="64008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r">
              <a:buNone/>
              <a:defRPr sz="1125" b="0">
                <a:solidFill>
                  <a:srgbClr val="5F6670"/>
                </a:solidFill>
                <a:latin typeface="Arial"/>
                <a:ea typeface="Arial"/>
                <a:cs typeface="Arial"/>
              </a:defRPr>
            </a:pPr>
            <a:r>
              <a:rPr sz="1125" b="0">
                <a:solidFill>
                  <a:srgbClr val="5F6670"/>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F26EA42A-2365-40FA-ABB4-8A0BD37C7988}"/>
              </a:ext>
            </a:extLst>
          </p:cNvPr>
          <p:cNvSpPr>
            <a:spLocks xmlns:a="http://schemas.openxmlformats.org/drawingml/2006/main" noGrp="1"/>
          </p:cNvSpPr>
          <p:nvPr/>
        </p:nvSpPr>
        <p:spPr>
          <a:xfrm xmlns:a="http://schemas.openxmlformats.org/drawingml/2006/main">
            <a:off x="400050" y="1752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buNone/>
              <a:defRPr sz="1200" b="1">
                <a:solidFill>
                  <a:srgbClr val="5F6670"/>
                </a:solidFill>
                <a:latin typeface="Arial"/>
                <a:ea typeface="Arial"/>
                <a:cs typeface="Arial"/>
              </a:defRPr>
            </a:pPr>
            <a:r>
              <a:rPr sz="1200" b="1">
                <a:solidFill>
                  <a:srgbClr val="5F6670"/>
                </a:solidFill>
                <a:latin typeface="Arial"/>
                <a:ea typeface="Arial"/>
                <a:cs typeface="Arial"/>
              </a:rPr>
              <a:t>AI-ASSISTED WORK</a:t>
            </a:r>
          </a:p>
        </p:txBody>
      </p:sp>
      <p:sp>
        <p:nvSpPr>
          <p:cNvPr id="5" name="">
            <a:extLst xmlns:a="http://schemas.openxmlformats.org/drawingml/2006/main">
              <a:ext uri="{FF2B5EF4-FFF2-40B4-BE49-F238E27FC236}">
                <a16:creationId xmlns:a16="http://schemas.microsoft.com/office/drawing/2014/main" id="{578D2858-28CE-45A9-AD97-60F2DD85E438}"/>
              </a:ext>
            </a:extLst>
          </p:cNvPr>
          <p:cNvSpPr>
            <a:spLocks xmlns:a="http://schemas.openxmlformats.org/drawingml/2006/main" noGrp="1"/>
          </p:cNvSpPr>
          <p:nvPr/>
        </p:nvSpPr>
        <p:spPr>
          <a:xfrm xmlns:a="http://schemas.openxmlformats.org/drawingml/2006/main">
            <a:off x="400050" y="2190750"/>
            <a:ext cx="4953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325" b="1">
                <a:solidFill>
                  <a:srgbClr val="111111"/>
                </a:solidFill>
                <a:latin typeface="Arial"/>
                <a:ea typeface="Arial"/>
                <a:cs typeface="Arial"/>
              </a:defRPr>
            </a:pPr>
            <a:r>
              <a:rPr sz="2325" b="1">
                <a:solidFill>
                  <a:srgbClr val="111111"/>
                </a:solidFill>
                <a:latin typeface="Arial"/>
                <a:ea typeface="Arial"/>
                <a:cs typeface="Arial"/>
              </a:rPr>
              <a:t>Agents and skills help with the judgment-heavy work.</a:t>
            </a:r>
          </a:p>
        </p:txBody>
      </p:sp>
      <p:sp>
        <p:nvSpPr>
          <p:cNvPr id="6" name="">
            <a:extLst xmlns:a="http://schemas.openxmlformats.org/drawingml/2006/main">
              <a:ext uri="{FF2B5EF4-FFF2-40B4-BE49-F238E27FC236}">
                <a16:creationId xmlns:a16="http://schemas.microsoft.com/office/drawing/2014/main" id="{D5C76DA0-7CCA-495E-9ECA-B318BFD6930B}"/>
              </a:ext>
            </a:extLst>
          </p:cNvPr>
          <p:cNvSpPr>
            <a:spLocks xmlns:a="http://schemas.openxmlformats.org/drawingml/2006/main" noGrp="1"/>
          </p:cNvSpPr>
          <p:nvPr/>
        </p:nvSpPr>
        <p:spPr>
          <a:xfrm xmlns:a="http://schemas.openxmlformats.org/drawingml/2006/main">
            <a:off x="400050" y="361950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C32C4B3-AEE8-4802-843A-DB5C97716620}"/>
              </a:ext>
            </a:extLst>
          </p:cNvPr>
          <p:cNvSpPr>
            <a:spLocks xmlns:a="http://schemas.openxmlformats.org/drawingml/2006/main" noGrp="1"/>
          </p:cNvSpPr>
          <p:nvPr/>
        </p:nvSpPr>
        <p:spPr>
          <a:xfrm xmlns:a="http://schemas.openxmlformats.org/drawingml/2006/main">
            <a:off x="628650" y="3524250"/>
            <a:ext cx="4724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Extract unstructured inventories</a:t>
            </a:r>
          </a:p>
        </p:txBody>
      </p:sp>
      <p:sp>
        <p:nvSpPr>
          <p:cNvPr id="8" name="">
            <a:extLst xmlns:a="http://schemas.openxmlformats.org/drawingml/2006/main">
              <a:ext uri="{FF2B5EF4-FFF2-40B4-BE49-F238E27FC236}">
                <a16:creationId xmlns:a16="http://schemas.microsoft.com/office/drawing/2014/main" id="{62AA314B-4CA9-4282-9CFF-0B54BC46D07A}"/>
              </a:ext>
            </a:extLst>
          </p:cNvPr>
          <p:cNvSpPr>
            <a:spLocks xmlns:a="http://schemas.openxmlformats.org/drawingml/2006/main" noGrp="1"/>
          </p:cNvSpPr>
          <p:nvPr/>
        </p:nvSpPr>
        <p:spPr>
          <a:xfrm xmlns:a="http://schemas.openxmlformats.org/drawingml/2006/main">
            <a:off x="400050" y="413385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E5F1C92-2A58-4EC9-98E7-1AA3BDF5C819}"/>
              </a:ext>
            </a:extLst>
          </p:cNvPr>
          <p:cNvSpPr>
            <a:spLocks xmlns:a="http://schemas.openxmlformats.org/drawingml/2006/main" noGrp="1"/>
          </p:cNvSpPr>
          <p:nvPr/>
        </p:nvSpPr>
        <p:spPr>
          <a:xfrm xmlns:a="http://schemas.openxmlformats.org/drawingml/2006/main">
            <a:off x="628650" y="4038600"/>
            <a:ext cx="4724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Generate and update curated configs</a:t>
            </a:r>
          </a:p>
        </p:txBody>
      </p:sp>
      <p:sp>
        <p:nvSpPr>
          <p:cNvPr id="10" name="">
            <a:extLst xmlns:a="http://schemas.openxmlformats.org/drawingml/2006/main">
              <a:ext uri="{FF2B5EF4-FFF2-40B4-BE49-F238E27FC236}">
                <a16:creationId xmlns:a16="http://schemas.microsoft.com/office/drawing/2014/main" id="{B05B6CB2-0D18-4334-B9A4-39BBA8F9B231}"/>
              </a:ext>
            </a:extLst>
          </p:cNvPr>
          <p:cNvSpPr>
            <a:spLocks xmlns:a="http://schemas.openxmlformats.org/drawingml/2006/main" noGrp="1"/>
          </p:cNvSpPr>
          <p:nvPr/>
        </p:nvSpPr>
        <p:spPr>
          <a:xfrm xmlns:a="http://schemas.openxmlformats.org/drawingml/2006/main">
            <a:off x="400050" y="464820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4952C33-1E6D-4369-BBB0-4802F0FF012D}"/>
              </a:ext>
            </a:extLst>
          </p:cNvPr>
          <p:cNvSpPr>
            <a:spLocks xmlns:a="http://schemas.openxmlformats.org/drawingml/2006/main" noGrp="1"/>
          </p:cNvSpPr>
          <p:nvPr/>
        </p:nvSpPr>
        <p:spPr>
          <a:xfrm xmlns:a="http://schemas.openxmlformats.org/drawingml/2006/main">
            <a:off x="628650" y="4552950"/>
            <a:ext cx="4724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Scaffold providers and documentation</a:t>
            </a:r>
          </a:p>
        </p:txBody>
      </p:sp>
      <p:sp>
        <p:nvSpPr>
          <p:cNvPr id="12" name="">
            <a:extLst xmlns:a="http://schemas.openxmlformats.org/drawingml/2006/main">
              <a:ext uri="{FF2B5EF4-FFF2-40B4-BE49-F238E27FC236}">
                <a16:creationId xmlns:a16="http://schemas.microsoft.com/office/drawing/2014/main" id="{182877F0-86B2-4921-BEE8-A15E7B86C68A}"/>
              </a:ext>
            </a:extLst>
          </p:cNvPr>
          <p:cNvSpPr>
            <a:spLocks xmlns:a="http://schemas.openxmlformats.org/drawingml/2006/main" noGrp="1"/>
          </p:cNvSpPr>
          <p:nvPr/>
        </p:nvSpPr>
        <p:spPr>
          <a:xfrm xmlns:a="http://schemas.openxmlformats.org/drawingml/2006/main">
            <a:off x="400050" y="516255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A6EFE3F-EFB2-40BA-8E0D-BF2FE64026C0}"/>
              </a:ext>
            </a:extLst>
          </p:cNvPr>
          <p:cNvSpPr>
            <a:spLocks xmlns:a="http://schemas.openxmlformats.org/drawingml/2006/main" noGrp="1"/>
          </p:cNvSpPr>
          <p:nvPr/>
        </p:nvSpPr>
        <p:spPr>
          <a:xfrm xmlns:a="http://schemas.openxmlformats.org/drawingml/2006/main">
            <a:off x="628650" y="5067300"/>
            <a:ext cx="4724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Review changes against repository guidance</a:t>
            </a:r>
          </a:p>
        </p:txBody>
      </p:sp>
      <p:sp>
        <p:nvSpPr>
          <p:cNvPr id="14" name="">
            <a:extLst xmlns:a="http://schemas.openxmlformats.org/drawingml/2006/main">
              <a:ext uri="{FF2B5EF4-FFF2-40B4-BE49-F238E27FC236}">
                <a16:creationId xmlns:a16="http://schemas.microsoft.com/office/drawing/2014/main" id="{6823E7C3-CD59-4A38-BE43-CA6CC70BE930}"/>
              </a:ext>
            </a:extLst>
          </p:cNvPr>
          <p:cNvSpPr>
            <a:spLocks xmlns:a="http://schemas.openxmlformats.org/drawingml/2006/main" noGrp="1"/>
          </p:cNvSpPr>
          <p:nvPr/>
        </p:nvSpPr>
        <p:spPr>
          <a:xfrm xmlns:a="http://schemas.openxmlformats.org/drawingml/2006/main">
            <a:off x="6286500" y="1562100"/>
            <a:ext cx="5505450" cy="4171950"/>
          </a:xfrm>
          <a:prstGeom xmlns:a="http://schemas.openxmlformats.org/drawingml/2006/main" prst="rect">
            <a:avLst/>
          </a:prstGeom>
          <a:solidFill xmlns:a="http://schemas.openxmlformats.org/drawingml/2006/main">
            <a:srgbClr val="F1F2F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A506B6D-AA29-48F6-80D8-B0249B32337B}"/>
              </a:ext>
            </a:extLst>
          </p:cNvPr>
          <p:cNvSpPr>
            <a:spLocks xmlns:a="http://schemas.openxmlformats.org/drawingml/2006/main" noGrp="1"/>
          </p:cNvSpPr>
          <p:nvPr/>
        </p:nvSpPr>
        <p:spPr>
          <a:xfrm xmlns:a="http://schemas.openxmlformats.org/drawingml/2006/main">
            <a:off x="6629400" y="1885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buNone/>
              <a:defRPr sz="1200" b="1">
                <a:solidFill>
                  <a:srgbClr val="5F6670"/>
                </a:solidFill>
                <a:latin typeface="Arial"/>
                <a:ea typeface="Arial"/>
                <a:cs typeface="Arial"/>
              </a:defRPr>
            </a:pPr>
            <a:r>
              <a:rPr sz="1200" b="1">
                <a:solidFill>
                  <a:srgbClr val="5F6670"/>
                </a:solidFill>
                <a:latin typeface="Arial"/>
                <a:ea typeface="Arial"/>
                <a:cs typeface="Arial"/>
              </a:rPr>
              <a:t>ENGINEERING CONTROLS</a:t>
            </a:r>
          </a:p>
        </p:txBody>
      </p:sp>
      <p:sp>
        <p:nvSpPr>
          <p:cNvPr id="16" name="">
            <a:extLst xmlns:a="http://schemas.openxmlformats.org/drawingml/2006/main">
              <a:ext uri="{FF2B5EF4-FFF2-40B4-BE49-F238E27FC236}">
                <a16:creationId xmlns:a16="http://schemas.microsoft.com/office/drawing/2014/main" id="{A99CF378-81FD-442C-A3FE-FAF5378BB780}"/>
              </a:ext>
            </a:extLst>
          </p:cNvPr>
          <p:cNvSpPr>
            <a:spLocks xmlns:a="http://schemas.openxmlformats.org/drawingml/2006/main" noGrp="1"/>
          </p:cNvSpPr>
          <p:nvPr/>
        </p:nvSpPr>
        <p:spPr>
          <a:xfrm xmlns:a="http://schemas.openxmlformats.org/drawingml/2006/main">
            <a:off x="6629400" y="2324100"/>
            <a:ext cx="4381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247"/>
          </a:bodyPr>
          <a:lstStyle xmlns:a="http://schemas.openxmlformats.org/drawingml/2006/main"/>
          <a:p xmlns:a="http://schemas.openxmlformats.org/drawingml/2006/main">
            <a:pPr algn="l">
              <a:buNone/>
              <a:defRPr sz="2325" b="1">
                <a:solidFill>
                  <a:srgbClr val="111111"/>
                </a:solidFill>
                <a:latin typeface="Arial"/>
                <a:ea typeface="Arial"/>
                <a:cs typeface="Arial"/>
              </a:defRPr>
            </a:pPr>
            <a:r>
              <a:rPr sz="2325" b="1">
                <a:solidFill>
                  <a:srgbClr val="111111"/>
                </a:solidFill>
                <a:latin typeface="Arial"/>
                <a:ea typeface="Arial"/>
                <a:cs typeface="Arial"/>
              </a:rPr>
              <a:t>The deployable package stays predictable.</a:t>
            </a:r>
          </a:p>
        </p:txBody>
      </p:sp>
      <p:sp>
        <p:nvSpPr>
          <p:cNvPr id="17" name="">
            <a:extLst xmlns:a="http://schemas.openxmlformats.org/drawingml/2006/main">
              <a:ext uri="{FF2B5EF4-FFF2-40B4-BE49-F238E27FC236}">
                <a16:creationId xmlns:a16="http://schemas.microsoft.com/office/drawing/2014/main" id="{CD605C8F-0849-4B81-B407-90E981DCCA17}"/>
              </a:ext>
            </a:extLst>
          </p:cNvPr>
          <p:cNvSpPr>
            <a:spLocks xmlns:a="http://schemas.openxmlformats.org/drawingml/2006/main" noGrp="1"/>
          </p:cNvSpPr>
          <p:nvPr/>
        </p:nvSpPr>
        <p:spPr>
          <a:xfrm xmlns:a="http://schemas.openxmlformats.org/drawingml/2006/main">
            <a:off x="6629400" y="3429000"/>
            <a:ext cx="95250" cy="95250"/>
          </a:xfrm>
          <a:prstGeom xmlns:a="http://schemas.openxmlformats.org/drawingml/2006/main" prst="rect">
            <a:avLst/>
          </a:prstGeom>
          <a:solidFill xmlns:a="http://schemas.openxmlformats.org/drawingml/2006/main">
            <a:srgbClr val="2E7D3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3C06733-4A81-42A0-9627-B2B89378E393}"/>
              </a:ext>
            </a:extLst>
          </p:cNvPr>
          <p:cNvSpPr>
            <a:spLocks xmlns:a="http://schemas.openxmlformats.org/drawingml/2006/main" noGrp="1"/>
          </p:cNvSpPr>
          <p:nvPr/>
        </p:nvSpPr>
        <p:spPr>
          <a:xfrm xmlns:a="http://schemas.openxmlformats.org/drawingml/2006/main">
            <a:off x="6858000" y="3333750"/>
            <a:ext cx="4248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11111"/>
                </a:solidFill>
                <a:latin typeface="Arial"/>
                <a:ea typeface="Arial"/>
                <a:cs typeface="Arial"/>
              </a:defRPr>
            </a:pPr>
            <a:r>
              <a:rPr sz="1500" b="0">
                <a:solidFill>
                  <a:srgbClr val="111111"/>
                </a:solidFill>
                <a:latin typeface="Arial"/>
                <a:ea typeface="Arial"/>
                <a:cs typeface="Arial"/>
              </a:rPr>
              <a:t>Stdlib-only Python runtime</a:t>
            </a:r>
          </a:p>
        </p:txBody>
      </p:sp>
      <p:sp>
        <p:nvSpPr>
          <p:cNvPr id="19" name="">
            <a:extLst xmlns:a="http://schemas.openxmlformats.org/drawingml/2006/main">
              <a:ext uri="{FF2B5EF4-FFF2-40B4-BE49-F238E27FC236}">
                <a16:creationId xmlns:a16="http://schemas.microsoft.com/office/drawing/2014/main" id="{63D10059-1301-42F1-914F-3107CD369D49}"/>
              </a:ext>
            </a:extLst>
          </p:cNvPr>
          <p:cNvSpPr>
            <a:spLocks xmlns:a="http://schemas.openxmlformats.org/drawingml/2006/main" noGrp="1"/>
          </p:cNvSpPr>
          <p:nvPr/>
        </p:nvSpPr>
        <p:spPr>
          <a:xfrm xmlns:a="http://schemas.openxmlformats.org/drawingml/2006/main">
            <a:off x="6629400" y="3886200"/>
            <a:ext cx="95250" cy="95250"/>
          </a:xfrm>
          <a:prstGeom xmlns:a="http://schemas.openxmlformats.org/drawingml/2006/main" prst="rect">
            <a:avLst/>
          </a:prstGeom>
          <a:solidFill xmlns:a="http://schemas.openxmlformats.org/drawingml/2006/main">
            <a:srgbClr val="2E7D3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BB29439-0EA8-4D33-B4CE-CF9D657D1F3D}"/>
              </a:ext>
            </a:extLst>
          </p:cNvPr>
          <p:cNvSpPr>
            <a:spLocks xmlns:a="http://schemas.openxmlformats.org/drawingml/2006/main" noGrp="1"/>
          </p:cNvSpPr>
          <p:nvPr/>
        </p:nvSpPr>
        <p:spPr>
          <a:xfrm xmlns:a="http://schemas.openxmlformats.org/drawingml/2006/main">
            <a:off x="6858000" y="3790950"/>
            <a:ext cx="4248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11111"/>
                </a:solidFill>
                <a:latin typeface="Arial"/>
                <a:ea typeface="Arial"/>
                <a:cs typeface="Arial"/>
              </a:defRPr>
            </a:pPr>
            <a:r>
              <a:rPr sz="1500" b="0">
                <a:solidFill>
                  <a:srgbClr val="111111"/>
                </a:solidFill>
                <a:latin typeface="Arial"/>
                <a:ea typeface="Arial"/>
                <a:cs typeface="Arial"/>
              </a:rPr>
              <a:t>Network-free tests for provider logic</a:t>
            </a:r>
          </a:p>
        </p:txBody>
      </p:sp>
      <p:sp>
        <p:nvSpPr>
          <p:cNvPr id="21" name="">
            <a:extLst xmlns:a="http://schemas.openxmlformats.org/drawingml/2006/main">
              <a:ext uri="{FF2B5EF4-FFF2-40B4-BE49-F238E27FC236}">
                <a16:creationId xmlns:a16="http://schemas.microsoft.com/office/drawing/2014/main" id="{52496DE7-EE73-492C-BEC5-FB202CFB5709}"/>
              </a:ext>
            </a:extLst>
          </p:cNvPr>
          <p:cNvSpPr>
            <a:spLocks xmlns:a="http://schemas.openxmlformats.org/drawingml/2006/main" noGrp="1"/>
          </p:cNvSpPr>
          <p:nvPr/>
        </p:nvSpPr>
        <p:spPr>
          <a:xfrm xmlns:a="http://schemas.openxmlformats.org/drawingml/2006/main">
            <a:off x="6629400" y="4343400"/>
            <a:ext cx="95250" cy="95250"/>
          </a:xfrm>
          <a:prstGeom xmlns:a="http://schemas.openxmlformats.org/drawingml/2006/main" prst="rect">
            <a:avLst/>
          </a:prstGeom>
          <a:solidFill xmlns:a="http://schemas.openxmlformats.org/drawingml/2006/main">
            <a:srgbClr val="2E7D3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7856FAE-4C35-4776-94E8-09BA10EE9599}"/>
              </a:ext>
            </a:extLst>
          </p:cNvPr>
          <p:cNvSpPr>
            <a:spLocks xmlns:a="http://schemas.openxmlformats.org/drawingml/2006/main" noGrp="1"/>
          </p:cNvSpPr>
          <p:nvPr/>
        </p:nvSpPr>
        <p:spPr>
          <a:xfrm xmlns:a="http://schemas.openxmlformats.org/drawingml/2006/main">
            <a:off x="6858000" y="4248150"/>
            <a:ext cx="4248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11111"/>
                </a:solidFill>
                <a:latin typeface="Arial"/>
                <a:ea typeface="Arial"/>
                <a:cs typeface="Arial"/>
              </a:defRPr>
            </a:pPr>
            <a:r>
              <a:rPr sz="1500" b="0">
                <a:solidFill>
                  <a:srgbClr val="111111"/>
                </a:solidFill>
                <a:latin typeface="Arial"/>
                <a:ea typeface="Arial"/>
                <a:cs typeface="Arial"/>
              </a:rPr>
              <a:t>Defensive parsers fail loudly on source drift</a:t>
            </a:r>
          </a:p>
        </p:txBody>
      </p:sp>
      <p:sp>
        <p:nvSpPr>
          <p:cNvPr id="23" name="">
            <a:extLst xmlns:a="http://schemas.openxmlformats.org/drawingml/2006/main">
              <a:ext uri="{FF2B5EF4-FFF2-40B4-BE49-F238E27FC236}">
                <a16:creationId xmlns:a16="http://schemas.microsoft.com/office/drawing/2014/main" id="{43AC6D59-6992-4951-BDD2-D837C0F57B7E}"/>
              </a:ext>
            </a:extLst>
          </p:cNvPr>
          <p:cNvSpPr>
            <a:spLocks xmlns:a="http://schemas.openxmlformats.org/drawingml/2006/main" noGrp="1"/>
          </p:cNvSpPr>
          <p:nvPr/>
        </p:nvSpPr>
        <p:spPr>
          <a:xfrm xmlns:a="http://schemas.openxmlformats.org/drawingml/2006/main">
            <a:off x="6629400" y="4800600"/>
            <a:ext cx="95250" cy="95250"/>
          </a:xfrm>
          <a:prstGeom xmlns:a="http://schemas.openxmlformats.org/drawingml/2006/main" prst="rect">
            <a:avLst/>
          </a:prstGeom>
          <a:solidFill xmlns:a="http://schemas.openxmlformats.org/drawingml/2006/main">
            <a:srgbClr val="2E7D3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73A85E3-8E96-4A1B-9845-A7F6C54DB22A}"/>
              </a:ext>
            </a:extLst>
          </p:cNvPr>
          <p:cNvSpPr>
            <a:spLocks xmlns:a="http://schemas.openxmlformats.org/drawingml/2006/main" noGrp="1"/>
          </p:cNvSpPr>
          <p:nvPr/>
        </p:nvSpPr>
        <p:spPr>
          <a:xfrm xmlns:a="http://schemas.openxmlformats.org/drawingml/2006/main">
            <a:off x="6858000" y="4705350"/>
            <a:ext cx="4248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11111"/>
                </a:solidFill>
                <a:latin typeface="Arial"/>
                <a:ea typeface="Arial"/>
                <a:cs typeface="Arial"/>
              </a:defRPr>
            </a:pPr>
            <a:r>
              <a:rPr sz="1500" b="0">
                <a:solidFill>
                  <a:srgbClr val="111111"/>
                </a:solidFill>
                <a:latin typeface="Arial"/>
                <a:ea typeface="Arial"/>
                <a:cs typeface="Arial"/>
              </a:rPr>
              <a:t>One live smoke run before completion</a:t>
            </a:r>
          </a:p>
        </p:txBody>
      </p:sp>
      <p:sp>
        <p:nvSpPr>
          <p:cNvPr id="25" name="">
            <a:extLst xmlns:a="http://schemas.openxmlformats.org/drawingml/2006/main">
              <a:ext uri="{FF2B5EF4-FFF2-40B4-BE49-F238E27FC236}">
                <a16:creationId xmlns:a16="http://schemas.microsoft.com/office/drawing/2014/main" id="{E3380B11-3CFF-4B6D-BEC6-E36751E77F7F}"/>
              </a:ext>
            </a:extLst>
          </p:cNvPr>
          <p:cNvSpPr>
            <a:spLocks xmlns:a="http://schemas.openxmlformats.org/drawingml/2006/main" noGrp="1"/>
          </p:cNvSpPr>
          <p:nvPr/>
        </p:nvSpPr>
        <p:spPr>
          <a:xfrm xmlns:a="http://schemas.openxmlformats.org/drawingml/2006/main">
            <a:off x="6629400" y="5257800"/>
            <a:ext cx="95250" cy="95250"/>
          </a:xfrm>
          <a:prstGeom xmlns:a="http://schemas.openxmlformats.org/drawingml/2006/main" prst="rect">
            <a:avLst/>
          </a:prstGeom>
          <a:solidFill xmlns:a="http://schemas.openxmlformats.org/drawingml/2006/main">
            <a:srgbClr val="2E7D3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DA1E6CC-7C32-45E1-913A-6B37D125671B}"/>
              </a:ext>
            </a:extLst>
          </p:cNvPr>
          <p:cNvSpPr>
            <a:spLocks xmlns:a="http://schemas.openxmlformats.org/drawingml/2006/main" noGrp="1"/>
          </p:cNvSpPr>
          <p:nvPr/>
        </p:nvSpPr>
        <p:spPr>
          <a:xfrm xmlns:a="http://schemas.openxmlformats.org/drawingml/2006/main">
            <a:off x="6858000" y="5162550"/>
            <a:ext cx="4248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11111"/>
                </a:solidFill>
                <a:latin typeface="Arial"/>
                <a:ea typeface="Arial"/>
                <a:cs typeface="Arial"/>
              </a:defRPr>
            </a:pPr>
            <a:r>
              <a:rPr sz="1500" b="0">
                <a:solidFill>
                  <a:srgbClr val="111111"/>
                </a:solidFill>
                <a:latin typeface="Arial"/>
                <a:ea typeface="Arial"/>
                <a:cs typeface="Arial"/>
              </a:rPr>
              <a:t>Provider modules auto-register</a:t>
            </a:r>
          </a:p>
        </p:txBody>
      </p:sp>
      <p:sp>
        <p:nvSpPr>
          <p:cNvPr id="27" name="">
            <a:extLst xmlns:a="http://schemas.openxmlformats.org/drawingml/2006/main">
              <a:ext uri="{FF2B5EF4-FFF2-40B4-BE49-F238E27FC236}">
                <a16:creationId xmlns:a16="http://schemas.microsoft.com/office/drawing/2014/main" id="{624B55FD-5D9B-47D6-8FA3-7672822FB214}"/>
              </a:ext>
            </a:extLst>
          </p:cNvPr>
          <p:cNvSpPr>
            <a:spLocks xmlns:a="http://schemas.openxmlformats.org/drawingml/2006/main" noGrp="1"/>
          </p:cNvSpPr>
          <p:nvPr/>
        </p:nvSpPr>
        <p:spPr>
          <a:xfrm xmlns:a="http://schemas.openxmlformats.org/drawingml/2006/main">
            <a:off x="400050" y="601980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Outcome: faster extension without lowering the evidence bar.</a:t>
            </a:r>
          </a:p>
        </p:txBody>
      </p:sp>
    </p:spTree>
    <p:extLst>
      <p:ext uri="{BB962C8B-B14F-4D97-AF65-F5344CB8AC3E}">
        <p14:creationId xmlns:p14="http://schemas.microsoft.com/office/powerpoint/2010/main" val="206367469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81AA0BE-2E98-48D3-989E-4FF5FADDCC22}"/>
              </a:ext>
            </a:extLst>
          </p:cNvPr>
          <p:cNvSpPr>
            <a:spLocks xmlns:a="http://schemas.openxmlformats.org/drawingml/2006/main" noGrp="1"/>
          </p:cNvSpPr>
          <p:nvPr/>
        </p:nvSpPr>
        <p:spPr>
          <a:xfrm xmlns:a="http://schemas.openxmlformats.org/drawingml/2006/main">
            <a:off x="400050" y="285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l">
              <a:buNone/>
              <a:defRPr sz="1125" b="1">
                <a:solidFill>
                  <a:srgbClr val="5F6670"/>
                </a:solidFill>
                <a:latin typeface="Arial"/>
                <a:ea typeface="Arial"/>
                <a:cs typeface="Arial"/>
              </a:defRPr>
            </a:pPr>
            <a:r>
              <a:rPr sz="1125" b="1">
                <a:solidFill>
                  <a:srgbClr val="5F6670"/>
                </a:solidFill>
                <a:latin typeface="Arial"/>
                <a:ea typeface="Arial"/>
                <a:cs typeface="Arial"/>
              </a:rPr>
              <a:t>NEXT STEPS</a:t>
            </a:r>
          </a:p>
        </p:txBody>
      </p:sp>
      <p:sp>
        <p:nvSpPr>
          <p:cNvPr id="2" name="slide-10-title">
            <a:extLst xmlns:a="http://schemas.openxmlformats.org/drawingml/2006/main">
              <a:ext uri="{FF2B5EF4-FFF2-40B4-BE49-F238E27FC236}">
                <a16:creationId xmlns:a16="http://schemas.microsoft.com/office/drawing/2014/main" id="{B217EBC7-A2A1-4546-ADA1-9EB345AB4881}"/>
              </a:ext>
            </a:extLst>
          </p:cNvPr>
          <p:cNvSpPr>
            <a:spLocks xmlns:a="http://schemas.openxmlformats.org/drawingml/2006/main" noGrp="1"/>
          </p:cNvSpPr>
          <p:nvPr/>
        </p:nvSpPr>
        <p:spPr>
          <a:xfrm xmlns:a="http://schemas.openxmlformats.org/drawingml/2006/main">
            <a:off x="400050" y="6286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525" b="1">
                <a:solidFill>
                  <a:srgbClr val="111111"/>
                </a:solidFill>
                <a:latin typeface="Arial"/>
                <a:ea typeface="Arial"/>
                <a:cs typeface="Arial"/>
              </a:defRPr>
            </a:pPr>
            <a:r>
              <a:rPr sz="3525" b="1">
                <a:solidFill>
                  <a:srgbClr val="111111"/>
                </a:solidFill>
                <a:latin typeface="Arial"/>
                <a:ea typeface="Arial"/>
                <a:cs typeface="Arial"/>
              </a:rPr>
              <a:t>Validate scheduled delivery, then scale adoption</a:t>
            </a:r>
          </a:p>
        </p:txBody>
      </p:sp>
      <p:sp>
        <p:nvSpPr>
          <p:cNvPr id="3" name="">
            <a:extLst xmlns:a="http://schemas.openxmlformats.org/drawingml/2006/main">
              <a:ext uri="{FF2B5EF4-FFF2-40B4-BE49-F238E27FC236}">
                <a16:creationId xmlns:a16="http://schemas.microsoft.com/office/drawing/2014/main" id="{9FAFD3F6-5FCA-48DD-AF35-DB954071BE2A}"/>
              </a:ext>
            </a:extLst>
          </p:cNvPr>
          <p:cNvSpPr>
            <a:spLocks xmlns:a="http://schemas.openxmlformats.org/drawingml/2006/main" noGrp="1"/>
          </p:cNvSpPr>
          <p:nvPr/>
        </p:nvSpPr>
        <p:spPr>
          <a:xfrm xmlns:a="http://schemas.openxmlformats.org/drawingml/2006/main">
            <a:off x="11277600" y="64008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r">
              <a:buNone/>
              <a:defRPr sz="1125" b="0">
                <a:solidFill>
                  <a:srgbClr val="5F6670"/>
                </a:solidFill>
                <a:latin typeface="Arial"/>
                <a:ea typeface="Arial"/>
                <a:cs typeface="Arial"/>
              </a:defRPr>
            </a:pPr>
            <a:r>
              <a:rPr sz="1125" b="0">
                <a:solidFill>
                  <a:srgbClr val="5F6670"/>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F1487F90-65DF-40B9-AD3B-ACC9DD6BFBCC}"/>
              </a:ext>
            </a:extLst>
          </p:cNvPr>
          <p:cNvSpPr>
            <a:spLocks xmlns:a="http://schemas.openxmlformats.org/drawingml/2006/main" noGrp="1"/>
          </p:cNvSpPr>
          <p:nvPr/>
        </p:nvSpPr>
        <p:spPr>
          <a:xfrm xmlns:a="http://schemas.openxmlformats.org/drawingml/2006/main">
            <a:off x="400050" y="5334000"/>
            <a:ext cx="11391900" cy="0"/>
          </a:xfrm>
          <a:prstGeom xmlns:a="http://schemas.openxmlformats.org/drawingml/2006/main" prst="line">
            <a:avLst/>
          </a:prstGeom>
          <a:noFill xmlns:a="http://schemas.openxmlformats.org/drawingml/2006/main"/>
          <a:ln xmlns:a="http://schemas.openxmlformats.org/drawingml/2006/main" w="9525">
            <a:solidFill>
              <a:srgbClr val="111111"/>
            </a:solidFill>
            <a:prstDash val="solid"/>
          </a:ln>
        </p:spPr>
      </p:sp>
      <p:sp>
        <p:nvSpPr>
          <p:cNvPr id="5" name="">
            <a:extLst xmlns:a="http://schemas.openxmlformats.org/drawingml/2006/main">
              <a:ext uri="{FF2B5EF4-FFF2-40B4-BE49-F238E27FC236}">
                <a16:creationId xmlns:a16="http://schemas.microsoft.com/office/drawing/2014/main" id="{C4968644-138D-497A-A9A3-AF849D550863}"/>
              </a:ext>
            </a:extLst>
          </p:cNvPr>
          <p:cNvSpPr>
            <a:spLocks xmlns:a="http://schemas.openxmlformats.org/drawingml/2006/main" noGrp="1"/>
          </p:cNvSpPr>
          <p:nvPr/>
        </p:nvSpPr>
        <p:spPr>
          <a:xfrm xmlns:a="http://schemas.openxmlformats.org/drawingml/2006/main">
            <a:off x="400050" y="5267325"/>
            <a:ext cx="133350" cy="133350"/>
          </a:xfrm>
          <a:prstGeom xmlns:a="http://schemas.openxmlformats.org/drawingml/2006/main" prst="ellipse">
            <a:avLst/>
          </a:prstGeom>
          <a:solidFill xmlns:a="http://schemas.openxmlformats.org/drawingml/2006/main">
            <a:srgbClr val="111111"/>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CF0FB81-D8FE-4D2E-948F-B1F8838B2D00}"/>
              </a:ext>
            </a:extLst>
          </p:cNvPr>
          <p:cNvSpPr>
            <a:spLocks xmlns:a="http://schemas.openxmlformats.org/drawingml/2006/main" noGrp="1"/>
          </p:cNvSpPr>
          <p:nvPr/>
        </p:nvSpPr>
        <p:spPr>
          <a:xfrm xmlns:a="http://schemas.openxmlformats.org/drawingml/2006/main">
            <a:off x="4305300" y="5267325"/>
            <a:ext cx="133350" cy="133350"/>
          </a:xfrm>
          <a:prstGeom xmlns:a="http://schemas.openxmlformats.org/drawingml/2006/main" prst="ellipse">
            <a:avLst/>
          </a:prstGeom>
          <a:solidFill xmlns:a="http://schemas.openxmlformats.org/drawingml/2006/main">
            <a:srgbClr val="11111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D2A0EFB-49C7-45E7-8EB5-F0EB7D51E605}"/>
              </a:ext>
            </a:extLst>
          </p:cNvPr>
          <p:cNvSpPr>
            <a:spLocks xmlns:a="http://schemas.openxmlformats.org/drawingml/2006/main" noGrp="1"/>
          </p:cNvSpPr>
          <p:nvPr/>
        </p:nvSpPr>
        <p:spPr>
          <a:xfrm xmlns:a="http://schemas.openxmlformats.org/drawingml/2006/main">
            <a:off x="8229600" y="5267325"/>
            <a:ext cx="133350" cy="133350"/>
          </a:xfrm>
          <a:prstGeom xmlns:a="http://schemas.openxmlformats.org/drawingml/2006/main" prst="ellipse">
            <a:avLst/>
          </a:prstGeom>
          <a:solidFill xmlns:a="http://schemas.openxmlformats.org/drawingml/2006/main">
            <a:srgbClr val="11111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FFD9CEB-FD87-4BA1-A3D2-7B2D04C9A7E8}"/>
              </a:ext>
            </a:extLst>
          </p:cNvPr>
          <p:cNvSpPr>
            <a:spLocks xmlns:a="http://schemas.openxmlformats.org/drawingml/2006/main" noGrp="1"/>
          </p:cNvSpPr>
          <p:nvPr/>
        </p:nvSpPr>
        <p:spPr>
          <a:xfrm xmlns:a="http://schemas.openxmlformats.org/drawingml/2006/main">
            <a:off x="400050" y="1695450"/>
            <a:ext cx="3562350" cy="3143250"/>
          </a:xfrm>
          <a:prstGeom xmlns:a="http://schemas.openxmlformats.org/drawingml/2006/main" prst="rect">
            <a:avLst/>
          </a:prstGeom>
          <a:solidFill xmlns:a="http://schemas.openxmlformats.org/drawingml/2006/main">
            <a:srgbClr val="DFF3F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62DA6C5-E963-4A57-ADFC-F9EDAB9BD93E}"/>
              </a:ext>
            </a:extLst>
          </p:cNvPr>
          <p:cNvSpPr>
            <a:spLocks xmlns:a="http://schemas.openxmlformats.org/drawingml/2006/main" noGrp="1"/>
          </p:cNvSpPr>
          <p:nvPr/>
        </p:nvSpPr>
        <p:spPr>
          <a:xfrm xmlns:a="http://schemas.openxmlformats.org/drawingml/2006/main">
            <a:off x="685800" y="20002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PILOT</a:t>
            </a:r>
          </a:p>
        </p:txBody>
      </p:sp>
      <p:sp>
        <p:nvSpPr>
          <p:cNvPr id="10" name="">
            <a:extLst xmlns:a="http://schemas.openxmlformats.org/drawingml/2006/main">
              <a:ext uri="{FF2B5EF4-FFF2-40B4-BE49-F238E27FC236}">
                <a16:creationId xmlns:a16="http://schemas.microsoft.com/office/drawing/2014/main" id="{3E6CD5CC-4FC7-4C01-9CF6-E2D34122421E}"/>
              </a:ext>
            </a:extLst>
          </p:cNvPr>
          <p:cNvSpPr>
            <a:spLocks xmlns:a="http://schemas.openxmlformats.org/drawingml/2006/main" noGrp="1"/>
          </p:cNvSpPr>
          <p:nvPr/>
        </p:nvSpPr>
        <p:spPr>
          <a:xfrm xmlns:a="http://schemas.openxmlformats.org/drawingml/2006/main">
            <a:off x="685800" y="24765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11111"/>
                </a:solidFill>
                <a:latin typeface="Arial"/>
                <a:ea typeface="Arial"/>
                <a:cs typeface="Arial"/>
              </a:defRPr>
            </a:pPr>
            <a:r>
              <a:rPr sz="2100" b="1">
                <a:solidFill>
                  <a:srgbClr val="111111"/>
                </a:solidFill>
                <a:latin typeface="Arial"/>
                <a:ea typeface="Arial"/>
                <a:cs typeface="Arial"/>
              </a:rPr>
              <a:t>Prove the schedule</a:t>
            </a:r>
          </a:p>
        </p:txBody>
      </p:sp>
      <p:sp>
        <p:nvSpPr>
          <p:cNvPr id="11" name="">
            <a:extLst xmlns:a="http://schemas.openxmlformats.org/drawingml/2006/main">
              <a:ext uri="{FF2B5EF4-FFF2-40B4-BE49-F238E27FC236}">
                <a16:creationId xmlns:a16="http://schemas.microsoft.com/office/drawing/2014/main" id="{3219E7AD-6CB4-4B58-AC79-AEFB38BFCEE5}"/>
              </a:ext>
            </a:extLst>
          </p:cNvPr>
          <p:cNvSpPr>
            <a:spLocks xmlns:a="http://schemas.openxmlformats.org/drawingml/2006/main" noGrp="1"/>
          </p:cNvSpPr>
          <p:nvPr/>
        </p:nvSpPr>
        <p:spPr>
          <a:xfrm xmlns:a="http://schemas.openxmlformats.org/drawingml/2006/main">
            <a:off x="685800" y="3238500"/>
            <a:ext cx="2952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5F6670"/>
                </a:solidFill>
                <a:latin typeface="Arial"/>
                <a:ea typeface="Arial"/>
                <a:cs typeface="Arial"/>
              </a:defRPr>
            </a:pPr>
            <a:r>
              <a:rPr sz="1575" b="0">
                <a:solidFill>
                  <a:srgbClr val="5F6670"/>
                </a:solidFill>
                <a:latin typeface="Arial"/>
                <a:ea typeface="Arial"/>
                <a:cs typeface="Arial"/>
              </a:rPr>
              <a:t>Choose one project, configure a monthly run, and test S3 → Lambda → notification end to end.</a:t>
            </a:r>
          </a:p>
        </p:txBody>
      </p:sp>
      <p:sp>
        <p:nvSpPr>
          <p:cNvPr id="12" name="">
            <a:extLst xmlns:a="http://schemas.openxmlformats.org/drawingml/2006/main">
              <a:ext uri="{FF2B5EF4-FFF2-40B4-BE49-F238E27FC236}">
                <a16:creationId xmlns:a16="http://schemas.microsoft.com/office/drawing/2014/main" id="{088CF365-F28D-4E9F-AA84-96CEBB27EE86}"/>
              </a:ext>
            </a:extLst>
          </p:cNvPr>
          <p:cNvSpPr>
            <a:spLocks xmlns:a="http://schemas.openxmlformats.org/drawingml/2006/main" noGrp="1"/>
          </p:cNvSpPr>
          <p:nvPr/>
        </p:nvSpPr>
        <p:spPr>
          <a:xfrm xmlns:a="http://schemas.openxmlformats.org/drawingml/2006/main">
            <a:off x="4305300" y="1695450"/>
            <a:ext cx="3562350" cy="3143250"/>
          </a:xfrm>
          <a:prstGeom xmlns:a="http://schemas.openxmlformats.org/drawingml/2006/main" prst="rect">
            <a:avLst/>
          </a:prstGeom>
          <a:solidFill xmlns:a="http://schemas.openxmlformats.org/drawingml/2006/main">
            <a:srgbClr val="F1F2F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1A1317A-CD5A-4BBE-A4D4-D09D0D8BC004}"/>
              </a:ext>
            </a:extLst>
          </p:cNvPr>
          <p:cNvSpPr>
            <a:spLocks xmlns:a="http://schemas.openxmlformats.org/drawingml/2006/main" noGrp="1"/>
          </p:cNvSpPr>
          <p:nvPr/>
        </p:nvSpPr>
        <p:spPr>
          <a:xfrm xmlns:a="http://schemas.openxmlformats.org/drawingml/2006/main">
            <a:off x="4591050" y="20002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p xmlns:a="http://schemas.openxmlformats.org/drawingml/2006/main">
            <a:pPr algn="l">
              <a:buNone/>
              <a:defRPr sz="1200" b="1">
                <a:solidFill>
                  <a:srgbClr val="5F6670"/>
                </a:solidFill>
                <a:latin typeface="Arial"/>
                <a:ea typeface="Arial"/>
                <a:cs typeface="Arial"/>
              </a:defRPr>
            </a:pPr>
            <a:r>
              <a:rPr sz="1200" b="1">
                <a:solidFill>
                  <a:srgbClr val="5F6670"/>
                </a:solidFill>
                <a:latin typeface="Arial"/>
                <a:ea typeface="Arial"/>
                <a:cs typeface="Arial"/>
              </a:rPr>
              <a:t>HARDEN</a:t>
            </a:r>
          </a:p>
        </p:txBody>
      </p:sp>
      <p:sp>
        <p:nvSpPr>
          <p:cNvPr id="14" name="">
            <a:extLst xmlns:a="http://schemas.openxmlformats.org/drawingml/2006/main">
              <a:ext uri="{FF2B5EF4-FFF2-40B4-BE49-F238E27FC236}">
                <a16:creationId xmlns:a16="http://schemas.microsoft.com/office/drawing/2014/main" id="{472A9807-DDE9-449A-8BC5-F9023536C569}"/>
              </a:ext>
            </a:extLst>
          </p:cNvPr>
          <p:cNvSpPr>
            <a:spLocks xmlns:a="http://schemas.openxmlformats.org/drawingml/2006/main" noGrp="1"/>
          </p:cNvSpPr>
          <p:nvPr/>
        </p:nvSpPr>
        <p:spPr>
          <a:xfrm xmlns:a="http://schemas.openxmlformats.org/drawingml/2006/main">
            <a:off x="4591050" y="24765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11111"/>
                </a:solidFill>
                <a:latin typeface="Arial"/>
                <a:ea typeface="Arial"/>
                <a:cs typeface="Arial"/>
              </a:defRPr>
            </a:pPr>
            <a:r>
              <a:rPr sz="2100" b="1">
                <a:solidFill>
                  <a:srgbClr val="111111"/>
                </a:solidFill>
                <a:latin typeface="Arial"/>
                <a:ea typeface="Arial"/>
                <a:cs typeface="Arial"/>
              </a:rPr>
              <a:t>Define operations</a:t>
            </a:r>
          </a:p>
        </p:txBody>
      </p:sp>
      <p:sp>
        <p:nvSpPr>
          <p:cNvPr id="15" name="">
            <a:extLst xmlns:a="http://schemas.openxmlformats.org/drawingml/2006/main">
              <a:ext uri="{FF2B5EF4-FFF2-40B4-BE49-F238E27FC236}">
                <a16:creationId xmlns:a16="http://schemas.microsoft.com/office/drawing/2014/main" id="{E2FDF2A3-E451-43B0-B9C1-47C7DCBD93EB}"/>
              </a:ext>
            </a:extLst>
          </p:cNvPr>
          <p:cNvSpPr>
            <a:spLocks xmlns:a="http://schemas.openxmlformats.org/drawingml/2006/main" noGrp="1"/>
          </p:cNvSpPr>
          <p:nvPr/>
        </p:nvSpPr>
        <p:spPr>
          <a:xfrm xmlns:a="http://schemas.openxmlformats.org/drawingml/2006/main">
            <a:off x="4591050" y="3238500"/>
            <a:ext cx="2952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5F6670"/>
                </a:solidFill>
                <a:latin typeface="Arial"/>
                <a:ea typeface="Arial"/>
                <a:cs typeface="Arial"/>
              </a:defRPr>
            </a:pPr>
            <a:r>
              <a:rPr sz="1575" b="0">
                <a:solidFill>
                  <a:srgbClr val="5F6670"/>
                </a:solidFill>
                <a:latin typeface="Arial"/>
                <a:ea typeface="Arial"/>
                <a:cs typeface="Arial"/>
              </a:rPr>
              <a:t>Agree ownership, report review, provider-error handling, and alert-routing expectations.</a:t>
            </a:r>
          </a:p>
        </p:txBody>
      </p:sp>
      <p:sp>
        <p:nvSpPr>
          <p:cNvPr id="16" name="">
            <a:extLst xmlns:a="http://schemas.openxmlformats.org/drawingml/2006/main">
              <a:ext uri="{FF2B5EF4-FFF2-40B4-BE49-F238E27FC236}">
                <a16:creationId xmlns:a16="http://schemas.microsoft.com/office/drawing/2014/main" id="{9C17B959-D42D-4FF1-BFF6-E4ABCE291A3F}"/>
              </a:ext>
            </a:extLst>
          </p:cNvPr>
          <p:cNvSpPr>
            <a:spLocks xmlns:a="http://schemas.openxmlformats.org/drawingml/2006/main" noGrp="1"/>
          </p:cNvSpPr>
          <p:nvPr/>
        </p:nvSpPr>
        <p:spPr>
          <a:xfrm xmlns:a="http://schemas.openxmlformats.org/drawingml/2006/main">
            <a:off x="8229600" y="1695450"/>
            <a:ext cx="3562350" cy="3143250"/>
          </a:xfrm>
          <a:prstGeom xmlns:a="http://schemas.openxmlformats.org/drawingml/2006/main" prst="rect">
            <a:avLst/>
          </a:prstGeom>
          <a:solidFill xmlns:a="http://schemas.openxmlformats.org/drawingml/2006/main">
            <a:srgbClr val="F1F2F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123BF87-0E1C-4523-857A-688AFA91E8CC}"/>
              </a:ext>
            </a:extLst>
          </p:cNvPr>
          <p:cNvSpPr>
            <a:spLocks xmlns:a="http://schemas.openxmlformats.org/drawingml/2006/main" noGrp="1"/>
          </p:cNvSpPr>
          <p:nvPr/>
        </p:nvSpPr>
        <p:spPr>
          <a:xfrm xmlns:a="http://schemas.openxmlformats.org/drawingml/2006/main">
            <a:off x="8515350" y="20002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p xmlns:a="http://schemas.openxmlformats.org/drawingml/2006/main">
            <a:pPr algn="l">
              <a:buNone/>
              <a:defRPr sz="1200" b="1">
                <a:solidFill>
                  <a:srgbClr val="5F6670"/>
                </a:solidFill>
                <a:latin typeface="Arial"/>
                <a:ea typeface="Arial"/>
                <a:cs typeface="Arial"/>
              </a:defRPr>
            </a:pPr>
            <a:r>
              <a:rPr sz="1200" b="1">
                <a:solidFill>
                  <a:srgbClr val="5F6670"/>
                </a:solidFill>
                <a:latin typeface="Arial"/>
                <a:ea typeface="Arial"/>
                <a:cs typeface="Arial"/>
              </a:rPr>
              <a:t>SCALE</a:t>
            </a:r>
          </a:p>
        </p:txBody>
      </p:sp>
      <p:sp>
        <p:nvSpPr>
          <p:cNvPr id="18" name="">
            <a:extLst xmlns:a="http://schemas.openxmlformats.org/drawingml/2006/main">
              <a:ext uri="{FF2B5EF4-FFF2-40B4-BE49-F238E27FC236}">
                <a16:creationId xmlns:a16="http://schemas.microsoft.com/office/drawing/2014/main" id="{29568AB5-CDE2-44DC-BD27-31F5C4644381}"/>
              </a:ext>
            </a:extLst>
          </p:cNvPr>
          <p:cNvSpPr>
            <a:spLocks xmlns:a="http://schemas.openxmlformats.org/drawingml/2006/main" noGrp="1"/>
          </p:cNvSpPr>
          <p:nvPr/>
        </p:nvSpPr>
        <p:spPr>
          <a:xfrm xmlns:a="http://schemas.openxmlformats.org/drawingml/2006/main">
            <a:off x="8515350" y="24765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11111"/>
                </a:solidFill>
                <a:latin typeface="Arial"/>
                <a:ea typeface="Arial"/>
                <a:cs typeface="Arial"/>
              </a:defRPr>
            </a:pPr>
            <a:r>
              <a:rPr sz="2100" b="1">
                <a:solidFill>
                  <a:srgbClr val="111111"/>
                </a:solidFill>
                <a:latin typeface="Arial"/>
                <a:ea typeface="Arial"/>
                <a:cs typeface="Arial"/>
              </a:rPr>
              <a:t>Onboard projects</a:t>
            </a:r>
          </a:p>
        </p:txBody>
      </p:sp>
      <p:sp>
        <p:nvSpPr>
          <p:cNvPr id="19" name="">
            <a:extLst xmlns:a="http://schemas.openxmlformats.org/drawingml/2006/main">
              <a:ext uri="{FF2B5EF4-FFF2-40B4-BE49-F238E27FC236}">
                <a16:creationId xmlns:a16="http://schemas.microsoft.com/office/drawing/2014/main" id="{0703CD4F-A78E-494F-8EEB-E6374EE19FEA}"/>
              </a:ext>
            </a:extLst>
          </p:cNvPr>
          <p:cNvSpPr>
            <a:spLocks xmlns:a="http://schemas.openxmlformats.org/drawingml/2006/main" noGrp="1"/>
          </p:cNvSpPr>
          <p:nvPr/>
        </p:nvSpPr>
        <p:spPr>
          <a:xfrm xmlns:a="http://schemas.openxmlformats.org/drawingml/2006/main">
            <a:off x="8515350" y="3238500"/>
            <a:ext cx="2952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5F6670"/>
                </a:solidFill>
                <a:latin typeface="Arial"/>
                <a:ea typeface="Arial"/>
                <a:cs typeface="Arial"/>
              </a:defRPr>
            </a:pPr>
            <a:r>
              <a:rPr sz="1575" b="0">
                <a:solidFill>
                  <a:srgbClr val="5F6670"/>
                </a:solidFill>
                <a:latin typeface="Arial"/>
                <a:ea typeface="Arial"/>
                <a:cs typeface="Arial"/>
              </a:rPr>
              <a:t>Create each baseline inventory, assign an owner, and adopt a monthly lifecycle review.</a:t>
            </a:r>
          </a:p>
        </p:txBody>
      </p:sp>
      <p:sp>
        <p:nvSpPr>
          <p:cNvPr id="20" name="">
            <a:extLst xmlns:a="http://schemas.openxmlformats.org/drawingml/2006/main">
              <a:ext uri="{FF2B5EF4-FFF2-40B4-BE49-F238E27FC236}">
                <a16:creationId xmlns:a16="http://schemas.microsoft.com/office/drawing/2014/main" id="{54209ACB-40C6-4F26-BA9F-2A8C3E665A95}"/>
              </a:ext>
            </a:extLst>
          </p:cNvPr>
          <p:cNvSpPr>
            <a:spLocks xmlns:a="http://schemas.openxmlformats.org/drawingml/2006/main" noGrp="1"/>
          </p:cNvSpPr>
          <p:nvPr/>
        </p:nvSpPr>
        <p:spPr>
          <a:xfrm xmlns:a="http://schemas.openxmlformats.org/drawingml/2006/main">
            <a:off x="400050" y="57531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p xmlns:a="http://schemas.openxmlformats.org/drawingml/2006/main">
            <a:pPr algn="l">
              <a:buNone/>
              <a:defRPr sz="1500" b="1">
                <a:solidFill>
                  <a:srgbClr val="3D8DFF"/>
                </a:solidFill>
                <a:latin typeface="Arial"/>
                <a:ea typeface="Arial"/>
                <a:cs typeface="Arial"/>
              </a:defRPr>
            </a:pPr>
            <a:r>
              <a:rPr sz="1500" b="1">
                <a:solidFill>
                  <a:srgbClr val="3D8DFF"/>
                </a:solidFill>
                <a:latin typeface="Arial"/>
                <a:ea typeface="Arial"/>
                <a:cs typeface="Arial"/>
              </a:rPr>
              <a:t>Decision requested</a:t>
            </a:r>
          </a:p>
        </p:txBody>
      </p:sp>
      <p:sp>
        <p:nvSpPr>
          <p:cNvPr id="21" name="">
            <a:extLst xmlns:a="http://schemas.openxmlformats.org/drawingml/2006/main">
              <a:ext uri="{FF2B5EF4-FFF2-40B4-BE49-F238E27FC236}">
                <a16:creationId xmlns:a16="http://schemas.microsoft.com/office/drawing/2014/main" id="{CAAD3714-6077-43DD-A0D6-651F9554EA1E}"/>
              </a:ext>
            </a:extLst>
          </p:cNvPr>
          <p:cNvSpPr>
            <a:spLocks xmlns:a="http://schemas.openxmlformats.org/drawingml/2006/main" noGrp="1"/>
          </p:cNvSpPr>
          <p:nvPr/>
        </p:nvSpPr>
        <p:spPr>
          <a:xfrm xmlns:a="http://schemas.openxmlformats.org/drawingml/2006/main">
            <a:off x="3048000" y="5695950"/>
            <a:ext cx="742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356"/>
          </a:bodyPr>
          <a:lstStyle xmlns:a="http://schemas.openxmlformats.org/drawingml/2006/main"/>
          <a:p xmlns:a="http://schemas.openxmlformats.org/drawingml/2006/main">
            <a:pPr algn="l">
              <a:buNone/>
              <a:defRPr sz="2175" b="1">
                <a:solidFill>
                  <a:srgbClr val="111111"/>
                </a:solidFill>
                <a:latin typeface="Arial"/>
                <a:ea typeface="Arial"/>
                <a:cs typeface="Arial"/>
              </a:defRPr>
            </a:pPr>
            <a:r>
              <a:rPr sz="2175" b="1">
                <a:solidFill>
                  <a:srgbClr val="111111"/>
                </a:solidFill>
                <a:latin typeface="Arial"/>
                <a:ea typeface="Arial"/>
                <a:cs typeface="Arial"/>
              </a:rPr>
              <a:t>Name the pilot project and its lifecycle owner.</a:t>
            </a:r>
          </a:p>
        </p:txBody>
      </p:sp>
    </p:spTree>
    <p:extLst>
      <p:ext uri="{BB962C8B-B14F-4D97-AF65-F5344CB8AC3E}">
        <p14:creationId xmlns:p14="http://schemas.microsoft.com/office/powerpoint/2010/main" val="18714651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2026-08-27T09:59:34.4130000Z</dcterms:created>
  <dcterms:modified xsi:type="dcterms:W3CDTF">2026-08-27T09:59:34.4140000Z</dcterms:modified>
</coreProperties>
</file>